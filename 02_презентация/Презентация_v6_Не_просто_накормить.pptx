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" y="777240"/>
            <a:ext cx="292608" cy="292608"/>
          </a:xfrm>
          <a:prstGeom prst="ellipse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777240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FAF9F5"/>
                </a:solidFill>
                <a:latin typeface="Playfair Display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6E6A5E"/>
                </a:solidFill>
                <a:latin typeface="PT Sans"/>
              </a:rPr>
              <a:t>ПРОСТРАНСТВО НОВЫХ ИДЕЙ 2.0  ·  САНКТ-ПЕТЕРБУРГ  ·  25–27 АВГУСТА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ДИСКУССИЯ  ·  26 АВГУСТА  ·  14:00–15:30  ·  ПЛОЩАДКА № 2 — ДСО „ТЕСОВЫЙ БЕРЕГ“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05740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1" i="0">
                <a:solidFill>
                  <a:srgbClr val="141413"/>
                </a:solidFill>
                <a:latin typeface="Playfair Display"/>
              </a:rPr>
              <a:t>Не просто накормить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2461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1">
                <a:solidFill>
                  <a:srgbClr val="3D3929"/>
                </a:solidFill>
                <a:latin typeface="Playfair Display"/>
              </a:rPr>
              <a:t>Как организовать безопасное, достойное и вариативное питание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611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1">
                <a:solidFill>
                  <a:srgbClr val="3D3929"/>
                </a:solidFill>
                <a:latin typeface="Playfair Display"/>
              </a:rPr>
              <a:t>людей с психическими нарушениями в домах социального обслуживания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480560"/>
            <a:ext cx="822960" cy="45720"/>
          </a:xfrm>
          <a:prstGeom prst="rect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46634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87867F"/>
                </a:solidFill>
                <a:latin typeface="PT Sans"/>
              </a:rPr>
              <a:t>МОДЕРАТОРЫ ДИСКУССИИ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02920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1" i="0">
                <a:solidFill>
                  <a:srgbClr val="3D3929"/>
                </a:solidFill>
                <a:latin typeface="PT Sans"/>
              </a:rPr>
              <a:t>Евгений Чистяков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D3929"/>
                </a:solidFill>
                <a:latin typeface="PT Sans"/>
              </a:rPr>
              <a:t>директор СПб ГАСУСОН «ДСО „Серафимовский“»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02920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1" i="0">
                <a:solidFill>
                  <a:srgbClr val="3D3929"/>
                </a:solidFill>
                <a:latin typeface="PT Sans"/>
              </a:rPr>
              <a:t>Тимур Нурбаев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D3929"/>
                </a:solidFill>
                <a:latin typeface="PT Sans"/>
              </a:rPr>
              <a:t>директор СПб ГБСУСОН «ДСО „Тесовый берег“»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144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Министерство труда и социальной защиты РФ  ·  Комитет по социальной политике Санкт-Петербурга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1 / 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КОНФЛИКТ ЗА ОДНИМ СТОЛОМ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141413"/>
                </a:solidFill>
                <a:latin typeface="Playfair Display"/>
              </a:rPr>
              <a:t>Один обед — пять конфликтов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1">
                <a:solidFill>
                  <a:srgbClr val="6E6A5E"/>
                </a:solidFill>
                <a:latin typeface="Playfair Display"/>
              </a:rPr>
              <a:t>Учебный кейс. Персонажи вымышлены. Система одна.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874519"/>
            <a:ext cx="2194560" cy="2651760"/>
          </a:xfrm>
          <a:prstGeom prst="roundRect">
            <a:avLst>
              <a:gd name="adj" fmla="val 12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0574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 i="0">
                <a:solidFill>
                  <a:srgbClr val="C15F3C"/>
                </a:solidFill>
                <a:latin typeface="Playfair Display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788920"/>
            <a:ext cx="201167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41413"/>
                </a:solidFill>
                <a:latin typeface="Playfair Display"/>
              </a:rPr>
              <a:t>Очередь и помощь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3611880"/>
            <a:ext cx="19751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кормят холодным, на скорость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1874519"/>
            <a:ext cx="2194560" cy="2651760"/>
          </a:xfrm>
          <a:prstGeom prst="roundRect">
            <a:avLst>
              <a:gd name="adj" fmla="val 12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98648" y="20574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 i="0">
                <a:solidFill>
                  <a:srgbClr val="C15F3C"/>
                </a:solidFill>
                <a:latin typeface="Playfair Display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0088" y="2788920"/>
            <a:ext cx="201167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41413"/>
                </a:solidFill>
                <a:latin typeface="Playfair Display"/>
              </a:rPr>
              <a:t>«Не ест кашу»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8376" y="3611880"/>
            <a:ext cx="19751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отказ без журнала и врача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38927" y="1874519"/>
            <a:ext cx="2194560" cy="2651760"/>
          </a:xfrm>
          <a:prstGeom prst="roundRect">
            <a:avLst>
              <a:gd name="adj" fmla="val 12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38927" y="20574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 i="0">
                <a:solidFill>
                  <a:srgbClr val="C15F3C"/>
                </a:solidFill>
                <a:latin typeface="Playfair Display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0367" y="2788920"/>
            <a:ext cx="201167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41413"/>
                </a:solidFill>
                <a:latin typeface="Playfair Display"/>
              </a:rPr>
              <a:t>Лекарства и кофе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48655" y="3611880"/>
            <a:ext cx="19751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кофеин и клозапин без таблицы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79208" y="1874519"/>
            <a:ext cx="2194560" cy="2651760"/>
          </a:xfrm>
          <a:prstGeom prst="roundRect">
            <a:avLst>
              <a:gd name="adj" fmla="val 12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79208" y="20574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 i="0">
                <a:solidFill>
                  <a:srgbClr val="C15F3C"/>
                </a:solidFill>
                <a:latin typeface="Playfair Display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2788920"/>
            <a:ext cx="201167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41413"/>
                </a:solidFill>
                <a:latin typeface="Playfair Display"/>
              </a:rPr>
              <a:t>Добавка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88936" y="3611880"/>
            <a:ext cx="19751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«вам нельзя» — не от врача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19488" y="1874519"/>
            <a:ext cx="2194560" cy="2651760"/>
          </a:xfrm>
          <a:prstGeom prst="roundRect">
            <a:avLst>
              <a:gd name="adj" fmla="val 12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19488" y="20574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 i="0">
                <a:solidFill>
                  <a:srgbClr val="C15F3C"/>
                </a:solidFill>
                <a:latin typeface="Playfair Display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10928" y="2788920"/>
            <a:ext cx="201167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41413"/>
                </a:solidFill>
                <a:latin typeface="Playfair Display"/>
              </a:rPr>
              <a:t>Журналы «в порядок»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29216" y="3611880"/>
            <a:ext cx="19751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контроль имитируется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7548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1">
                <a:solidFill>
                  <a:srgbClr val="6E6A5E"/>
                </a:solidFill>
                <a:latin typeface="Playfair Display"/>
              </a:rPr>
              <a:t>Ни один из пяти не требует денег, чтобы начать. Вариативность — шестой конфликт, если эти не закрыты.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32704" y="5532120"/>
            <a:ext cx="914400" cy="36576"/>
          </a:xfrm>
          <a:prstGeom prst="rect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446520"/>
            <a:ext cx="10241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Литературная редакция · раздел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ПОЧЕМУ КУХНЯ НЕ ВЫБИРАЕТ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141413"/>
                </a:solidFill>
                <a:latin typeface="Playfair Display"/>
              </a:rPr>
              <a:t>Дисфагия встречается часто.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1">
                <a:solidFill>
                  <a:srgbClr val="6E6A5E"/>
                </a:solidFill>
                <a:latin typeface="Playfair Display"/>
              </a:rPr>
              <a:t>Именно поэтому текстуру назначает врач, а не повар.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468880"/>
            <a:ext cx="64008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 i="0">
                <a:solidFill>
                  <a:srgbClr val="141413"/>
                </a:solidFill>
                <a:latin typeface="Playfair Display"/>
              </a:rPr>
              <a:t>21,9–69,5 %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E6A5E"/>
                </a:solidFill>
                <a:latin typeface="PT Sans"/>
              </a:rPr>
              <a:t>распространённость в отдельных изученных клинических группах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2377440"/>
            <a:ext cx="4572000" cy="237744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78040" y="260604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ВАЖНАЯ ОГОВОРКА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2971800"/>
            <a:ext cx="4206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413"/>
                </a:solidFill>
                <a:latin typeface="PT Sans"/>
              </a:rPr>
              <a:t>Переносить этот диапазон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413"/>
                </a:solidFill>
                <a:latin typeface="PT Sans"/>
              </a:rPr>
              <a:t>на все российские ДСО нельзя.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413"/>
                </a:solidFill>
                <a:latin typeface="PT Sans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413"/>
                </a:solidFill>
                <a:latin typeface="PT Sans"/>
              </a:rPr>
              <a:t>Решение о текстуре —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413"/>
                </a:solidFill>
                <a:latin typeface="PT Sans"/>
              </a:rPr>
              <a:t>за врачом.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5321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Источник: обзор эпидемиологии нарушений глотания  ·  доклад, раздел 10  ·  пневмония при тяжёлых психических расстройствах — ×7 популяционной смертности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46520"/>
            <a:ext cx="10241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Литературная редакция · раздел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МАСШТАБ ПОВСЕДНЕВНОСТИ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 i="0">
                <a:solidFill>
                  <a:srgbClr val="141413"/>
                </a:solidFill>
                <a:latin typeface="Playfair Display"/>
              </a:rPr>
              <a:t>Самые частые решения, которые дом принимает за жителя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20240"/>
            <a:ext cx="73152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0" b="1" i="0">
                <a:solidFill>
                  <a:srgbClr val="141413"/>
                </a:solidFill>
                <a:latin typeface="Playfair Display"/>
              </a:rPr>
              <a:t>2 190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38912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6E6A5E"/>
                </a:solidFill>
                <a:latin typeface="PT Sans"/>
              </a:rPr>
              <a:t>приёмов пищи в год за одного человека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80060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87867F"/>
                </a:solidFill>
                <a:latin typeface="PT Sans"/>
              </a:rPr>
              <a:t>6 приёмов × 365 дней  =  2 190</a:t>
            </a:r>
          </a:p>
        </p:txBody>
      </p:sp>
      <p:sp>
        <p:nvSpPr>
          <p:cNvPr id="8" name="Oval 7"/>
          <p:cNvSpPr/>
          <p:nvPr/>
        </p:nvSpPr>
        <p:spPr>
          <a:xfrm>
            <a:off x="7772400" y="1920240"/>
            <a:ext cx="274320" cy="274320"/>
          </a:xfrm>
          <a:prstGeom prst="ellipse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93852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41413"/>
                </a:solidFill>
                <a:latin typeface="Playfair Display"/>
              </a:rPr>
              <a:t>завтрак</a:t>
            </a:r>
          </a:p>
        </p:txBody>
      </p:sp>
      <p:sp>
        <p:nvSpPr>
          <p:cNvPr id="10" name="Oval 9"/>
          <p:cNvSpPr/>
          <p:nvPr/>
        </p:nvSpPr>
        <p:spPr>
          <a:xfrm>
            <a:off x="7772400" y="2487168"/>
            <a:ext cx="274320" cy="274320"/>
          </a:xfrm>
          <a:prstGeom prst="ellipse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50545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41413"/>
                </a:solidFill>
                <a:latin typeface="Playfair Display"/>
              </a:rPr>
              <a:t>2-й завтрак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0" y="3054096"/>
            <a:ext cx="274320" cy="274320"/>
          </a:xfrm>
          <a:prstGeom prst="ellipse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307238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41413"/>
                </a:solidFill>
                <a:latin typeface="Playfair Display"/>
              </a:rPr>
              <a:t>обед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0" y="3621024"/>
            <a:ext cx="274320" cy="274320"/>
          </a:xfrm>
          <a:prstGeom prst="ellipse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363931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41413"/>
                </a:solidFill>
                <a:latin typeface="Playfair Display"/>
              </a:rPr>
              <a:t>полдник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0" y="4187952"/>
            <a:ext cx="274320" cy="274320"/>
          </a:xfrm>
          <a:prstGeom prst="ellipse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420624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41413"/>
                </a:solidFill>
                <a:latin typeface="Playfair Display"/>
              </a:rPr>
              <a:t>ужин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0" y="4754880"/>
            <a:ext cx="274320" cy="274320"/>
          </a:xfrm>
          <a:prstGeom prst="ellipse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477316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41413"/>
                </a:solidFill>
                <a:latin typeface="Playfair Display"/>
              </a:rPr>
              <a:t>вечерний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544068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6E6A5E"/>
                </a:solidFill>
                <a:latin typeface="Playfair Display"/>
              </a:rPr>
              <a:t>шесть раз в день  ·  365 дней  ·  одна жизнь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446520"/>
            <a:ext cx="10241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Литературная редакция · раздел 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КОНТЕКСТ · НЕДЕЕСПОСОБНОСТЬ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141413"/>
                </a:solidFill>
                <a:latin typeface="Playfair Display"/>
              </a:rPr>
              <a:t>Порядка трёх из четырёх — недееспособны.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6E6A5E"/>
                </a:solidFill>
                <a:latin typeface="Playfair Display"/>
              </a:rPr>
              <a:t>Их мнение по ст. 29 ГК обязаны выяснять и учитывать.</a:t>
            </a:r>
          </a:p>
        </p:txBody>
      </p:sp>
      <p:sp>
        <p:nvSpPr>
          <p:cNvPr id="6" name="Oval 5"/>
          <p:cNvSpPr/>
          <p:nvPr/>
        </p:nvSpPr>
        <p:spPr>
          <a:xfrm>
            <a:off x="1371600" y="2011680"/>
            <a:ext cx="2743200" cy="2743200"/>
          </a:xfrm>
          <a:prstGeom prst="ellipse">
            <a:avLst/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ie 6"/>
          <p:cNvSpPr/>
          <p:nvPr/>
        </p:nvSpPr>
        <p:spPr>
          <a:xfrm>
            <a:off x="1371600" y="2011680"/>
            <a:ext cx="2743200" cy="2743200"/>
          </a:xfrm>
          <a:prstGeom prst="pie">
            <a:avLst>
              <a:gd name="adj1" fmla="val 0"/>
              <a:gd name="adj2" fmla="val 26600000"/>
            </a:avLst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83080" y="2423160"/>
            <a:ext cx="1920240" cy="1920240"/>
          </a:xfrm>
          <a:prstGeom prst="ellipse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175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4600" b="1" i="0">
                <a:solidFill>
                  <a:srgbClr val="141413"/>
                </a:solidFill>
                <a:latin typeface="Playfair Display"/>
              </a:rPr>
              <a:t>74 %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57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87867F"/>
                </a:solidFill>
                <a:latin typeface="PT Sans"/>
              </a:rPr>
              <a:t>недееспособны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194560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ПОВСЕДНЕВНОЕ ПРЕДПОЧТЕНИЕ — НЕ СДЕЛКА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2514600"/>
            <a:ext cx="65836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Сделки совершает опекун (ст. 29 ГК).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Но повседневное предпочтение — это мнение,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а мнение обязаны выяснять.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Кто не говорит — показ, наблюдение, биография.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7607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E6A5E"/>
                </a:solidFill>
                <a:latin typeface="PT Sans"/>
              </a:rPr>
              <a:t>Расчёт проекта «Если быть точным», данные за 2024 г.  ·  не статотчётность Минтруда  ·  в вашем доме цифра будет другой.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46520"/>
            <a:ext cx="10241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Литературная редакция · раздел 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ФИЗИОЛОГИЯ · УЖИН → ЗАВТРАК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41413"/>
                </a:solidFill>
                <a:latin typeface="Playfair Display"/>
              </a:rPr>
              <a:t>Ужин 17:30  →  завтрак 8:30  =  15 часов без еды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6E6A5E"/>
                </a:solidFill>
                <a:latin typeface="Playfair Display"/>
              </a:rPr>
              <a:t>Операционная цель дома — не больше 13 часов.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20240"/>
            <a:ext cx="10881360" cy="1417320"/>
          </a:xfrm>
          <a:prstGeom prst="roundRect">
            <a:avLst>
              <a:gd name="adj" fmla="val 14000"/>
            </a:avLst>
          </a:prstGeom>
          <a:solidFill>
            <a:srgbClr val="F5E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2560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i="0">
                <a:solidFill>
                  <a:srgbClr val="B8552F"/>
                </a:solidFill>
                <a:latin typeface="PT Sans"/>
              </a:rPr>
              <a:t>УЖИН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2560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 i="0">
                <a:solidFill>
                  <a:srgbClr val="141413"/>
                </a:solidFill>
                <a:latin typeface="Playfair Display"/>
              </a:rPr>
              <a:t>17:30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840480" y="2468880"/>
            <a:ext cx="4480560" cy="384048"/>
          </a:xfrm>
          <a:prstGeom prst="rightArrow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2057400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B8552F"/>
                </a:solidFill>
                <a:latin typeface="Playfair Display"/>
              </a:rPr>
              <a:t>15 часов  ·  через полночь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92608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6E6A5E"/>
                </a:solidFill>
                <a:latin typeface="PT Sans"/>
              </a:rPr>
              <a:t>без еды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057400"/>
            <a:ext cx="2560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i="0">
                <a:solidFill>
                  <a:srgbClr val="B8552F"/>
                </a:solidFill>
                <a:latin typeface="PT Sans"/>
              </a:rPr>
              <a:t>ЗАВТРАК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2331720"/>
            <a:ext cx="2560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 i="0">
                <a:solidFill>
                  <a:srgbClr val="141413"/>
                </a:solidFill>
                <a:latin typeface="Playfair Display"/>
              </a:rPr>
              <a:t>8:30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566160"/>
            <a:ext cx="10881360" cy="384048"/>
          </a:xfrm>
          <a:prstGeom prst="roundRect">
            <a:avLst>
              <a:gd name="adj" fmla="val 8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3566160"/>
            <a:ext cx="3853815" cy="384048"/>
          </a:xfrm>
          <a:prstGeom prst="roundRect">
            <a:avLst>
              <a:gd name="adj" fmla="val 8000"/>
            </a:avLst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592693" y="3566160"/>
            <a:ext cx="2947035" cy="384048"/>
          </a:xfrm>
          <a:prstGeom prst="roundRect">
            <a:avLst>
              <a:gd name="adj" fmla="val 8000"/>
            </a:avLst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9768" y="3995928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0108" y="3995928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70448" y="3995928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0788" y="3995928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11128" y="3995928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24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434840"/>
            <a:ext cx="5303520" cy="164592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ОРИЕНТИРЫ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937760"/>
            <a:ext cx="50292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≤ 11 ч  —  Швеция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≤ 13 ч  —  цель нашего дома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≤ 14 ч  —  зарубежные ориентиры (диапазон)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4434840"/>
            <a:ext cx="5303520" cy="1645920"/>
          </a:xfrm>
          <a:prstGeom prst="roundRect">
            <a:avLst>
              <a:gd name="adj" fmla="val 14000"/>
            </a:avLst>
          </a:prstGeom>
          <a:solidFill>
            <a:srgbClr val="F6F1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457200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ОГОВОРКА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937760"/>
            <a:ext cx="50292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41413"/>
                </a:solidFill>
                <a:latin typeface="PT Sans"/>
              </a:rPr>
              <a:t>15 ч — арифметика одного расписания,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41413"/>
                </a:solidFill>
                <a:latin typeface="PT Sans"/>
              </a:rPr>
              <a:t>не статистика по российским ДСО.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41413"/>
                </a:solidFill>
                <a:latin typeface="PT Sans"/>
              </a:rPr>
              <a:t>Швеция/США — другие системы регулирования.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46520"/>
            <a:ext cx="10241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Литературная редакция · разделы 7, 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ПРАВО · НЕ ЛОЗУНГ, А ПАПКА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41413"/>
                </a:solidFill>
                <a:latin typeface="Playfair Display"/>
              </a:rPr>
              <a:t>Проверяющему нужна не фраза «запрета нет».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6E6A5E"/>
                </a:solidFill>
                <a:latin typeface="Playfair Display"/>
              </a:rPr>
              <a:t>А положение, журнал, карты, согласование с учредителем.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94560"/>
            <a:ext cx="10881360" cy="274320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B8552F"/>
                </a:solidFill>
                <a:latin typeface="PT Sans"/>
              </a:rPr>
              <a:t>МИНИМАЛЬНЫЙ КОМПЛЕКТ ДОКУМЕНТОВ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889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C15F3C"/>
                </a:solidFill>
                <a:latin typeface="Playfair Display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7889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Положение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1546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о питании, в редакции с учётом вариативности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7889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C15F3C"/>
                </a:solidFill>
                <a:latin typeface="Playfair Display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27889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Меню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31546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с вариантами и парами эквивалентов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7889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C15F3C"/>
                </a:solidFill>
                <a:latin typeface="Playfair Display"/>
              </a:rP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7889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Журнал заказа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31546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что заказал житель, кто принял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11480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C15F3C"/>
                </a:solidFill>
                <a:latin typeface="Playfair Display"/>
              </a:rPr>
              <a:t>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1148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Журнал замен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48056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когда варианта не оказалось, что выдали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411480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C15F3C"/>
                </a:solidFill>
                <a:latin typeface="Playfair Display"/>
              </a:rPr>
              <a:t>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41148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Пищевые карты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448056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профиль, текстура, исключения, предпочтения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411480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C15F3C"/>
                </a:solidFill>
                <a:latin typeface="Playfair Display"/>
              </a:rPr>
              <a:t>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41148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Согласование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0" y="448056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с учредителем — для сведения или по регламенту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5166360"/>
            <a:ext cx="822960" cy="36576"/>
          </a:xfrm>
          <a:prstGeom prst="rect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53492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1">
                <a:solidFill>
                  <a:srgbClr val="6E6A5E"/>
                </a:solidFill>
                <a:latin typeface="Playfair Display"/>
              </a:rPr>
              <a:t>Федеральное право не запрещает и не обязывает — это нужно закрепить локально.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852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Источники: 442-ФЗ ст. 9, 16, 32 ч. 4  ·  3185-1 ст. 5 ч. 2; ст. 37, 43  ·  ГК ст. 29  ·  доклад, разделы 31, 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446520"/>
            <a:ext cx="10241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Литературная редакция · разделы 31, 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РОССИЙСКАЯ ПРАКТИКА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41413"/>
                </a:solidFill>
                <a:latin typeface="Playfair Display"/>
              </a:rPr>
              <a:t>Иркутская область масштабирует выбор на регион.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6E6A5E"/>
                </a:solidFill>
                <a:latin typeface="Playfair Display"/>
              </a:rPr>
              <a:t>Не один эксперимент — контур для учредителя.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77440"/>
            <a:ext cx="4114800" cy="310896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606040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i="0">
                <a:solidFill>
                  <a:srgbClr val="B8552F"/>
                </a:solidFill>
                <a:latin typeface="PT Sans"/>
              </a:rPr>
              <a:t>ИРКУТСКАЯ ОБЛАСТЬ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108960"/>
            <a:ext cx="4114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141413"/>
                </a:solidFill>
                <a:latin typeface="Playfair Display"/>
              </a:rPr>
              <a:t>вариативное
питание
в стационарных
учреждениях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93776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публикация 14.02.2025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23774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B8552F"/>
                </a:solidFill>
                <a:latin typeface="PT Sans"/>
              </a:rPr>
              <a:t>ЧТО СДЕЛАНО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2697480"/>
            <a:ext cx="6400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41413"/>
                </a:solidFill>
                <a:latin typeface="Playfair Display"/>
              </a:rPr>
              <a:t>Выбор по основным приёмам пищи: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41413"/>
                </a:solidFill>
                <a:latin typeface="Playfair Display"/>
              </a:rPr>
              <a:t>  ·  два первых блюда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41413"/>
                </a:solidFill>
                <a:latin typeface="Playfair Display"/>
              </a:rPr>
              <a:t>  ·  два вторых блюда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41413"/>
                </a:solidFill>
                <a:latin typeface="Playfair Display"/>
              </a:rPr>
              <a:t>  ·  два гарнира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42976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B8552F"/>
                </a:solidFill>
                <a:latin typeface="PT Sans"/>
              </a:rPr>
              <a:t>ЧТО ЭТО ЗНАЧИТ ДЛЯ ДИРЕКТОРА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4617720"/>
            <a:ext cx="6400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6E6A5E"/>
                </a:solidFill>
                <a:latin typeface="PT Sans"/>
              </a:rPr>
              <a:t>Не «дайте денег — сделаем».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6E6A5E"/>
                </a:solidFill>
                <a:latin typeface="PT Sans"/>
              </a:rPr>
              <a:t>Контур, который можно показать учредителю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6E6A5E"/>
                </a:solidFill>
                <a:latin typeface="PT Sans"/>
              </a:rPr>
              <a:t>при разговоре о масштабировании.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852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87867F"/>
                </a:solidFill>
                <a:latin typeface="PT Sans"/>
              </a:rPr>
              <a:t>Источник S018  ·  масштаб области как аудит не подтверждён; показано как контур, а не как результат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46520"/>
            <a:ext cx="10241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Литературная редакция · раздел 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КЕЙС · НАШ ДОМ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141413"/>
                </a:solidFill>
                <a:latin typeface="Playfair Display"/>
              </a:rPr>
              <a:t>Житель заказывает ужин накануне.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6E6A5E"/>
                </a:solidFill>
                <a:latin typeface="Playfair Display"/>
              </a:rPr>
              <a:t>К вечеру известно, что готовить.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468880"/>
            <a:ext cx="10881360" cy="109728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6060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ВЧЕРА  ·  СЕГОДНЯ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017520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000" b="1" i="0">
                <a:solidFill>
                  <a:srgbClr val="141413"/>
                </a:solidFill>
                <a:latin typeface="Playfair Display"/>
              </a:rPr>
              <a:t>18:00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47472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6E6A5E"/>
                </a:solidFill>
                <a:latin typeface="PT Sans"/>
              </a:rPr>
              <a:t>принимаем заказ на ужин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3017520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000" b="1" i="0">
                <a:solidFill>
                  <a:srgbClr val="141413"/>
                </a:solidFill>
                <a:latin typeface="Playfair Display"/>
              </a:rPr>
              <a:t>08:00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347472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6E6A5E"/>
                </a:solidFill>
                <a:latin typeface="PT Sans"/>
              </a:rPr>
              <a:t>подача на завтрак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486400" y="3063240"/>
            <a:ext cx="1097280" cy="365760"/>
          </a:xfrm>
          <a:prstGeom prst="rightArrow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40233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ЧТО ЭТО ДАЛО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3434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41413"/>
                </a:solidFill>
                <a:latin typeface="Playfair Display"/>
              </a:rPr>
              <a:t>Жители приняли выбор с энтузиазмом. Директор — я — рассказываю и про цену, и про пределы.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3949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1">
                <a:solidFill>
                  <a:srgbClr val="6E6A5E"/>
                </a:solidFill>
                <a:latin typeface="PT Sans"/>
              </a:rPr>
              <a:t>Старт не был бесплатным  —  дополнительное оборудование и ставки пищеблока.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852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Источник S030  ·  gov.spb.ru, 22.07.2025  ·  СПб ГАСУСОН «ДСО „Серафимовский“»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46520"/>
            <a:ext cx="10241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Литературная редакция · раздел 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ЛОКАЛЬНЫЙ НОРМАТИВ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4400" b="1" i="0">
                <a:solidFill>
                  <a:srgbClr val="141413"/>
                </a:solidFill>
                <a:latin typeface="Playfair Display"/>
              </a:rPr>
              <a:t>Приказ № 124  от  10.03.2026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6E6A5E"/>
                </a:solidFill>
                <a:latin typeface="Playfair Display"/>
              </a:rPr>
              <a:t>Заказное питание вошло в правила внутреннего распорядка жителей ДСО „Серафимовский“.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77440"/>
            <a:ext cx="5486400" cy="310896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6032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ЧТО ИМЕННО ЗАКРЕПЛЕНО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26080"/>
            <a:ext cx="512064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Заказное питание (вариативное меню)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как часть правил внутреннего распорядка,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а не «эксперимент по новости».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Включая маломобильных: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  ·  приём пищи в жилых комнатах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  ·  помощь в кормлении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377440"/>
            <a:ext cx="5120640" cy="3108960"/>
          </a:xfrm>
          <a:prstGeom prst="roundRect">
            <a:avLst>
              <a:gd name="adj" fmla="val 14000"/>
            </a:avLst>
          </a:prstGeom>
          <a:solidFill>
            <a:srgbClr val="F5E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56032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ПОЧЕМУ ЭТО ОПОРА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926080"/>
            <a:ext cx="475488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«Это правила дома, утверждённые приказом» —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аргумент, который пережил смену настроения.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Проверяющему — документ, не слова.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Учредителю — порядок, не самочинность.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7607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1">
                <a:solidFill>
                  <a:srgbClr val="B8552F"/>
                </a:solidFill>
                <a:latin typeface="PT Sans"/>
              </a:rPr>
              <a:t>Локальный акт одного учреждения  ·  не общероссийский норматив.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126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S035  ·  локальный приказ  ·  архив правил web.archive.org/web/20260415001233  ·  pni9.ru с 21.08.2026 не работает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46520"/>
            <a:ext cx="10241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Литературная редакция · раздел 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ЗАКУПКИ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41413"/>
                </a:solidFill>
                <a:latin typeface="Playfair Display"/>
              </a:rPr>
              <a:t>Один учредитель — две разные закупки.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6E6A5E"/>
                </a:solidFill>
                <a:latin typeface="Playfair Display"/>
              </a:rPr>
              <a:t>Вариативность не от номера закона.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86000"/>
            <a:ext cx="5303520" cy="320040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B8552F"/>
                </a:solidFill>
                <a:latin typeface="PT Sans"/>
              </a:rPr>
              <a:t>СЕРАФИМОВСКИЙ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34640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4800" b="1" i="0">
                <a:solidFill>
                  <a:srgbClr val="141413"/>
                </a:solidFill>
                <a:latin typeface="Playfair Display"/>
              </a:rPr>
              <a:t>223-ФЗ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4903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автономное учреждение  ·  конкурсная основа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251960"/>
            <a:ext cx="5029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87867F"/>
                </a:solidFill>
                <a:latin typeface="PT Sans"/>
              </a:rPr>
              <a:t>Тендеры: 32616151967, 95375953, 32616197209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87867F"/>
                </a:solidFill>
                <a:latin typeface="PT Sans"/>
              </a:rPr>
              <a:t>tenmon.ru, tenderguru.ru,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286000"/>
            <a:ext cx="5303520" cy="3200400"/>
          </a:xfrm>
          <a:prstGeom prst="roundRect">
            <a:avLst>
              <a:gd name="adj" fmla="val 14000"/>
            </a:avLst>
          </a:prstGeom>
          <a:solidFill>
            <a:srgbClr val="F5E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4688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B8552F"/>
                </a:solidFill>
                <a:latin typeface="PT Sans"/>
              </a:rPr>
              <a:t>ТЕСОВЫЙ БЕРЕГ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834640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4800" b="1" i="0">
                <a:solidFill>
                  <a:srgbClr val="141413"/>
                </a:solidFill>
                <a:latin typeface="Playfair Display"/>
              </a:rPr>
              <a:t>44-ФЗ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74903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бюджетное учреждение  ·  государственная закупка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4251960"/>
            <a:ext cx="5029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87867F"/>
                </a:solidFill>
                <a:latin typeface="PT Sans"/>
              </a:rPr>
              <a:t>ИНН 7827661874  ·  ЕГРЮЛ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87867F"/>
                </a:solidFill>
                <a:latin typeface="PT Sans"/>
              </a:rPr>
              <a:t>Санкт-Петербург, п. Молодёжное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5760720"/>
            <a:ext cx="822960" cy="36576"/>
          </a:xfrm>
          <a:prstGeom prst="rect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5943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1">
                <a:solidFill>
                  <a:srgbClr val="6E6A5E"/>
                </a:solidFill>
                <a:latin typeface="Playfair Display"/>
              </a:rPr>
              <a:t>Вариативность зависит не от номера закона — а от корректной организации требований, документов и исполнения.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446520"/>
            <a:ext cx="10241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Литературная редакция · раздел 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СНАЧАЛА РАМКА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141413"/>
                </a:solidFill>
                <a:latin typeface="Playfair Display"/>
              </a:rPr>
              <a:t>Сначала медицинская рамка. Потом выбор.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6E6A5E"/>
                </a:solidFill>
                <a:latin typeface="Playfair Display"/>
              </a:rPr>
              <a:t>Кухня исполняет назначение, а не ставит его.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94560"/>
            <a:ext cx="10881360" cy="137160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РЕШАЕТ ВРАЧ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974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41413"/>
                </a:solidFill>
                <a:latin typeface="Playfair Display"/>
              </a:rPr>
              <a:t>Текстура  ·  стол  ·  противопоказания  ·  лекарственно-пищевые исключения</a:t>
            </a:r>
          </a:p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41413"/>
                </a:solidFill>
                <a:latin typeface="Playfair Display"/>
              </a:rPr>
              <a:t>Приказы 330н, 395н;  СанПиН 2.3/2.4.4282-26, п. 56(11) — с 01.09.2026, на 26.08 ещё не в силе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703320"/>
            <a:ext cx="10881360" cy="1371600"/>
          </a:xfrm>
          <a:prstGeom prst="roundRect">
            <a:avLst>
              <a:gd name="adj" fmla="val 14000"/>
            </a:avLst>
          </a:prstGeom>
          <a:solidFill>
            <a:srgbClr val="F5E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840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РЕШАЕТ УЧРЕЖДЕНИЕ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062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41413"/>
                </a:solidFill>
                <a:latin typeface="Playfair Display"/>
              </a:rPr>
              <a:t>Сколько вариантов  ·  где выбор фиксируется  ·  что делает смена, когда вариант кончился</a:t>
            </a:r>
          </a:p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41413"/>
                </a:solidFill>
                <a:latin typeface="Playfair Display"/>
              </a:rPr>
              <a:t>Приказ, положение, журнал, линия раздачи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32704" y="5349240"/>
            <a:ext cx="914400" cy="36576"/>
          </a:xfrm>
          <a:prstGeom prst="rect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55321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1">
                <a:solidFill>
                  <a:srgbClr val="6E6A5E"/>
                </a:solidFill>
                <a:latin typeface="Playfair Display"/>
              </a:rPr>
              <a:t>Если это звучит как медицинская реформа руками повара — вы правильно закрываете папку.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46520"/>
            <a:ext cx="10241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Литературная редакция · раздел 4.0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МОДЕЛЬ РЕШЕНИЯ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 i="0">
                <a:solidFill>
                  <a:srgbClr val="141413"/>
                </a:solidFill>
                <a:latin typeface="Playfair Display"/>
              </a:rPr>
              <a:t>Врач задаёт рамку. Внутри рамки — пары эквивалентов.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6E6A5E"/>
                </a:solidFill>
                <a:latin typeface="Playfair Display"/>
              </a:rPr>
              <a:t>Человек выбирает. Выбор фиксируется.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0847" y="2286000"/>
            <a:ext cx="2377440" cy="2286000"/>
          </a:xfrm>
          <a:prstGeom prst="roundRect">
            <a:avLst>
              <a:gd name="adj" fmla="val 12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0847" y="242316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 i="0">
                <a:solidFill>
                  <a:srgbClr val="C15F3C"/>
                </a:solidFill>
                <a:latin typeface="Playfair Display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2287" y="297180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Мед. ограничения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2287" y="3566160"/>
            <a:ext cx="2194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текстура, стол,
противопоказания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776575" y="3291840"/>
            <a:ext cx="365760" cy="274320"/>
          </a:xfrm>
          <a:prstGeom prst="rightArrow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98367" y="2286000"/>
            <a:ext cx="2377440" cy="2286000"/>
          </a:xfrm>
          <a:prstGeom prst="roundRect">
            <a:avLst>
              <a:gd name="adj" fmla="val 12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98367" y="242316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 i="0">
                <a:solidFill>
                  <a:srgbClr val="C15F3C"/>
                </a:solidFill>
                <a:latin typeface="Playfair Display"/>
              </a:rPr>
              <a:t>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9807" y="297180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C15F3C"/>
                </a:solidFill>
                <a:latin typeface="Playfair Display"/>
              </a:rPr>
              <a:t>Допустимые пары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9807" y="3566160"/>
            <a:ext cx="2194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гречка/рис,
курица/индейка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794095" y="3291840"/>
            <a:ext cx="365760" cy="274320"/>
          </a:xfrm>
          <a:prstGeom prst="rightArrow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15887" y="2286000"/>
            <a:ext cx="2377440" cy="2286000"/>
          </a:xfrm>
          <a:prstGeom prst="roundRect">
            <a:avLst>
              <a:gd name="adj" fmla="val 12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5887" y="242316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 i="0">
                <a:solidFill>
                  <a:srgbClr val="C15F3C"/>
                </a:solidFill>
                <a:latin typeface="Playfair Display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7327" y="297180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Выбор человека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7327" y="3566160"/>
            <a:ext cx="2194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показ, слово,
наблюдение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11615" y="3291840"/>
            <a:ext cx="365760" cy="274320"/>
          </a:xfrm>
          <a:prstGeom prst="rightArrow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433407" y="2286000"/>
            <a:ext cx="2377440" cy="2286000"/>
          </a:xfrm>
          <a:prstGeom prst="roundRect">
            <a:avLst>
              <a:gd name="adj" fmla="val 12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33407" y="242316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 i="0">
                <a:solidFill>
                  <a:srgbClr val="C15F3C"/>
                </a:solidFill>
                <a:latin typeface="Playfair Display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24847" y="297180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Фиксация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24847" y="3566160"/>
            <a:ext cx="2194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в журнале заказа
с подписью смены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937760"/>
            <a:ext cx="10881360" cy="73152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507492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i="0">
                <a:solidFill>
                  <a:srgbClr val="B8552F"/>
                </a:solidFill>
                <a:latin typeface="PT Sans"/>
              </a:rPr>
              <a:t>СТАНДАРТНЫЙ ВАРИАНТ ГАРАНТИРОВАН ВСЕГДА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3492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1">
                <a:solidFill>
                  <a:srgbClr val="6E6A5E"/>
                </a:solidFill>
                <a:latin typeface="Playfair Display"/>
              </a:rPr>
              <a:t>Человек вправе выбрать стандартное блюдо или не выбирать вовсе.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46520"/>
            <a:ext cx="10241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Литературная редакция · разделы 19, 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ВЫБОР НЕ ТРЕБУЕТ ДЕЕСПОСОБНОСТИ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141413"/>
                </a:solidFill>
                <a:latin typeface="Playfair Display"/>
              </a:rPr>
              <a:t>Четыре канала выражения воли.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6E6A5E"/>
                </a:solidFill>
                <a:latin typeface="Playfair Display"/>
              </a:rPr>
              <a:t>Человек, который не говорит, всё равно может выразить предпочтение.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94560"/>
            <a:ext cx="2606040" cy="274320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37744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 i="0">
                <a:solidFill>
                  <a:srgbClr val="C15F3C"/>
                </a:solidFill>
                <a:latin typeface="Playfair Display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310896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1" i="0">
                <a:solidFill>
                  <a:srgbClr val="141413"/>
                </a:solidFill>
                <a:latin typeface="Playfair Display"/>
              </a:rPr>
              <a:t>Показ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3611880"/>
            <a:ext cx="2331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две порции перед глазами, рука сама пойдёт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5848" y="2194560"/>
            <a:ext cx="2606040" cy="274320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55848" y="237744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 i="0">
                <a:solidFill>
                  <a:srgbClr val="C15F3C"/>
                </a:solidFill>
                <a:latin typeface="Playfair Display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3008" y="310896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1" i="0">
                <a:solidFill>
                  <a:srgbClr val="141413"/>
                </a:solidFill>
                <a:latin typeface="Playfair Display"/>
              </a:rPr>
              <a:t>Наблюдение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008" y="3611880"/>
            <a:ext cx="2331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что съедено, что оставлено, «влажный» голос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8" y="2194560"/>
            <a:ext cx="2606040" cy="274320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53328" y="237744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 i="0">
                <a:solidFill>
                  <a:srgbClr val="C15F3C"/>
                </a:solidFill>
                <a:latin typeface="Playfair Display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0488" y="310896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1" i="0">
                <a:solidFill>
                  <a:srgbClr val="141413"/>
                </a:solidFill>
                <a:latin typeface="Playfair Display"/>
              </a:rPr>
              <a:t>Биография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0488" y="3611880"/>
            <a:ext cx="2331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что ел всю жизнь, к чему тянется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50808" y="2194560"/>
            <a:ext cx="2606040" cy="274320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50808" y="237744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 i="0">
                <a:solidFill>
                  <a:srgbClr val="C15F3C"/>
                </a:solidFill>
                <a:latin typeface="Playfair Display"/>
              </a:rPr>
              <a:t>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87968" y="310896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1" i="0">
                <a:solidFill>
                  <a:srgbClr val="141413"/>
                </a:solidFill>
                <a:latin typeface="Playfair Display"/>
              </a:rPr>
              <a:t>Сведения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8" y="3611880"/>
            <a:ext cx="2331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от тех, кто хорошо знает человека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212080"/>
            <a:ext cx="10881360" cy="731520"/>
          </a:xfrm>
          <a:prstGeom prst="roundRect">
            <a:avLst>
              <a:gd name="adj" fmla="val 14000"/>
            </a:avLst>
          </a:prstGeom>
          <a:solidFill>
            <a:srgbClr val="F5E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3492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ОГОВОРКА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6235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41413"/>
                </a:solidFill>
                <a:latin typeface="PT Sans"/>
              </a:rPr>
              <a:t>Наблюдение — это сигнал, а не автоматическое согласие. Решение всё равно документируется.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46520"/>
            <a:ext cx="10241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Литературная редакция · раздел 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ЧТО СДЕЛАТЬ В ПОНЕДЕЛЬНИК ДО ОБЕДА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41413"/>
                </a:solidFill>
                <a:latin typeface="Playfair Display"/>
              </a:rPr>
              <a:t>Пять действий. Меню не трогают.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1">
                <a:solidFill>
                  <a:srgbClr val="B8552F"/>
                </a:solidFill>
                <a:latin typeface="Playfair Display"/>
              </a:rPr>
              <a:t>Новой сметы не нужно. Врач входит в группу — ставит границу.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20240"/>
            <a:ext cx="2194560" cy="260604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0574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 i="0">
                <a:solidFill>
                  <a:srgbClr val="C15F3C"/>
                </a:solidFill>
                <a:latin typeface="Playfair Display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606040"/>
            <a:ext cx="201167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41413"/>
                </a:solidFill>
                <a:latin typeface="Playfair Display"/>
              </a:rPr>
              <a:t>Сырьевая строка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3337560"/>
            <a:ext cx="19751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1 час
руб./житель/день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6080" y="1920240"/>
            <a:ext cx="2194560" cy="2606040"/>
          </a:xfrm>
          <a:prstGeom prst="roundRect">
            <a:avLst>
              <a:gd name="adj" fmla="val 14000"/>
            </a:avLst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20574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 i="0">
                <a:solidFill>
                  <a:srgbClr val="FAF9F5"/>
                </a:solidFill>
                <a:latin typeface="Playfair Display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606040"/>
            <a:ext cx="201167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AF9F5"/>
                </a:solidFill>
                <a:latin typeface="Playfair Display"/>
              </a:rPr>
              <a:t>Замер 7 дней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35808" y="3337560"/>
            <a:ext cx="19751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i="0">
                <a:solidFill>
                  <a:srgbClr val="FAF9F5"/>
                </a:solidFill>
                <a:latin typeface="PT Sans"/>
              </a:rPr>
              <a:t>отходы
и время раздачи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93792" y="1920240"/>
            <a:ext cx="2194560" cy="260604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93792" y="20574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 i="0">
                <a:solidFill>
                  <a:srgbClr val="C15F3C"/>
                </a:solidFill>
                <a:latin typeface="Playfair Display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85232" y="2606040"/>
            <a:ext cx="201167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41413"/>
                </a:solidFill>
                <a:latin typeface="Playfair Display"/>
              </a:rPr>
              <a:t>Приказ о группе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3337560"/>
            <a:ext cx="19751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пять фамилий
срок 30 дней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61504" y="1920240"/>
            <a:ext cx="2194560" cy="260604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1504" y="20574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 i="0">
                <a:solidFill>
                  <a:srgbClr val="C15F3C"/>
                </a:solidFill>
                <a:latin typeface="Playfair Display"/>
              </a:rPr>
              <a:t>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52944" y="2606040"/>
            <a:ext cx="201167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41413"/>
                </a:solidFill>
                <a:latin typeface="Playfair Display"/>
              </a:rPr>
              <a:t>Письмо учредителю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71232" y="3337560"/>
            <a:ext cx="19751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одна страница
уведомить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29216" y="1920240"/>
            <a:ext cx="2194560" cy="260604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29216" y="20574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 i="0">
                <a:solidFill>
                  <a:srgbClr val="C15F3C"/>
                </a:solidFill>
                <a:latin typeface="Playfair Display"/>
              </a:rPr>
              <a:t>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0656" y="2606040"/>
            <a:ext cx="201167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41413"/>
                </a:solidFill>
                <a:latin typeface="Playfair Display"/>
              </a:rPr>
              <a:t>Точка пилота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38944" y="3337560"/>
            <a:ext cx="19751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20–35 жителей
один обед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754880"/>
            <a:ext cx="10881360" cy="137160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89204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В ПОНЕДЕЛЬНИК НЕ ДЕЛАТЬ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2120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Не выбирать модель М1–М5. Не менять меню. Не выпускать пресс-релиз.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56235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B8552F"/>
                </a:solidFill>
                <a:latin typeface="Playfair Display"/>
              </a:rPr>
              <a:t>Через семь дней: сырьевая строка, замер запущен, приказ, письмо, отделение.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46520"/>
            <a:ext cx="10241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Литературная редакция · раздел 4.5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КРАСНЫЕ ЛИНИИ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141413"/>
                </a:solidFill>
                <a:latin typeface="Playfair Display"/>
              </a:rPr>
              <a:t>Три ошибки дороже бездействия.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6E6A5E"/>
                </a:solidFill>
                <a:latin typeface="Playfair Display"/>
              </a:rPr>
              <a:t>Все три лечатся процедурой.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94560"/>
            <a:ext cx="3611880" cy="3657600"/>
          </a:xfrm>
          <a:prstGeom prst="roundRect">
            <a:avLst>
              <a:gd name="adj" fmla="val 14000"/>
            </a:avLst>
          </a:prstGeom>
          <a:solidFill>
            <a:srgbClr val="F6F1E9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37744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B8552F"/>
                </a:solidFill>
                <a:latin typeface="Playfair Display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83464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Имитация выбора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65760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D3929"/>
                </a:solidFill>
                <a:latin typeface="PT Sans"/>
              </a:rPr>
              <a:t>«Выбирайте!» — при одном блюде на линии.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43484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B8552F"/>
                </a:solidFill>
                <a:latin typeface="PT Sans"/>
              </a:rPr>
              <a:t>Журнал врёт и проверяющему, и жителю.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688" y="5166360"/>
            <a:ext cx="3063240" cy="548640"/>
          </a:xfrm>
          <a:prstGeom prst="roundRect">
            <a:avLst>
              <a:gd name="adj" fmla="val 8000"/>
            </a:avLst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9848" y="521208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41413"/>
                </a:solidFill>
                <a:latin typeface="PT Sans"/>
              </a:rPr>
              <a:t>Переписать журнал. Сократить позиции до реальных.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1688" y="2194560"/>
            <a:ext cx="3611880" cy="3657600"/>
          </a:xfrm>
          <a:prstGeom prst="roundRect">
            <a:avLst>
              <a:gd name="adj" fmla="val 14000"/>
            </a:avLst>
          </a:prstGeom>
          <a:solidFill>
            <a:srgbClr val="F6F1E9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8" y="237744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B8552F"/>
                </a:solidFill>
                <a:latin typeface="Playfair Display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83464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Выбор без гарантии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65760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D3929"/>
                </a:solidFill>
                <a:latin typeface="PT Sans"/>
              </a:rPr>
              <a:t>Житель выбрал Б — Б закончилось.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443484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B8552F"/>
                </a:solidFill>
                <a:latin typeface="PT Sans"/>
              </a:rPr>
              <a:t>Нет стандартного — есть лотерея.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36008" y="5166360"/>
            <a:ext cx="3063240" cy="548640"/>
          </a:xfrm>
          <a:prstGeom prst="roundRect">
            <a:avLst>
              <a:gd name="adj" fmla="val 8000"/>
            </a:avLst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73168" y="521208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41413"/>
                </a:solidFill>
                <a:latin typeface="PT Sans"/>
              </a:rPr>
              <a:t>Стандартный вариант всегда в наличии.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65008" y="2194560"/>
            <a:ext cx="3611880" cy="3657600"/>
          </a:xfrm>
          <a:prstGeom prst="roundRect">
            <a:avLst>
              <a:gd name="adj" fmla="val 14000"/>
            </a:avLst>
          </a:prstGeom>
          <a:solidFill>
            <a:srgbClr val="F6F1E9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39328" y="237744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B8552F"/>
                </a:solidFill>
                <a:latin typeface="Playfair Display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8" y="283464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«Лечебность» руками кухни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365760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D3929"/>
                </a:solidFill>
                <a:latin typeface="PT Sans"/>
              </a:rPr>
              <a:t>Повар назначает диету.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8" y="443484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B8552F"/>
                </a:solidFill>
                <a:latin typeface="PT Sans"/>
              </a:rPr>
              <a:t>Диагноз повара — не диагноз.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39328" y="5166360"/>
            <a:ext cx="3063240" cy="548640"/>
          </a:xfrm>
          <a:prstGeom prst="roundRect">
            <a:avLst>
              <a:gd name="adj" fmla="val 8000"/>
            </a:avLst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76488" y="521208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41413"/>
                </a:solidFill>
                <a:latin typeface="PT Sans"/>
              </a:rPr>
              <a:t>Назначение делает врач, кухня исполняет.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46520"/>
            <a:ext cx="10241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Литературная редакция · разделы 17, 22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НОВЫЙ САНИТАРНЫЙ КОНТЕКСТ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1">
                <a:solidFill>
                  <a:srgbClr val="6E6A5E"/>
                </a:solidFill>
                <a:latin typeface="Playfair Display"/>
              </a:rPr>
              <a:t>Через шесть дней после нашей встречи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08760"/>
            <a:ext cx="62179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141413"/>
                </a:solidFill>
                <a:latin typeface="Playfair Display"/>
              </a:rPr>
              <a:t>01.09.2026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246120"/>
            <a:ext cx="6217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B8552F"/>
                </a:solidFill>
                <a:latin typeface="Playfair Display"/>
              </a:rPr>
              <a:t>вступает СанПиН 2.3/2.4.4282-26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5087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ЧТО ЭТО ЗНАЧИТ ДЛЯ ВАШЕГО ДОМА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920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41413"/>
                </a:solidFill>
                <a:latin typeface="PT Sans"/>
              </a:rPr>
              <a:t>Пункт 56(11):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28600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не менее 3-х приёмов, в т. ч. диетическое по показаниям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74320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41413"/>
                </a:solidFill>
                <a:latin typeface="PT Sans"/>
              </a:rPr>
              <a:t>Число вариантов блюда: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310896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ни в одной редакции правил не ограничено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35661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41413"/>
                </a:solidFill>
                <a:latin typeface="PT Sans"/>
              </a:rPr>
              <a:t>Журналы августа: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9319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законны как заполнены — задним числом не переписывать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480560"/>
            <a:ext cx="10881360" cy="137160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617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ИТОГ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Журналы бракеража, замен, выбора — как заполнены до 31.08.2026.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В сентябре — перепривязать документы к новому СанПиН, без паники.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9893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Источник S003  ·  пост. ГГСВ РФ от 02.06.2026 № 18, зарег. 02.06.2026 № 86854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446520"/>
            <a:ext cx="10241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Литературная редакция · раздел 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777240"/>
            <a:ext cx="914400" cy="54864"/>
          </a:xfrm>
          <a:prstGeom prst="rect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0058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C15F3C"/>
                </a:solidFill>
                <a:latin typeface="PT Sans"/>
              </a:rPr>
              <a:t>Пилот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7315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15F3C"/>
                </a:solidFill>
                <a:latin typeface="Playfair Display"/>
              </a:rPr>
              <a:t>90 дней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38328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FAF9F5"/>
                </a:solidFill>
                <a:latin typeface="Playfair Display"/>
              </a:rPr>
              <a:t>одно отделение  ·  одна неделя замера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55448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C15F3C"/>
                </a:solidFill>
                <a:latin typeface="PT Sans"/>
              </a:rPr>
              <a:t>ЧТО ДЕЛАЕМ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92024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AF9F5"/>
                </a:solidFill>
                <a:latin typeface="Playfair Display"/>
              </a:rPr>
              <a:t>Два варианта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233172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B7AFA0"/>
                </a:solidFill>
                <a:latin typeface="PT Sans"/>
              </a:rPr>
              <a:t>на завтрак и обед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74320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AF9F5"/>
                </a:solidFill>
                <a:latin typeface="Playfair Display"/>
              </a:rPr>
              <a:t>Стандартный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315468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B7AFA0"/>
                </a:solidFill>
                <a:latin typeface="PT Sans"/>
              </a:rPr>
              <a:t>гарантирован всегда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356616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AF9F5"/>
                </a:solidFill>
                <a:latin typeface="Playfair Display"/>
              </a:rPr>
              <a:t>Житель выбрал 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97764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B7AFA0"/>
                </a:solidFill>
                <a:latin typeface="PT Sans"/>
              </a:rPr>
              <a:t>житель получил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4526280"/>
            <a:ext cx="914400" cy="36576"/>
          </a:xfrm>
          <a:prstGeom prst="rect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709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AF9F5"/>
                </a:solidFill>
                <a:latin typeface="Playfair Display"/>
              </a:rPr>
              <a:t>Измерить  →  проверить  →  скорректировать  →  решить о масштабе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1206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1">
                <a:solidFill>
                  <a:srgbClr val="B7AFA0"/>
                </a:solidFill>
                <a:latin typeface="Playfair Display"/>
              </a:rPr>
              <a:t>Семь дней замера отделяют убеждение от знания.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6235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1">
                <a:solidFill>
                  <a:srgbClr val="C15F3C"/>
                </a:solidFill>
                <a:latin typeface="Playfair Display"/>
              </a:rPr>
              <a:t>Не «внедряйте». Измеряйте.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46520"/>
            <a:ext cx="10241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B7AFA0"/>
                </a:solidFill>
                <a:latin typeface="PT Sans"/>
              </a:rPr>
              <a:t>Литературная редакция · разделы 35, 43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