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777240"/>
            <a:ext cx="292608" cy="292608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E6A5E"/>
                </a:solidFill>
                <a:latin typeface="PT Sans"/>
              </a:rPr>
              <a:t>ПРОСТРАНСТВО НОВЫХ ИДЕЙ 2.0  ·  САНКТ-ПЕТЕРБУРГ  ·  25–27 АВГУСТА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ДИСКУССИЯ  ·  26 АВГУСТА  ·  14:00–15:30  ·  ПЛОЩАДКА № 2 — ДСО „ТЕСОВЫЙ БЕРЕГ“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141413"/>
                </a:solidFill>
                <a:latin typeface="Playfair Display"/>
              </a:rPr>
              <a:t>Не просто накормить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3D3929"/>
                </a:solidFill>
                <a:latin typeface="Playfair Display"/>
              </a:rPr>
              <a:t>Как организовать безопасное, достойное и вариативное питание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3D3929"/>
                </a:solidFill>
                <a:latin typeface="Playfair Display"/>
              </a:rPr>
              <a:t>людей с психическими нарушениями в домах социального обслуживания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480560"/>
            <a:ext cx="822960" cy="4572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87867F"/>
                </a:solidFill>
                <a:latin typeface="PT Sans"/>
              </a:rPr>
              <a:t>МОДЕРАТОРЫ ДИСКУССИИ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29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D3929"/>
                </a:solidFill>
                <a:latin typeface="PT Sans"/>
              </a:rPr>
              <a:t>Евгений Чистяков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директор СПб ГАСУСОН «ДСО „Серафимовский“»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D3929"/>
                </a:solidFill>
                <a:latin typeface="PT Sans"/>
              </a:rPr>
              <a:t>Тимур Нурбаев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директор СПб ГБСУСОН «ДСО „Тесовый берег“»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Министерство труда и социальной защиты РФ  ·  Комитет по социальной политике Санкт-Петербурга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1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КОНФЛИКТ ЗА ОДНИМ СТОЛОМ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Один обед — пять конфликтов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Учебный кейс. Персонажи вымышлены. Система одна.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889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Очередь и помощь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6118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кормят холодным, на скорость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7889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«Не ест кашу»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6118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отказ без журнала и врача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7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7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7" y="27889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Лекарства и кофе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5" y="36118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кофеин и клозапин без таблицы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27889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Добавка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36118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«вам нельзя» — не от врача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948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7889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Журналы «в порядок»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36118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контроль имитируется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754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Ни один из пяти не требует денег, чтобы начать. Вариативность — шестой конфликт, если эти не закрыты.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32704" y="5532120"/>
            <a:ext cx="91440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ПОЧЕМУ КУХНЯ НЕ ВЫБИРАЕТ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Дисфагия встречается часто.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6E6A5E"/>
                </a:solidFill>
                <a:latin typeface="Playfair Display"/>
              </a:rPr>
              <a:t>Именно поэтому текстуру назначает врач, а не повар.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68880"/>
            <a:ext cx="6400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141413"/>
                </a:solidFill>
                <a:latin typeface="Playfair Display"/>
              </a:rPr>
              <a:t>21,9–69,5 %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распространённость в отдельных изученных клинических группах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377440"/>
            <a:ext cx="4572000" cy="237744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606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ВАЖНАЯ ОГОВОРКА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971800"/>
            <a:ext cx="4206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Переносить этот диапазон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на все российские ДСО нельзя.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Решение о текстуре —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за врачом.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Источник: обзор эпидемиологии нарушений глотания  ·  доклад, раздел 10  ·  пневмония при тяжёлых психических расстройствах — ×7 популяционной смертности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МАСШТАБ ПОВСЕДНЕВНОСТИ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Самые частые решения, которые дом принимает за жителя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7315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1413"/>
                </a:solidFill>
                <a:latin typeface="Playfair Display"/>
              </a:rPr>
              <a:t>2 190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6E6A5E"/>
                </a:solidFill>
                <a:latin typeface="PT Sans"/>
              </a:rPr>
              <a:t>приёмов пищи в год за одного человека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7867F"/>
                </a:solidFill>
                <a:latin typeface="PT Sans"/>
              </a:rPr>
              <a:t>6 приёмов × 365 дней  =  2 190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920240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385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завтрак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2487168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054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2-й завтрак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0" y="3054096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723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обед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3621024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393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полдник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4187952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ужин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0" y="4754880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731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вечерний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440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E6A5E"/>
                </a:solidFill>
                <a:latin typeface="Playfair Display"/>
              </a:rPr>
              <a:t>шесть раз в день  ·  365 дней  ·  одна жизнь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КОНТЕКСТ · НЕДЕЕСПОСОБНОСТЬ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Порядка трёх из четырёх — недееспособны.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Их мнение по ст. 29 ГК обязаны выяснять и учитывать.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2743200" cy="2743200"/>
          </a:xfrm>
          <a:prstGeom prst="ellipse">
            <a:avLst/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1371600" y="2011680"/>
            <a:ext cx="2743200" cy="2743200"/>
          </a:xfrm>
          <a:prstGeom prst="pie">
            <a:avLst>
              <a:gd name="adj1" fmla="val 0"/>
              <a:gd name="adj2" fmla="val 26600000"/>
            </a:avLst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2423160"/>
            <a:ext cx="1920240" cy="1920240"/>
          </a:xfrm>
          <a:prstGeom prst="ellipse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4600" b="1" i="0">
                <a:solidFill>
                  <a:srgbClr val="141413"/>
                </a:solidFill>
                <a:latin typeface="Playfair Display"/>
              </a:rPr>
              <a:t>74 %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87867F"/>
                </a:solidFill>
                <a:latin typeface="PT Sans"/>
              </a:rPr>
              <a:t>недееспособны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ПОВСЕДНЕВНОЕ ПРЕДПОЧТЕНИЕ — НЕ СДЕЛКА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14600"/>
            <a:ext cx="6583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Сделки совершает опекун (ст. 29 ГК).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Но повседневное предпочтение — это мнение,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а мнение обязаны выяснять.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Кто не говорит — показ, наблюдение, биография.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E6A5E"/>
                </a:solidFill>
                <a:latin typeface="PT Sans"/>
              </a:rPr>
              <a:t>Расчёт проекта «Если быть точным», данные за 2024 г.  ·  не статотчётность Минтруда  ·  в вашем доме цифра будет другой.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ФИЗИОЛОГИЯ · УЖИН → ЗАВТРАК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Ужин 17:30  →  завтрак 8:30  =  15 часов без еды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Операционная цель дома — не больше 13 часов.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2608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78708" y="2926080"/>
            <a:ext cx="7254240" cy="640080"/>
          </a:xfrm>
          <a:prstGeom prst="rect">
            <a:avLst/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582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50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24</a:t>
            </a:r>
          </a:p>
        </p:txBody>
      </p:sp>
      <p:sp>
        <p:nvSpPr>
          <p:cNvPr id="13" name="Oval 12"/>
          <p:cNvSpPr/>
          <p:nvPr/>
        </p:nvSpPr>
        <p:spPr>
          <a:xfrm>
            <a:off x="4428073" y="3127248"/>
            <a:ext cx="164592" cy="237744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769" y="3127248"/>
            <a:ext cx="164592" cy="237744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8583" y="3127248"/>
            <a:ext cx="164592" cy="237744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0289" y="3931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завтрак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0289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8:30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5985" y="3931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обед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5985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0799" y="3931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ужин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0799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17:30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0879" y="2423160"/>
            <a:ext cx="2948849" cy="0"/>
          </a:xfrm>
          <a:prstGeom prst="line">
            <a:avLst/>
          </a:prstGeom>
          <a:ln w="31750">
            <a:solidFill>
              <a:srgbClr val="C15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" y="2423160"/>
            <a:ext cx="3852001" cy="0"/>
          </a:xfrm>
          <a:prstGeom prst="line">
            <a:avLst/>
          </a:prstGeom>
          <a:ln w="31750">
            <a:solidFill>
              <a:srgbClr val="C15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Arrow 23"/>
          <p:cNvSpPr/>
          <p:nvPr/>
        </p:nvSpPr>
        <p:spPr>
          <a:xfrm>
            <a:off x="4464649" y="2359152"/>
            <a:ext cx="164592" cy="128016"/>
          </a:xfrm>
          <a:prstGeom prst="lef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472007" y="2359152"/>
            <a:ext cx="164592" cy="128016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6088" y="19202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C15F3C"/>
                </a:solidFill>
                <a:latin typeface="Playfair Display"/>
              </a:rPr>
              <a:t>через полночь  ·  15 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539728" y="2423160"/>
            <a:ext cx="0" cy="457200"/>
          </a:xfrm>
          <a:prstGeom prst="line">
            <a:avLst/>
          </a:prstGeom>
          <a:ln w="12700">
            <a:solidFill>
              <a:srgbClr val="C15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82528" y="22219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87867F"/>
                </a:solidFill>
                <a:latin typeface="PT Sans"/>
              </a:rPr>
              <a:t>полночь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89120"/>
            <a:ext cx="5303520" cy="164592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ОРИЕНТИРЫ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377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≤ 11 ч  —  Швеция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≤ 13 ч  —  цель нашего дома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≤ 14 ч  —  зарубежные ориентиры (диапазон)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89120"/>
            <a:ext cx="5303520" cy="164592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ОГОВОРКА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3776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15 ч — арифметика одного расписания,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не статистика по российским ДСО.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Швеция/США — другие системы регулирования.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разделы 7, 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ПРАВО · НЕ ЛОЗУНГ, А ПАПКА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Проверяющему нужна не фраза «запрета нет».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А положение, журнал, карты, согласование с учредителем.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8136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МИНИМАЛЬНЫЙ КОМПЛЕКТ ДОКУМЕНТОВ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Положение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о питании, в редакции с учётом вариативности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Меню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54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с вариантами и парами эквивалентов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Журнал заказа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154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что заказал житель, кто принял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Журнал замен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80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когда варианта не оказалось, что выдали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148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114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Пищевые карты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80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профиль, текстура, исключения, предпочтения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1148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114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Согласование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480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с учредителем — для сведения или по регламенту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166360"/>
            <a:ext cx="82296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49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Федеральное право не запрещает и не обязывает — это нужно закрепить локально.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Источники: 442-ФЗ ст. 9, 16, 32 ч. 4  ·  3185-1 ст. 5 ч. 2; ст. 37, 43  ·  ГК ст. 29  ·  доклад, разделы 31, 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разделы 31,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РОССИЙСКАЯ ПРАКТИКА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Иркутская область масштабирует выбор на регион.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Не один эксперимент — контур для учредителя.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4114800" cy="310896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ИРКУТСКАЯ ОБЛАСТЬ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41413"/>
                </a:solidFill>
                <a:latin typeface="Playfair Display"/>
              </a:rPr>
              <a:t>вариативное
питание
в стационарных
учреждениях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37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публикация 14.02.2025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77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ЧТО СДЕЛАНО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9748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Выбор по основным приёмам пищи: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  ·  два первых блюда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  ·  два вторых блюда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  ·  два гарнира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97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ЧТО ЭТО ЗНАЧИТ ДЛЯ ДИРЕКТОРА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6177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Не «дайте денег — сделаем».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Контур, который можно показать учредителю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при разговоре о масштабировании.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7867F"/>
                </a:solidFill>
                <a:latin typeface="PT Sans"/>
              </a:rPr>
              <a:t>Источник S018  ·  масштаб области как аудит не подтверждён; показано как контур, а не как результат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КЕЙС · НАШ ДОМ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Житель заказывает ужин накануне.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К вечеру известно, что готовить.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81360" cy="10972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ВЧЕРА  ·  СЕГОДНЯ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18:00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принимаем заказ на ужин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08:00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подача на завтрак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3063240"/>
            <a:ext cx="1097280" cy="36576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ЭТО ДАЛО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Жители приняли выбор с энтузиазмом. Директор — я — рассказываю и про цену, и про пределы.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6E6A5E"/>
                </a:solidFill>
                <a:latin typeface="PT Sans"/>
              </a:rPr>
              <a:t>Старт не был бесплатным  —  дополнительное оборудование и ставки пищеблока.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S030  ·  gov.spb.ru, 22.07.2025  ·  СПб ГАСУСОН «ДСО „Серафимовский“»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ЛОКАЛЬНЫЙ НОРМАТИВ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141413"/>
                </a:solidFill>
                <a:latin typeface="Playfair Display"/>
              </a:rPr>
              <a:t>Приказ № 124  от  10.03.2026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Заказное питание вошло в правила внутреннего распорядка жителей ДСО „Серафимовский“.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5486400" cy="310896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ИМЕННО ЗАКРЕПЛЕНО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Заказное питание (вариативное меню)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как часть правил внутреннего распорядка,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а не «эксперимент по новости».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Включая маломобильных: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  ·  приём пищи в жилых комнатах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  ·  помощь в кормлении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120640" cy="310896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ПОЧЕМУ ЭТО ОПОРА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754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«Это правила дома, утверждённые приказом» —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аргумент, который пережил смену настроения.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Проверяющему — документ, не слова.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Учредителю — порядок, не самочинность.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1">
                <a:solidFill>
                  <a:srgbClr val="B8552F"/>
                </a:solidFill>
                <a:latin typeface="PT Sans"/>
              </a:rPr>
              <a:t>Локальный акт одного учреждения  ·  не общероссийский норматив.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S035  ·  локальный приказ  ·  архив правил web.archive.org/web/20260415001233  ·  pni9.ru с 21.08.2026 не работает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ЗАКУПКИ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Один учредитель — две разные закупки.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Вариативность не от номера закона.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5303520" cy="32004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СЕРАФИМОВСКИЙ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 i="0">
                <a:solidFill>
                  <a:srgbClr val="141413"/>
                </a:solidFill>
                <a:latin typeface="Playfair Display"/>
              </a:rPr>
              <a:t>223-ФЗ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автономное учреждение  ·  конкурсная основа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Тендеры: 32616151967, 95375953, 32616197209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tenmon.ru, tenderguru.ru,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303520" cy="320040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ТЕСОВЫЙ БЕРЕГ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 i="0">
                <a:solidFill>
                  <a:srgbClr val="141413"/>
                </a:solidFill>
                <a:latin typeface="Playfair Display"/>
              </a:rPr>
              <a:t>44-ФЗ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бюджетное учреждение  ·  государственная закупка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ИНН 7827661874  ·  ЕГРЮЛ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Санкт-Петербург, п. Молодёжное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760720"/>
            <a:ext cx="82296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E6A5E"/>
                </a:solidFill>
                <a:latin typeface="Playfair Display"/>
              </a:rPr>
              <a:t>Вариативность зависит не от номера закона — а от корректной организации требований, документов и исполнения.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СНАЧАЛА РАМКА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Сначала медицинская рамка. Потом выбор.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Кухня исполняет назначение, а не ставит его.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РЕШАЕТ ВРАЧ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Текстура  ·  стол  ·  противопоказания  ·  лекарственно-пищевые исключения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Приказы 330н, 395н;  СанПиН 2.3/2.4.4282-26, п. 56(11) — с 01.09.2026, на 26.08 ещё не в силе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0332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РЕШАЕТ УЧРЕЖДЕНИЕ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Сколько вариантов  ·  где выбор фиксируется  ·  что делает смена, когда вариант кончился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Приказ, положение, журнал, линия раздачи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2704" y="5349240"/>
            <a:ext cx="91440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532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Если это звучит как медицинская реформа руками повара — вы правильно закрываете папку.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МОДЕЛЬ РЕШЕНИЯ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Врач задаёт рамку. Внутри рамки — пары эквивалентов.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Человек выбирает. Выбор фиксируется.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8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Мед. ограничения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текстура, стол,
противопоказания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76575" y="3291840"/>
            <a:ext cx="365760" cy="27432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836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836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C15F3C"/>
                </a:solidFill>
                <a:latin typeface="Playfair Display"/>
              </a:rPr>
              <a:t>Допустимые пары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гречка/рис,
курица/индейка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94095" y="3291840"/>
            <a:ext cx="365760" cy="27432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588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Выбор человека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показ, слово,
наблюдение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11615" y="3291840"/>
            <a:ext cx="365760" cy="27432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3340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340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84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Фиксация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84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в журнале заказа
с подписью смены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37760"/>
            <a:ext cx="10881360" cy="73152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СТАНДАРТНЫЙ ВАРИАНТ ГАРАНТИРОВАН ВСЕГДА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349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E6A5E"/>
                </a:solidFill>
                <a:latin typeface="Playfair Display"/>
              </a:rPr>
              <a:t>Человек вправе выбрать стандартное блюдо или не выбирать вовсе.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разделы 19,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ВЫБОР НЕ ТРЕБУЕТ ДЕЕСПОСОБНОСТИ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Четыре канала выражения воли.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Человек, который не говорит, всё равно может выразить предпочтение.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Показ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две порции перед глазами, рука сама пойдёт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Наблюдение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что съедено, что оставлено, «влажный» голос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Биография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что ел всю жизнь, к чему тянется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080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Сведения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от тех, кто хорошо знает человека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12080"/>
            <a:ext cx="10881360" cy="73152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49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ОГОВОРКА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Наблюдение — это сигнал, а не автоматическое согласие. Решение всё равно документируется.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ЧТО СДЕЛАТЬ В ПОНЕДЕЛЬНИК ДО ОБЕДА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Пять действий. Меню не трогают.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B8552F"/>
                </a:solidFill>
                <a:latin typeface="Playfair Display"/>
              </a:rPr>
              <a:t>Новой сметы не нужно. Врач входит в группу — ставит границу.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2194560" cy="260604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2011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Сырьевая строка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337560"/>
            <a:ext cx="19751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1 час
руб./житель/день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920240"/>
            <a:ext cx="2194560" cy="2606040"/>
          </a:xfrm>
          <a:prstGeom prst="roundRect">
            <a:avLst>
              <a:gd name="adj" fmla="val 14000"/>
            </a:avLst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FAF9F5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06040"/>
            <a:ext cx="2011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Playfair Display"/>
              </a:rPr>
              <a:t>Замер 7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337560"/>
            <a:ext cx="19751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AF9F5"/>
                </a:solidFill>
                <a:latin typeface="PT Sans"/>
              </a:rPr>
              <a:t>отходы
и время раздачи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920240"/>
            <a:ext cx="2194560" cy="260604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606040"/>
            <a:ext cx="2011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Приказ о группе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37560"/>
            <a:ext cx="19751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пять фамилий
срок 30 дней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920240"/>
            <a:ext cx="2194560" cy="260604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606040"/>
            <a:ext cx="2011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Письмо учредителю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3337560"/>
            <a:ext cx="19751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одна страница
уведомить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9216" y="1920240"/>
            <a:ext cx="2194560" cy="260604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2606040"/>
            <a:ext cx="2011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Точка пилота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3337560"/>
            <a:ext cx="19751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20–35 жителей
один обед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5488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В ПОНЕДЕЛЬНИК НЕ ДЕЛАТЬ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Не выбирать модель М1–М5. Не менять меню. Не выпускать пресс-релиз.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B8552F"/>
                </a:solidFill>
                <a:latin typeface="Playfair Display"/>
              </a:rPr>
              <a:t>Через семь дней: сырьевая строка, замер запущен, приказ, письмо, отделение.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4.5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КРАСНЫЕ ЛИНИИ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Три ошибки дороже бездействия.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Все три лечатся процедурой.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3611880" cy="3657600"/>
          </a:xfrm>
          <a:prstGeom prst="roundRect">
            <a:avLst>
              <a:gd name="adj" fmla="val 14000"/>
            </a:avLst>
          </a:prstGeom>
          <a:solidFill>
            <a:srgbClr val="F6F1E9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B8552F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3464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Имитация выбора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576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«Выбирайте!» — при одном блюде на линии.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Журнал врёт и проверяющему, и жителю.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51663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212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1413"/>
                </a:solidFill>
                <a:latin typeface="PT Sans"/>
              </a:rPr>
              <a:t>Переписать журнал. Сократить позиции до реальных.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194560"/>
            <a:ext cx="3611880" cy="3657600"/>
          </a:xfrm>
          <a:prstGeom prst="roundRect">
            <a:avLst>
              <a:gd name="adj" fmla="val 14000"/>
            </a:avLst>
          </a:prstGeom>
          <a:solidFill>
            <a:srgbClr val="F6F1E9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B8552F"/>
                </a:solidFill>
                <a:latin typeface="Playfair Display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83464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Выбор без гарантии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6576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Житель выбрал Б — Б закончилось.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4434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Нет стандартного — есть лотерея.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008" y="51663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5212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1413"/>
                </a:solidFill>
                <a:latin typeface="PT Sans"/>
              </a:rPr>
              <a:t>Стандартный вариант всегда в наличии.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194560"/>
            <a:ext cx="3611880" cy="3657600"/>
          </a:xfrm>
          <a:prstGeom prst="roundRect">
            <a:avLst>
              <a:gd name="adj" fmla="val 14000"/>
            </a:avLst>
          </a:prstGeom>
          <a:solidFill>
            <a:srgbClr val="F6F1E9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B8552F"/>
                </a:solidFill>
                <a:latin typeface="Playfair Display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83464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«Лечебность» руками кухни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6576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Повар назначает диету.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434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Диагноз повара — не диагноз.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8" y="51663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5212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1413"/>
                </a:solidFill>
                <a:latin typeface="PT Sans"/>
              </a:rPr>
              <a:t>Назначение делает врач, кухня исполняет.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разделы 17,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НОВЫЙ САНИТАРНЫЙ КОНТЕКСТ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6E6A5E"/>
                </a:solidFill>
                <a:latin typeface="Playfair Display"/>
              </a:rPr>
              <a:t>Через шесть дней после нашей встречи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6217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1413"/>
                </a:solidFill>
                <a:latin typeface="Playfair Display"/>
              </a:rPr>
              <a:t>01.09.2026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B8552F"/>
                </a:solidFill>
                <a:latin typeface="Playfair Display"/>
              </a:rPr>
              <a:t>вступает СанПиН 2.3/2.4.4282-26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ЭТО ЗНАЧИТ ДЛЯ ВАШЕГО ДОМА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3"/>
                </a:solidFill>
                <a:latin typeface="PT Sans"/>
              </a:rPr>
              <a:t>Пункт 56(11):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не менее 3-х приёмов, в т. ч. диетическое по показаниям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3"/>
                </a:solidFill>
                <a:latin typeface="PT Sans"/>
              </a:rPr>
              <a:t>Число вариантов блюда: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ни в одной редакции правил не ограничено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66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3"/>
                </a:solidFill>
                <a:latin typeface="PT Sans"/>
              </a:rPr>
              <a:t>Журналы августа: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931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законны как заполнены — задним числом не переписывать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8056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ИТОГ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Журналы бракеража, замен, выбора — как заполнены до 31.08.2026.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В сентябре — перепривязать документы к новому СанПиН, без паники.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S003  ·  пост. ГГСВ РФ от 02.06.2026 № 18, зарег. 02.06.2026 № 86854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Литературная редакция · раздел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77240"/>
            <a:ext cx="914400" cy="54864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15F3C"/>
                </a:solidFill>
                <a:latin typeface="PT Sans"/>
              </a:rPr>
              <a:t>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15F3C"/>
                </a:solidFill>
                <a:latin typeface="Playfair Display"/>
              </a:rPr>
              <a:t>90 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3832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FAF9F5"/>
                </a:solidFill>
                <a:latin typeface="Playfair Display"/>
              </a:rPr>
              <a:t>одно отделение  ·  одна неделя замера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15F3C"/>
                </a:solidFill>
                <a:latin typeface="PT Sans"/>
              </a:rPr>
              <a:t>ЧТО ДЕЛАЕМ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Два варианта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7AFA0"/>
                </a:solidFill>
                <a:latin typeface="PT Sans"/>
              </a:rPr>
              <a:t>на завтрак и обед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Стандартный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7AFA0"/>
                </a:solidFill>
                <a:latin typeface="PT Sans"/>
              </a:rPr>
              <a:t>гарантирован всегда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5661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Житель выбрал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776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7AFA0"/>
                </a:solidFill>
                <a:latin typeface="PT Sans"/>
              </a:rPr>
              <a:t>житель получил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526280"/>
            <a:ext cx="91440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709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AF9F5"/>
                </a:solidFill>
                <a:latin typeface="Playfair Display"/>
              </a:rPr>
              <a:t>Измерить  →  проверить  →  скорректировать  →  решить о масштабе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20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B7AFA0"/>
                </a:solidFill>
                <a:latin typeface="Playfair Display"/>
              </a:rPr>
              <a:t>Семь дней замера отделяют убеждение от знания.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C15F3C"/>
                </a:solidFill>
                <a:latin typeface="Playfair Display"/>
              </a:rPr>
              <a:t>Не «внедряйте». Измеряйте.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7AFA0"/>
                </a:solidFill>
                <a:latin typeface="PT Sans"/>
              </a:rPr>
              <a:t>Литературная редакция · разделы 35, 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