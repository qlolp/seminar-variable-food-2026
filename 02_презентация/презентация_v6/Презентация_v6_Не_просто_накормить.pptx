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777240"/>
            <a:ext cx="292608" cy="292608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E6A5E"/>
                </a:solidFill>
                <a:latin typeface="PT Sans"/>
              </a:rPr>
              <a:t>ПРОСТРАНСТВО НОВЫХ ИДЕЙ 2.0  ·  САНКТ-ПЕТЕРБУРГ  ·  25–27 АВГУСТА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ДИСКУССИЯ  ·  26 АВГУСТА  ·  14:00–15:30  ·  ПЛОЩАДКА № 2 — ДСО „ТЕСОВЫЙ БЕРЕГ“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141413"/>
                </a:solidFill>
                <a:latin typeface="Playfair Display"/>
              </a:rPr>
              <a:t>Не просто накормить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Как организовать безопасное, достойное и вариативное питание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людей с психическими нарушениями в домах социального обслуживания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822960" cy="4572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87867F"/>
                </a:solidFill>
                <a:latin typeface="PT Sans"/>
              </a:rPr>
              <a:t>МОДЕРАТОРЫ ДИСКУССИИ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Евгений Чистяков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ГАСУСОН «ДСО „Серафимовский“»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Тимур Нурбаев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ГБСУСОН «ДСО „Тесовый берег“»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Министерство труда и социальной защиты РФ  ·  Комитет по социальной политике Санкт-Петербурга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КОНФЛИКТ ЗА ОДНИМ СТОЛОМ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За одним обедом — пять вещей одновременно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текстуры, лекарства, риск аспирации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Достоинство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уважение к жителю, имя на тарелке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8927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7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7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Предпочтение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7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свой голос — словом, жестом, биографией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920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920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Возможности кухни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реально приготовить сегодня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Документ проверки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664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журнал, карта, 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Каждое измерение — отдельный документ, отдельный участник, отдельный риск.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2704" y="553212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разделы 4–8; сценарий 0:00–2:00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2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ПОЧЕМУ КУХНЯ НЕ ВЫБИРАЕТ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Дисфагия встречается часто.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Именно поэтому текстуру назначает врач, а не повар.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6888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41413"/>
                </a:solidFill>
                <a:latin typeface="Playfair Display"/>
              </a:rPr>
              <a:t>21,9–69,5 %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распространённость в отдельных изученных клинических группах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377440"/>
            <a:ext cx="4572000" cy="23774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606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ВАЖНАЯ ОГОВОРКА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97180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Переносить этот диапазон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на все российские ДСО нельзя.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Решение о текстуре —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за врачом.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обзор эпидемиологии нарушений глотания  ·  доклад, раздел 10  ·  пневмония при тяжёлых психических расстройствах — ×7 популяционной смертности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S013  ·  обзор эпидемиологии нарушений глотания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3 /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МАСШТАБ ПОВСЕДНЕВНОСТИ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Самые частые решения, которые дом принимает за жителя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7315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141413"/>
                </a:solidFill>
                <a:latin typeface="Playfair Display"/>
              </a:rPr>
              <a:t>2 190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3891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E6A5E"/>
                </a:solidFill>
                <a:latin typeface="PT Sans"/>
              </a:rPr>
              <a:t>приёмов пищи в год за одного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7867F"/>
                </a:solidFill>
                <a:latin typeface="PT Sans"/>
              </a:rPr>
              <a:t>6 приёмов × 365 дней  =  2 190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92024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завтрак</a:t>
            </a:r>
          </a:p>
        </p:txBody>
      </p:sp>
      <p:sp>
        <p:nvSpPr>
          <p:cNvPr id="10" name="Oval 9"/>
          <p:cNvSpPr/>
          <p:nvPr/>
        </p:nvSpPr>
        <p:spPr>
          <a:xfrm>
            <a:off x="7772400" y="2487168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2-й завтрак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054096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723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обед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621024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6393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полдник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0" y="4187952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ужин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5488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773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440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шесть раз в день  ·  365 дней  ·  одна жизнь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S030  ·  Комитет по социальной политике СПб, 22.07.2025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4 /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КОНТЕКСТ · НЕДЕЕСПОСОБНОСТЬ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Порядка трёх из четырёх — недееспособны.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Их мнение по ст. 29 ГК обязаны выяснять и учитывать.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2743200" cy="2743200"/>
          </a:xfrm>
          <a:prstGeom prst="ellipse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1371600" y="2011680"/>
            <a:ext cx="2743200" cy="2743200"/>
          </a:xfrm>
          <a:prstGeom prst="pie">
            <a:avLst>
              <a:gd name="adj1" fmla="val 0"/>
              <a:gd name="adj2" fmla="val 26600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80" y="2423160"/>
            <a:ext cx="1920240" cy="1920240"/>
          </a:xfrm>
          <a:prstGeom prst="ellipse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600" b="1" i="0">
                <a:solidFill>
                  <a:srgbClr val="141413"/>
                </a:solidFill>
                <a:latin typeface="Playfair Display"/>
              </a:rPr>
              <a:t>74 %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87867F"/>
                </a:solidFill>
                <a:latin typeface="PT Sans"/>
              </a:rPr>
              <a:t>недееспособны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9456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ПОВСЕДНЕВНОЕ ПРЕДПОЧТЕНИЕ — НЕ СДЕЛКА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1460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Сделки совершает опекун (ст. 29 ГК).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Но повседневное предпочтение — это мнение,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мнение обязаны выяснять.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Кто не говорит — показ, наблюдение, биография.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Расчёт проекта «Если быть точным», данные за 2024 г.  ·  не статотчётность Минтруда  ·  в вашем доме цифра будет другой.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S004  ·  проект «Если быть точным», публикация 09.04.2026  ·  ст. 29 ГК, 48-ФЗ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5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ФИЗИОЛОГИЯ · УЖИН → ЗАВТРАК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Ужин 17:30  →  завтрак 8:30  =  15 часов без еды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Цель нашего дома — не больше 13 часов.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92608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78708" y="2926080"/>
            <a:ext cx="7254240" cy="640080"/>
          </a:xfrm>
          <a:prstGeom prst="rect">
            <a:avLst/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582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616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50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684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24</a:t>
            </a:r>
          </a:p>
        </p:txBody>
      </p:sp>
      <p:sp>
        <p:nvSpPr>
          <p:cNvPr id="13" name="Oval 12"/>
          <p:cNvSpPr/>
          <p:nvPr/>
        </p:nvSpPr>
        <p:spPr>
          <a:xfrm>
            <a:off x="4428073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769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8583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0289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завтрак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0289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8:30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5985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обед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5985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799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ужин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0799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17:30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590879" y="2423160"/>
            <a:ext cx="2948849" cy="0"/>
          </a:xfrm>
          <a:prstGeom prst="line">
            <a:avLst/>
          </a:prstGeom>
          <a:ln w="3175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" y="2423160"/>
            <a:ext cx="3852001" cy="0"/>
          </a:xfrm>
          <a:prstGeom prst="line">
            <a:avLst/>
          </a:prstGeom>
          <a:ln w="3175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4464649" y="2359152"/>
            <a:ext cx="164592" cy="128016"/>
          </a:xfrm>
          <a:prstGeom prst="lef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472007" y="2359152"/>
            <a:ext cx="164592" cy="128016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6088" y="192024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C15F3C"/>
                </a:solidFill>
                <a:latin typeface="Playfair Display"/>
              </a:rPr>
              <a:t>через полночь  ·  15 ч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539728" y="2423160"/>
            <a:ext cx="0" cy="457200"/>
          </a:xfrm>
          <a:prstGeom prst="line">
            <a:avLst/>
          </a:prstGeom>
          <a:ln w="1270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082528" y="22219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87867F"/>
                </a:solidFill>
                <a:latin typeface="PT Sans"/>
              </a:rPr>
              <a:t>полночь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ОРИЕНТИРЫ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937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11 ч  —  Швеция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13 ч  —  цель нашего дома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14 ч  —  зарубежные ориентиры (диапазон)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93776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15 ч — арифметика одного расписания,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не статистика по российским ДСО.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Швеция/США — другие системы регулирования.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7.4, 26  ·  Швеция ≤11 ч  ·  сравнение ограничено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6 / 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 · НЕ ЛОЗУНГ, А ПАПКА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Проверяющему нужна не фраза «запрета нет».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А положение, журнал, карты, согласование с учредителем.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МИНИМАЛЬНЫЙ КОМПЛЕКТ ДОКУМЕНТОВ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Положение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 питании, в редакции с учётом вариативности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Меню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вариантами и парами эквивалентов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заказа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заказал житель, кто принял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замен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когда варианта не оказалось, что выдали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Пищевые карты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профиль, текстура, исключения, предпочтения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учредителем — для сведения или по регламенту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16636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Федеральное право не запрещает и не обязывает — это нужно закрепить локально.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Источники: 442-ФЗ ст. 9, 16, 32 ч. 4  ·  3185-1 ст. 5, 37, 43  ·  ГК ст. 29  ·  доклад, разделы 31, 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Без комплекта та же практика выглядит как отступление от раскладки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7 / 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РОССИЙСКАЯ ПРАКТИКА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Иркутская область масштабирует выбор на регион.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Не один эксперимент — контур для учредителя.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41148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ИРКУТСКАЯ 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141413"/>
                </a:solidFill>
                <a:latin typeface="Playfair Display"/>
              </a:rPr>
              <a:t>вариативное
питание
в стационарных
учреждениях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37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публикация 14.02.2025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77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СДЕЛАНО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69748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Выбор по основным приёмам пищи: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гарнира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97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ЭТО ЗНАЧИТ ДЛЯ ДИРЕКТОРА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6177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Не «дайте денег — сделаем».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Контур, который можно показать учредителю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 разговоре о масштабировании.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7867F"/>
                </a:solidFill>
                <a:latin typeface="PT Sans"/>
              </a:rPr>
              <a:t>Источник S018  ·  масштаб области как аудит не подтверждён; показано как контур, а не как результат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Успенский, Болотнинский, Усть-Илимск, Серафимовский — в резерве R3–R6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8 /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КЕЙС · НАШ ДОМ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Житель заказывает ужин накануне.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 вечеру известно, что готовить.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ВЧЕРА  ·  СЕГОДНЯ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18:00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принимаем заказ на ужин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подача на завтрак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3063240"/>
            <a:ext cx="1097280" cy="36576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23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ДАЛО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Жители приняли выбор с энтузиазмом. Директор — я — рассказываю и про цену, и про пределы.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394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6E6A5E"/>
                </a:solidFill>
                <a:latin typeface="PT Sans"/>
              </a:rPr>
              <a:t>Старт не был бесплатным  —  дополнительное оборудование и ставки пищеблока.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СПб ГАСУСОН «ДСО „Серафимовский“»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Кейс — часть практики, не доказательство эффекта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9 /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ЛОКАЛЬНЫЙ НОРМАТИВ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141413"/>
                </a:solidFill>
                <a:latin typeface="Playfair Display"/>
              </a:rPr>
              <a:t>Приказ № 124  от  10.03.2026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Заказное питание вошло в правила внутреннего распорядка жителей ДСО „Серафимовский“.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54864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ИМЕННО ЗАКРЕПЛЕНО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1206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Заказное питание (вариативное меню)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как часть правил внутреннего распорядка,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не «эксперимент по новости».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Включая маломобильных: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приём пищи в жилых комнатах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помощь в кормлении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120640" cy="31089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ПОЧЕМУ ЭТО ОПОРА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926080"/>
            <a:ext cx="47548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«Это правила дома, утверждённые приказом» —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аргумент, который пережил смену настроения.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Проверяющему — документ, не слова.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Учредителю — порядок, не самочинность.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B8552F"/>
                </a:solidFill>
                <a:latin typeface="PT Sans"/>
              </a:rPr>
              <a:t>Локальный акт одного учреждения  ·  не общероссийский норматив.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S035  ·  www.pni9.ru  ·  правила внутреннего распорядка жителей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8, 17.12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10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Один учредитель — две разные закупки.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Вариативность не от номера закона.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СЕРАФИМОВСКИЙ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223-ФЗ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автономное учреждение  ·  конкурсная основа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Тендеры: 32616151967, 95375953, 32616197209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tenmon.ru, tenderguru.ru,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ТЕСОВЫЙ БЕРЕГ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44-ФЗ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бюджетное учреждение  ·  государственная закупка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ИНН 7827661874  ·  ЕГРЮЛ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Санкт-Петербург, п. Молодёжное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76072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Вариативность зависит не от номера закона — а от корректной организации требований, документов и исполнения.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29  ·  программа организаторов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11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СНАЧАЛА РАМКА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Сначала медицинская рамка. Потом выбор.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Кухня исполняет назначение, а не ставит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ВРАЧ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Текстура  ·  стол  ·  противопоказания  ·  лекарственно-пищевые исключения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Приказы 330н, 395н;  СанПиН 2.3/2.4.4282-26, п. 56(11)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0332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УЧРЕЖДЕНИЕ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Сколько вариантов  ·  где выбор фиксируется  ·  что делает смена, когда вариант кончился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Приказ, положение, журнал, линия раздачи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2704" y="534924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Если это звучит как медицинская реформа руками повара — вы правильно закрываете папку.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11, 17  ·  правило «трёх отказов» — врач сегодня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12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РЕШЕНИЯ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Врач задаёт рамку. Внутри рамки — пары эквивалентов.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 выбирает. Выбор фиксируется.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84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28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Мед.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28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текстура, стол,
противопоказания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7657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836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836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80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C15F3C"/>
                </a:solidFill>
                <a:latin typeface="Playfair Display"/>
              </a:rPr>
              <a:t>Допустимые пары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980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гречка/рис,
курица/индейка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9409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588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показ, слово,
наблюдение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1161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3340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340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484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Фиксация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484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в журнале заказа
с подписью смены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93776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074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СТАНДАРТНЫЙ ВАРИАНТ ГАРАНТИРОВАН ВСЕГДА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Человек вправе выбрать стандартное блюдо или не выбирать вовсе.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19 (пары эквивалентов), 21 (журнал)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13 / 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ВЫБОР НЕ ТРЕБУЕТ ДЕЕСПОСОБНОСТИ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Четыре канала выражения воли.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Человек, который не говорит, всё равно может выразить предпочтение.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Показ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две порции перед глазами, рука сама пойдёт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Наблюдение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съедено, что оставлено, «влажный» голос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Биография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080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080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Сведения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от тех, кто хорошо знает человека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21208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Наблюдение — это сигнал, а не автоматическое согласие. Решение всё равно документируется.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Ст. 29 ГК  ·  Замечание общего порядка № 1 к ст. 12 КПИ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14 / 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ЧТО СДЕЛАТЬ В ПОНЕДЕЛЬНИК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Пилот на 90 дней. Одно отделение.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Один обед  ·  одно отделение  ·  одна неделя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Замер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7 дней
ноль рублей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Приказ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одна строка
об ответственном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Обучение смены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15 минут
показать журнал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FAF9F5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4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AF9F5"/>
                </a:solidFill>
                <a:latin typeface="Playfair Display"/>
              </a:rPr>
              <a:t>Пилот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AF9F5"/>
                </a:solidFill>
                <a:latin typeface="PT Sans"/>
              </a:rPr>
              <a:t>90 дней
одно отделение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6376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Решение о масштабе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письмом
учредителю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2920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ПЯТЬ ИЗМЕРЯЕМЫХ ПОКАЗАТЕЛЕЙ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① пищевая карта заполнена   ② доля приёмов с реальным выбором   ③ исполненные заказы   ④ отказы/замены/отходы   ⑤ события риска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064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B8552F"/>
                </a:solidFill>
                <a:latin typeface="Playfair Display"/>
              </a:rPr>
              <a:t>Процент выбравших — не KPI.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22 (панель чисел), 35 (пилот)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15 /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КРАСНЫЕ ЛИНИИ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Три ошибки дороже бездействия.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Все три лечатся процедурой.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Имитация выбора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«Выбирайте!» — при одном блюде на линии.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Журнал врёт и проверяющему, и жителю.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Переписать журнал. Сократить позиции до реальных.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без гарантии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Житель выбрал Б — Б закончилось.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Нет стандартного — есть лотерея.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600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Стандартный вариант всегда в наличии.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«Лечебность» руками кухни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Повар назначает диету.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Диагноз повара — не диагноз.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932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648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Назначение делает врач, кухня исполняет.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17, 22  ·  сценарий 12:30–16:30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16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НОВЫЙ САНИТАРНЫЙ КОНТЕКСТ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Через шесть дней после нашей встречи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6217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1413"/>
                </a:solidFill>
                <a:latin typeface="Playfair Display"/>
              </a:rPr>
              <a:t>01.09.2026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4612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вступает СанПиН 2.3/2.4.4282-26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ЗНАЧИТ ДЛЯ ВАШЕГО ДОМА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Пункт 56(11):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не менее 3-х приёмов, в т. ч. диетическое по показаниям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Число вариантов блюда: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08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ни в одной редакции правил не ограничено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Журналы августа: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законны как заполнены — задним числом не переписывать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480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Журналы бракеража, замен, выбора — как заполнены до 31.08.2026.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 сентябре — перепривязать документы к новому СанПиН, без паники.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S003  ·  пост. ГГСВ РФ от 02.06.2026 № 18, зарег. 02.06.2026 № 86854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вывод 1, раздел 17.12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77240"/>
            <a:ext cx="914400" cy="54864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15F3C"/>
                </a:solidFill>
                <a:latin typeface="PT Sans"/>
              </a:rPr>
              <a:t>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7315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15F3C"/>
                </a:solidFill>
                <a:latin typeface="Playfair Display"/>
              </a:rPr>
              <a:t>90 дней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FAF9F5"/>
                </a:solidFill>
                <a:latin typeface="Playfair Display"/>
              </a:rPr>
              <a:t>одно отделение  ·  одна неделя замера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5544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15F3C"/>
                </a:solidFill>
                <a:latin typeface="PT Sans"/>
              </a:rPr>
              <a:t>ЧТО ДЕЛАЕМ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Два варианта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3317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на завтрак и обед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Стандартный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гарантирован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5661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Житель выбрал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житель получил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AF9F5"/>
                </a:solidFill>
                <a:latin typeface="Playfair Display"/>
              </a:rPr>
              <a:t>Измерить  →  проверить  →  скорректировать  →  решить о масштабе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C15F3C"/>
                </a:solidFill>
                <a:latin typeface="Playfair Display"/>
              </a:rPr>
              <a:t>Не внедряйте вслепую.  Измеряйте.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7AFA0"/>
                </a:solidFill>
                <a:latin typeface="PT Sans"/>
              </a:rPr>
              <a:t>Доклад, раздел 35 (пилот), 22 (панель чисел)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B7AFA0"/>
                </a:solidFill>
                <a:latin typeface="PT Sans"/>
              </a:rPr>
              <a:t>18 /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РЕЗЕРВ · НЕ ПОКАЗЫВАТЬ В ОСНОВНОМ ХОДЕ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141413"/>
                </a:solidFill>
                <a:latin typeface="Playfair Display"/>
              </a:rPr>
              <a:t>Основной показ закончен.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Дальше — резерв для ответов.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34747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0515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R1  разогрев  ·  вчерашний ужин, кто мог выбрать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R2  три конфликта программы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R3  Успенский ПНИ  ·  М2 — два вторых ежедневно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R4  Болотнинский ПНИ  ·  М1 — выбор несколько раз в неделю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R5  Усть-Илимский ДСО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R6  подробный кейс «Серафимовского»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R7  уровни IDDSI  ·  язык описания текстур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R8  правовая цепочка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R9  пищевая карта  ·  R10  журнал выбора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R11  закупочная модель  ·  R12  пять измеряемых показателей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На 90 минут достаточно слайдов 1–18.  Остальное — если зал спросит.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Приложение после финального слайда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— /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РАЗОГРЕВ · 1 МИНУТА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868680" y="1463040"/>
            <a:ext cx="2286000" cy="2286000"/>
          </a:xfrm>
          <a:prstGeom prst="ellipse">
            <a:avLst/>
          </a:prstGeom>
          <a:solidFill>
            <a:srgbClr val="FAF9F5"/>
          </a:solidFill>
          <a:ln w="190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228600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0" b="1" i="0">
                <a:solidFill>
                  <a:srgbClr val="C15F3C"/>
                </a:solidFill>
                <a:latin typeface="Playfair Display"/>
              </a:rPr>
              <a:t>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783080"/>
            <a:ext cx="54864" cy="182880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69164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Вспомните вчерашний ужин.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3172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Поднимите руку, если хоть один житель вашего дома мог выбрать второе блюдо.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Рука, которая не поднимается, — это и есть повестка наших 90 минут.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87867F"/>
                </a:solidFill>
                <a:latin typeface="PT Sans"/>
              </a:rPr>
              <a:t>Честное «никто не мог» — нормальный старт, а не провал.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Вопрос залу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ТРИ КОНФЛИКТА ПРОГРАММЫ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Шесть вопросов программы — три конфликта.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Выбор  ↔  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Субъектность жителя, недееспособность, медицинские рамки.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194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вопросы 1 и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004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Вариативность  ↔  норматив и бюджет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Меню в нормах, „лечебность“ руками кухни, качество против цены.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566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вопросы 2, 4 и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5720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548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Единое меню  ↔  индивидуальная поддержка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120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Повар назначает диету, или медицинская служба?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Программа организаторов; речь 0:00–2:00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М2 · УСПЕНСКИЙ ПНИ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Успенский ПНИ · Новосибирская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Выбор по всем позициям ежедневно, во всех отделениях.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5603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КОНФИГУРАЦИЯ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Ежедневно: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салата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напитка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029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T Sans"/>
              </a:rPr>
              <a:t>Диетические ограничения — внутри того же выбора, по назначению врача.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8552F"/>
                </a:solidFill>
                <a:latin typeface="PT Sans"/>
              </a:rPr>
              <a:t>Не путать с ДДСОЛ (там — буфет, S019).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S016  ·  upni.nso.ru/news/1916  ·  13.08.2024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лестница М0–М5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М1 · БОЛОТНИНСКИЙ ПНИ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Болотнинский ПНИ · Новосибирская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Выбор на части приёмов, несколько раз в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2860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КОНФИГУРАЦИЯ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Завтрак и обед — выбор ключевых позиций.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Перечень определяет диетсестра.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Подходит как стартовая модель.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B8552F"/>
                </a:solidFill>
                <a:latin typeface="PT Sans"/>
              </a:rPr>
              <a:t>Не путать с Успенским ПНИ. Это не «Новосибирский ПНИ» как отдельный дом.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S015  ·  bpni.nso.ru/news/2312  ·  16.08.2024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лестница М0–М5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· УСТЬ-ИЛИМСКИЙ ДСО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Усть-Илимский ДСО · Иркутская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Публикация 27.09.2024: «Что за зверь такой? Вариативное питание».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2860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ОПИСАНО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Дом ведёт публичный рассказ о внедрении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вариативного питания — для коллег и жителей.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Один из четырёх публичных кейсов в России.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E6A5E"/>
                </a:solidFill>
                <a:latin typeface="PT Sans"/>
              </a:rPr>
              <a:t>Публикация — не аудит эффекта. Источник первичный, открытый.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S017  ·  ui-ogbuso.ru  ·  27.09.2024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ПОДРОБНО · ДСО «СЕРАФИМОВСКИЙ»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Жители приняли выбор с энтузиазмом.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Несколько месяцев часть жителей выбирает рацион накануне.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ФОРМАТ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«Ресторанные дни» по отделениям — рассказ зам. директора И. Ю. Игнатьевой,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посещение Уполномоченного по правам человека в СПб 19.05.2026.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840480"/>
            <a:ext cx="10881360" cy="12801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ЧЕСТНО О ЦЕНЕ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Старт не был бесплатным — оборудование и ставки пищеблока.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Это сказано прямо: «рассказываю и про цену, и про пределы».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49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E6A5E"/>
                </a:solidFill>
                <a:latin typeface="PT Sans"/>
              </a:rPr>
              <a:t>Старт — в автономном учреждении, 223-ФЗ, тендеры на tenmon.ru и tenderguru.ru.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upchspb.ru/news/32938  ·  19.05.2026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УРОВНИ IDDSI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IDDSI — язык описания текстур.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Не диагностический протокол. Не замена назначения врача.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Жидкая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тонкая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135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2135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135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Слегка густая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563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для части жидкостей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434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Слабо густая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862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733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733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733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Умеренно густая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161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жидкое пюре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1032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Очень густая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пюре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331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7331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331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Мягкая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759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мини-кусочки, мягкая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630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630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630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Мягкая и размерами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058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мягкие кусочки ≤ 1,5 см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929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929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929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Обычная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5357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легко жуётся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97680"/>
            <a:ext cx="10881360" cy="12801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754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IDDSI — это терминология и методика проверки консистенции.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Текстуру назначает врач. Кухня исполняет по таблице.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International Dysphagia Diet Standardisation Initiative  ·  IDDSI Framework 2019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10  ·  IDDSI — не протокол лечения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ПРАВОВАЯ ЦЕПОЧКА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Четыре уровня правовой рамки.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От статуса жителя — до санитарного акта.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3185-1 ст. 5, 37,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06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Закон РФ о психиатрической помощи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317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Гуманное отношение, достоинство; права пациентов; статус проживающих в стационарных организациях соцобслуживания.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004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442-ФЗ ст. 9, 16, 32 ч.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Основы социального обслуживания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Уважительное и гуманное отношение; ИППСУ исходя из потребности; предельная величина платы 75 %.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233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114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ГК РФ ст. 29,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34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Гражданский кодекс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1605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Опекун недееспособного; учёт мнения подопечного.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9377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0292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292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СанПиН 2.3/2.4.4282-26, п. 56(11)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492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с 01.09.2026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50749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Не менее 3-х приёмов в день, в т. ч. диетическое (лечебное) по медицинским показаниям.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17, 17.12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ПРИМЕР · ПИЩЕВАЯ КАРТА ЖИТЕЛЯ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Пищевая карта — пять строк.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Один житель. Один документ. Хватает для пищевой безопасности и пищевого выбора.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Профиль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77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диагноз, ИППСУ, ограничения, лекарства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2608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Текстура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175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назначение врача, IDDSI-уровень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Исключения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657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аллергии, лекарственно-пищевые взаимодействия (клозапин ↔ кофеин)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20624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976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Предпочтения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297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биография, 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4632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Способ фиксации выбора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937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показ, наблюдение, слово, сведения от знающих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B8552F"/>
                </a:solidFill>
                <a:latin typeface="Playfair Display"/>
              </a:rPr>
              <a:t>Подпись врача на карте обязательна.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доклад, приложение 3; пример из немецкого стандарта (§ 6 Abs. 4 SGB XII)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Шаблон — проект, не норматив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ПРИМЕР · ЖУРНАЛ ВЫБОРА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Журнал выбора — одна строка на жителя в день.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Без журнала «выбор» — это только слова. Проверяющий это знает.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Дата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29967" y="228600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3317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Отделение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7" y="228600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7" y="233172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Житель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228600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2331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Заказал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228600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2331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Получил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228600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23317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Подпись смены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7889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880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7" y="27889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880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7" y="27889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7" y="2880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Иванов И. 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13248" y="27889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4688" y="28803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Гречка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42048" y="27889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28803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Гречка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0848" y="27889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2461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3375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29967" y="32461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21408" y="33375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18687" y="32461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0127" y="33375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Сидорова А. П.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13248" y="32461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04688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Рис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2461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33488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Рис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70848" y="32461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33375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37033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79475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029967" y="37033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21408" y="3794759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18687" y="37033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10127" y="3794759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Ким В. С.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13248" y="37033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04688" y="379475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42048" y="37033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379475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Стандарт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70848" y="37033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62288" y="379475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B8552F"/>
                </a:solidFill>
                <a:latin typeface="Playfair Display"/>
              </a:rPr>
              <a:t>Не выбрал — стандартный вариант. Без давления.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доклад, приложение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Тетрадный формат допустим на старте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ЗАКУПОЧНАЯ МОДЕЛЬ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223-ФЗ и 44-ФЗ: что важно знать директору.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Вариативность возможна в обоих контурах — но документы разные.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223-ФЗ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автономное учреждение, конкурсная основа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8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Положение о закупке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Конкурсная документация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Тендеры на tenmon.ru, tenderguru.ru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Источник S030 для Серафимовского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B8552F"/>
                </a:solidFill>
                <a:latin typeface="Playfair Display"/>
              </a:rPr>
              <a:t>44-ФЗ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бюджетное учреждение, госзакупка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8328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Контрактная система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zakupki.gov.ru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Источник для Тесового берега: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    ИНН 7827661874, ЕГРЮЛ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Что в обоих случаях: положение о питании, журнал заказа, согласование с учредителем.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ПЯТЬ ИЗМЕРЯЕМЫХ ПОКАЗАТЕЛЕЙ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Пилот измеряет пять вещей.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Без замера — нет ответа на вопрос «стало лучше?».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Пищевая карта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заполнена у каждого жителя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8892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880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Доля с реальным выбором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приёмы, где альтернатива была доступна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8328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7472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Исполненные заказы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4747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житель выбрал — житель получил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77639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69079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6907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Отказы, замены, отходы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069079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не съели, что заменили, что ушло в отходы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720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634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События риска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634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поперхивания, пропуски, потеря веса, обострения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4924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1">
                <a:solidFill>
                  <a:srgbClr val="141413"/>
                </a:solidFill>
                <a:latin typeface="Playfair Display"/>
              </a:rPr>
              <a:t>Процент выбравших — не KPI.  Человек вправе выбрать стандартное или не выбирать вовсе.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22 (панель чисел)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