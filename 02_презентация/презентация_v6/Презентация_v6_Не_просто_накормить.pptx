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" y="777240"/>
            <a:ext cx="292608" cy="292608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7724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FAF9F5"/>
                </a:solidFill>
                <a:latin typeface="Playfair Display"/>
              </a:rP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6E6A5E"/>
                </a:solidFill>
                <a:latin typeface="PT Sans"/>
              </a:rPr>
              <a:t>ПРОСТРАНСТВО НОВЫХ ИДЕЙ 2.0  ·  САНКТ-ПЕТЕРБУРГ  ·  25–27 АВГУСТА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087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ДИСКУССИЯ  ·  26 АВГУСТА  ·  14:00–15:30  ·  ПЛОЩАДКА № 2 — ДСО „ТЕСОВЫЙ БЕРЕГ“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1" i="0">
                <a:solidFill>
                  <a:srgbClr val="141413"/>
                </a:solidFill>
                <a:latin typeface="Playfair Display"/>
              </a:rPr>
              <a:t>Не просто накормить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3D3929"/>
                </a:solidFill>
                <a:latin typeface="Playfair Display"/>
              </a:rPr>
              <a:t>Как организовать безопасное, достойное и вариативное питание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611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3D3929"/>
                </a:solidFill>
                <a:latin typeface="Playfair Display"/>
              </a:rPr>
              <a:t>людей с психическими нарушениями в домах социального обслуживания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4480560"/>
            <a:ext cx="822960" cy="45720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6634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87867F"/>
                </a:solidFill>
                <a:latin typeface="PT Sans"/>
              </a:rPr>
              <a:t>МОДЕРАТОРЫ ДИСКУССИИ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0292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3D3929"/>
                </a:solidFill>
                <a:latin typeface="PT Sans"/>
              </a:rPr>
              <a:t>Евгений Чистяков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3929"/>
                </a:solidFill>
                <a:latin typeface="PT Sans"/>
              </a:rPr>
              <a:t>директор СПб ГАСУСОН «ДСО „Серафимовский“»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292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 i="0">
                <a:solidFill>
                  <a:srgbClr val="3D3929"/>
                </a:solidFill>
                <a:latin typeface="PT Sans"/>
              </a:rPr>
              <a:t>Тимур Нурбаев</a:t>
            </a:r>
          </a:p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3929"/>
                </a:solidFill>
                <a:latin typeface="PT Sans"/>
              </a:rPr>
              <a:t>директор СПб ГБСУСОН «ДСО „Тесовый берег“»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92240"/>
            <a:ext cx="914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Министерство труда и социальной защиты РФ  ·  Комитет по социальной политике Санкт-Петербурга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005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1 /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274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КОНФЛИКТ ЗА ОДНИМ СТОЛОМ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За одним обедом — пять вещей одновременно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2194560" cy="265176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83464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Безопасность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65760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текстуры, лекарства, риск аспирации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874519"/>
            <a:ext cx="2194560" cy="265176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83464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Достоинство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365760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уважение к жителю, имя на тарелке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8927" y="1874519"/>
            <a:ext cx="2194560" cy="265176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7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7" y="283464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Предпочтение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7" y="365760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свой голос — словом, жестом, биографией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9208" y="1874519"/>
            <a:ext cx="2194560" cy="265176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79208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283464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Возможности кухни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365760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что реально приготовить сегодня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1874519"/>
            <a:ext cx="2194560" cy="265176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205740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283464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Документ проверки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6648" y="365760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журнал, карта, согласование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846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E6A5E"/>
                </a:solidFill>
                <a:latin typeface="Playfair Display"/>
              </a:rPr>
              <a:t>Каждое измерение — отдельный документ, отдельный участник, отдельный риск.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32704" y="5532120"/>
            <a:ext cx="914400" cy="36576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ПОЧЕМУ КУХНЯ НЕ ВЫБИРАЕТ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Дисфагия встречается часто.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6E6A5E"/>
                </a:solidFill>
                <a:latin typeface="Playfair Display"/>
              </a:rPr>
              <a:t>Именно поэтому текстуру назначает врач, а не повар.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68880"/>
            <a:ext cx="64008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141413"/>
                </a:solidFill>
                <a:latin typeface="Playfair Display"/>
              </a:rPr>
              <a:t>21,9–69,5 %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5661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распространённость в отдельных изученных клинических группах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377440"/>
            <a:ext cx="4572000" cy="237744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26060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ВАЖНАЯ ОГОВОРКА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2971800"/>
            <a:ext cx="4206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Переносить этот диапазон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на все российские ДСО нельзя.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Решение о текстуре —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за врачом.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532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Источник: обзор эпидемиологии нарушений глотания  ·  доклад, раздел 10  ·  пневмония при тяжёлых психических расстройствах — ×7 популяционной смертности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МАСШТАБ ПОВСЕДНЕВНОСТИ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41413"/>
                </a:solidFill>
                <a:latin typeface="Playfair Display"/>
              </a:rPr>
              <a:t>Самые частые решения, которые дом принимает за жителя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7315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 i="0">
                <a:solidFill>
                  <a:srgbClr val="141413"/>
                </a:solidFill>
                <a:latin typeface="Playfair Display"/>
              </a:rPr>
              <a:t>2 190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6E6A5E"/>
                </a:solidFill>
                <a:latin typeface="PT Sans"/>
              </a:rPr>
              <a:t>приёмов пищи в год за одного человека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0060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87867F"/>
                </a:solidFill>
                <a:latin typeface="PT Sans"/>
              </a:rPr>
              <a:t>6 приёмов × 365 дней  =  2 190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1920240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385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завтрак</a:t>
            </a:r>
          </a:p>
        </p:txBody>
      </p:sp>
      <p:sp>
        <p:nvSpPr>
          <p:cNvPr id="10" name="Oval 9"/>
          <p:cNvSpPr/>
          <p:nvPr/>
        </p:nvSpPr>
        <p:spPr>
          <a:xfrm>
            <a:off x="7772400" y="2487168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50545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2-й завтрак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0" y="3054096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3072384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обед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3621024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63931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полдник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0" y="4187952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2062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ужин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0" y="4754880"/>
            <a:ext cx="274320" cy="274320"/>
          </a:xfrm>
          <a:prstGeom prst="ellipse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7731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вечерний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440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E6A5E"/>
                </a:solidFill>
                <a:latin typeface="Playfair Display"/>
              </a:rPr>
              <a:t>шесть раз в день  ·  365 дней  ·  одна жизнь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КОНТЕКСТ · НЕДЕЕСПОСОБНОСТЬ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Порядка трёх из четырёх — недееспособны.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Их мнение по ст. 29 ГК обязаны выяснять и учитывать.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2743200" cy="2743200"/>
          </a:xfrm>
          <a:prstGeom prst="ellipse">
            <a:avLst/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ie 6"/>
          <p:cNvSpPr/>
          <p:nvPr/>
        </p:nvSpPr>
        <p:spPr>
          <a:xfrm>
            <a:off x="1371600" y="2011680"/>
            <a:ext cx="2743200" cy="2743200"/>
          </a:xfrm>
          <a:prstGeom prst="pie">
            <a:avLst>
              <a:gd name="adj1" fmla="val 0"/>
              <a:gd name="adj2" fmla="val 26600000"/>
            </a:avLst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3080" y="2423160"/>
            <a:ext cx="1920240" cy="1920240"/>
          </a:xfrm>
          <a:prstGeom prst="ellipse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4600" b="1" i="0">
                <a:solidFill>
                  <a:srgbClr val="141413"/>
                </a:solidFill>
                <a:latin typeface="Playfair Display"/>
              </a:rPr>
              <a:t>74 %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87867F"/>
                </a:solidFill>
                <a:latin typeface="PT Sans"/>
              </a:rPr>
              <a:t>недееспособны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9456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ПОВСЕДНЕВНОЕ ПРЕДПОЧТЕНИЕ — НЕ СДЕЛКА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514600"/>
            <a:ext cx="65836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Сделки совершает опекун (ст. 29 ГК).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Но повседневное предпочтение — это мнение,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а мнение обязаны выяснять.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Кто не говорит — показ, наблюдение, биография.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6E6A5E"/>
                </a:solidFill>
                <a:latin typeface="PT Sans"/>
              </a:rPr>
              <a:t>Расчёт проекта «Если быть точным», данные за 2024 г.  ·  не статотчётность Минтруда  ·  в вашем доме цифра будет другой.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ФИЗИОЛОГИЯ · УЖИН → ЗАВТРАК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41413"/>
                </a:solidFill>
                <a:latin typeface="Playfair Display"/>
              </a:rPr>
              <a:t>Ужин 17:30  →  завтрак 8:30  =  15 часов без еды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Цель нашего дома — не больше 13 часов.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26080"/>
            <a:ext cx="10881360" cy="64008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78708" y="2926080"/>
            <a:ext cx="7254240" cy="640080"/>
          </a:xfrm>
          <a:prstGeom prst="rect">
            <a:avLst/>
          </a:prstGeom>
          <a:solidFill>
            <a:srgbClr val="FAF9F5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3611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5828" y="3611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6168" y="3611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508" y="3611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56848" y="361188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24</a:t>
            </a:r>
          </a:p>
        </p:txBody>
      </p:sp>
      <p:sp>
        <p:nvSpPr>
          <p:cNvPr id="13" name="Oval 12"/>
          <p:cNvSpPr/>
          <p:nvPr/>
        </p:nvSpPr>
        <p:spPr>
          <a:xfrm>
            <a:off x="4428073" y="3127248"/>
            <a:ext cx="164592" cy="237744"/>
          </a:xfrm>
          <a:prstGeom prst="ellipse">
            <a:avLst/>
          </a:prstGeom>
          <a:solidFill>
            <a:srgbClr val="141413"/>
          </a:solidFill>
          <a:ln w="2540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73769" y="3127248"/>
            <a:ext cx="164592" cy="237744"/>
          </a:xfrm>
          <a:prstGeom prst="ellipse">
            <a:avLst/>
          </a:prstGeom>
          <a:solidFill>
            <a:srgbClr val="141413"/>
          </a:solidFill>
          <a:ln w="2540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08583" y="3127248"/>
            <a:ext cx="164592" cy="237744"/>
          </a:xfrm>
          <a:prstGeom prst="ellipse">
            <a:avLst/>
          </a:prstGeom>
          <a:solidFill>
            <a:srgbClr val="141413"/>
          </a:solidFill>
          <a:ln w="2540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70289" y="39319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завтрак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0289" y="4206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8:30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5985" y="39319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обед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5985" y="4206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13:00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0799" y="39319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ужин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0799" y="42062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87867F"/>
                </a:solidFill>
                <a:latin typeface="PT Sans"/>
              </a:rPr>
              <a:t>17:30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90879" y="2423160"/>
            <a:ext cx="2948849" cy="0"/>
          </a:xfrm>
          <a:prstGeom prst="line">
            <a:avLst/>
          </a:prstGeom>
          <a:ln w="31750">
            <a:solidFill>
              <a:srgbClr val="C15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58368" y="2423160"/>
            <a:ext cx="3852001" cy="0"/>
          </a:xfrm>
          <a:prstGeom prst="line">
            <a:avLst/>
          </a:prstGeom>
          <a:ln w="31750">
            <a:solidFill>
              <a:srgbClr val="C15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eft Arrow 23"/>
          <p:cNvSpPr/>
          <p:nvPr/>
        </p:nvSpPr>
        <p:spPr>
          <a:xfrm>
            <a:off x="4464649" y="2359152"/>
            <a:ext cx="164592" cy="128016"/>
          </a:xfrm>
          <a:prstGeom prst="lef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8472007" y="2359152"/>
            <a:ext cx="164592" cy="128016"/>
          </a:xfrm>
          <a:prstGeom prst="righ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76088" y="192024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C15F3C"/>
                </a:solidFill>
                <a:latin typeface="Playfair Display"/>
              </a:rPr>
              <a:t>через полночь  ·  15 ч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539728" y="2423160"/>
            <a:ext cx="0" cy="457200"/>
          </a:xfrm>
          <a:prstGeom prst="line">
            <a:avLst/>
          </a:prstGeom>
          <a:ln w="12700">
            <a:solidFill>
              <a:srgbClr val="C15F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082528" y="2221992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00" b="0" i="0">
                <a:solidFill>
                  <a:srgbClr val="87867F"/>
                </a:solidFill>
                <a:latin typeface="PT Sans"/>
              </a:rPr>
              <a:t>полночь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89120"/>
            <a:ext cx="5303520" cy="164592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572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ОРИЕНТИРЫ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937760"/>
            <a:ext cx="5029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≤ 11 ч  —  Швеция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≤ 13 ч  —  цель нашего дома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≤ 14 ч  —  зарубежные ориентиры (диапазон)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4389120"/>
            <a:ext cx="5303520" cy="164592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ОГОВОРКА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93776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15 ч — арифметика одного расписания,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не статистика по российским ДСО.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Швеция/США — другие системы регулирования.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ПРАВО · НЕ ЛОЗУНГ, А ПАПКА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Проверяющему нужна не фраза «запрета нет».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А положение, журнал, карты, согласование с учредителем.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10881360" cy="27432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МИНИМАЛЬНЫЙ КОМПЛЕКТ ДОКУМЕНТОВ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Положение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1546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о питании, в редакции с учётом вариативности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7889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Меню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1546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с вариантами и парами эквивалентов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889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27889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Журнал заказа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1546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что заказал житель, кто принял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114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Журнал замен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805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когда варианта не оказалось, что выдали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1148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114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Пищевые карты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4805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профиль, текстура, исключения, предпочтения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11480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C15F3C"/>
                </a:solidFill>
                <a:latin typeface="Playfair Display"/>
              </a:rPr>
              <a:t>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4114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Согласование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44805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с учредителем — для сведения или по регламенту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166360"/>
            <a:ext cx="822960" cy="36576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3492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1">
                <a:solidFill>
                  <a:srgbClr val="6E6A5E"/>
                </a:solidFill>
                <a:latin typeface="Playfair Display"/>
              </a:rPr>
              <a:t>Федеральное право не запрещает и не обязывает — это нужно закрепить локально.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Источники: 442-ФЗ ст. 9, 16, 32 ч. 4  ·  3185-1 ст. 5 ч. 2; ст. 37, 43  ·  ГК ст. 29  ·  доклад, разделы 31, 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РОССИЙСКАЯ ПРАКТИКА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Иркутская область масштабирует выбор на регион.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Не один эксперимент — контур для учредителя.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4114800" cy="310896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60604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ИРКУТСКАЯ ОБЛАСТЬ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08960"/>
            <a:ext cx="4114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141413"/>
                </a:solidFill>
                <a:latin typeface="Playfair Display"/>
              </a:rPr>
              <a:t>вариативное
питание
в стационарных
учреждениях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9377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публикация 14.02.2025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3774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ЧТО СДЕЛАНО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9748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Выбор по основным приёмам пищи: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  ·  два первых блюда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  ·  два вторых блюда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  ·  два гарнира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2976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ЧТО ЭТО ЗНАЧИТ ДЛЯ ДИРЕКТОРА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61772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Не «дайте денег — сделаем».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Контур, который можно показать учредителю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при разговоре о масштабировании.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87867F"/>
                </a:solidFill>
                <a:latin typeface="PT Sans"/>
              </a:rPr>
              <a:t>Источник S018  ·  масштаб области как аудит не подтверждён; показано как контур, а не как результат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КЕЙС · НАШ ДОМ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Житель заказывает ужин накануне.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К вечеру известно, что готовить.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81360" cy="109728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606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ВЧЕРА  ·  СЕГОДНЯ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18:00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принимаем заказ на ужин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08:00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4747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6E6A5E"/>
                </a:solidFill>
                <a:latin typeface="PT Sans"/>
              </a:rPr>
              <a:t>подача на завтрак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486400" y="3063240"/>
            <a:ext cx="1097280" cy="365760"/>
          </a:xfrm>
          <a:prstGeom prst="righ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ЧТО ЭТО ДАЛО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43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Жители приняли выбор с энтузиазмом. Директор — я — рассказываю и про цену, и про пределы.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6E6A5E"/>
                </a:solidFill>
                <a:latin typeface="PT Sans"/>
              </a:rPr>
              <a:t>Старт не был бесплатным  —  дополнительное оборудование и ставки пищеблока.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 S030  ·  gov.spb.ru, 22.07.2025  ·  СПб ГАСУСОН «ДСО „Серафимовский“»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ЛОКАЛЬНЫЙ НОРМАТИВ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 i="0">
                <a:solidFill>
                  <a:srgbClr val="141413"/>
                </a:solidFill>
                <a:latin typeface="Playfair Display"/>
              </a:rPr>
              <a:t>Приказ № 124  от  10.03.2026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Заказное питание вошло в правила внутреннего распорядка жителей ДСО „Серафимовский“.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5486400" cy="310896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ЧТО ИМЕННО ЗАКРЕПЛЕНО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5120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Заказное питание (вариативное меню)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как часть правил внутреннего распорядка,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а не «эксперимент по новости».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Включая маломобильных: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  ·  приём пищи в жилых комнатах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  ·  помощь в кормлении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5120640" cy="310896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5603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ПОЧЕМУ ЭТО ОПОРА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926080"/>
            <a:ext cx="4754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«Это правила дома, утверждённые приказом» —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аргумент, который пережил смену настроения.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Проверяющему — документ, не слова.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Учредителю — порядок, не самочинность.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1">
                <a:solidFill>
                  <a:srgbClr val="B8552F"/>
                </a:solidFill>
                <a:latin typeface="PT Sans"/>
              </a:rPr>
              <a:t>Локальный акт одного учреждения  ·  не общероссийский норматив.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126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S035  ·  локальный приказ  ·  архив правил web.archive.org/web/20260415001233  ·  pni9.ru с 21.08.2026 не работает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ЗАКУПКИ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Один учредитель — две разные закупки.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Вариативность не от номера закона.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5303520" cy="32004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СЕРАФИМОВСКИЙ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 i="0">
                <a:solidFill>
                  <a:srgbClr val="141413"/>
                </a:solidFill>
                <a:latin typeface="Playfair Display"/>
              </a:rPr>
              <a:t>223-ФЗ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автономное учреждение  ·  конкурсная основа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7867F"/>
                </a:solidFill>
                <a:latin typeface="PT Sans"/>
              </a:rPr>
              <a:t>Тендеры: 32616151967, 95375953, 32616197209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7867F"/>
                </a:solidFill>
                <a:latin typeface="PT Sans"/>
              </a:rPr>
              <a:t>tenmon.ru, tenderguru.ru,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5303520" cy="320040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ТЕСОВЫЙ БЕРЕГ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34640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800" b="1" i="0">
                <a:solidFill>
                  <a:srgbClr val="141413"/>
                </a:solidFill>
                <a:latin typeface="Playfair Display"/>
              </a:rPr>
              <a:t>44-ФЗ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74903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бюджетное учреждение  ·  государственная закупка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5029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7867F"/>
                </a:solidFill>
                <a:latin typeface="PT Sans"/>
              </a:rPr>
              <a:t>ИНН 7827661874  ·  ЕГРЮЛ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7867F"/>
                </a:solidFill>
                <a:latin typeface="PT Sans"/>
              </a:rPr>
              <a:t>Санкт-Петербург, п. Молодёжное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760720"/>
            <a:ext cx="822960" cy="36576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943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E6A5E"/>
                </a:solidFill>
                <a:latin typeface="Playfair Display"/>
              </a:rPr>
              <a:t>Вариативность зависит не от номера закона — а от корректной организации требований, документов и исполнения.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СНАЧАЛА РАМКА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Сначала медицинская рамка. Потом выбор.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Кухня исполняет назначение, а не ставит его.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10881360" cy="13716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РЕШАЕТ ВРАЧ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Текстура  ·  стол  ·  противопоказания  ·  лекарственно-пищевые исключения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Приказы 330н, 395н;  СанПиН 2.3/2.4.4282-26, п. 56(11) — с 01.09.2026, на 26.08 ещё не в силе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703320"/>
            <a:ext cx="10881360" cy="137160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РЕШАЕТ УЧРЕЖДЕНИЕ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06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Сколько вариантов  ·  где выбор фиксируется  ·  что делает смена, когда вариант кончился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Приказ, положение, журнал, линия раздачи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32704" y="5349240"/>
            <a:ext cx="914400" cy="36576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5321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1">
                <a:solidFill>
                  <a:srgbClr val="6E6A5E"/>
                </a:solidFill>
                <a:latin typeface="Playfair Display"/>
              </a:rPr>
              <a:t>Если это звучит как медицинская реформа руками повара — вы правильно закрываете папку.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МОДЕЛЬ РЕШЕНИЯ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41413"/>
                </a:solidFill>
                <a:latin typeface="Playfair Display"/>
              </a:rPr>
              <a:t>Врач задаёт рамку. Внутри рамки — пары эквивалентов.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Человек выбирает. Выбор фиксируется.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847" y="2286000"/>
            <a:ext cx="2377440" cy="228600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847" y="24231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287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Мед. ограничения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287" y="35661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текстура, стол,
противопоказания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76575" y="3291840"/>
            <a:ext cx="365760" cy="274320"/>
          </a:xfrm>
          <a:prstGeom prst="righ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98367" y="2286000"/>
            <a:ext cx="2377440" cy="228600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8367" y="24231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07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C15F3C"/>
                </a:solidFill>
                <a:latin typeface="Playfair Display"/>
              </a:rPr>
              <a:t>Допустимые пары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35661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гречка/рис,
курица/индейка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94095" y="3291840"/>
            <a:ext cx="365760" cy="274320"/>
          </a:xfrm>
          <a:prstGeom prst="righ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15887" y="2286000"/>
            <a:ext cx="2377440" cy="228600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4231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7327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Выбор человека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35661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показ, слово,
наблюдение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11615" y="3291840"/>
            <a:ext cx="365760" cy="274320"/>
          </a:xfrm>
          <a:prstGeom prst="rightArrow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33407" y="2286000"/>
            <a:ext cx="2377440" cy="228600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33407" y="242316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800" b="1" i="0">
                <a:solidFill>
                  <a:srgbClr val="C15F3C"/>
                </a:solidFill>
                <a:latin typeface="Playfair Display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4847" y="29718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Фиксация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4847" y="3566160"/>
            <a:ext cx="2194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в журнале заказа
с подписью смены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937760"/>
            <a:ext cx="10881360" cy="73152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50749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B8552F"/>
                </a:solidFill>
                <a:latin typeface="PT Sans"/>
              </a:rPr>
              <a:t>СТАНДАРТНЫЙ ВАРИАНТ ГАРАНТИРОВАН ВСЕГДА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349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E6A5E"/>
                </a:solidFill>
                <a:latin typeface="Playfair Display"/>
              </a:rPr>
              <a:t>Человек вправе выбрать стандартное блюдо или не выбирать вовсе.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ВЫБОР НЕ ТРЕБУЕТ ДЕЕСПОСОБНОСТИ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Четыре канала выражения воли.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Человек, который не говорит, всё равно может выразить предпочтение.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2606040" cy="27432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108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141413"/>
                </a:solidFill>
                <a:latin typeface="Playfair Display"/>
              </a:rPr>
              <a:t>Показ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61188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две порции перед глазами, рука сама пойдёт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2194560"/>
            <a:ext cx="2606040" cy="27432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3108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141413"/>
                </a:solidFill>
                <a:latin typeface="Playfair Display"/>
              </a:rPr>
              <a:t>Наблюдение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361188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что съедено, что оставлено, «влажный» голос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2194560"/>
            <a:ext cx="2606040" cy="27432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108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141413"/>
                </a:solidFill>
                <a:latin typeface="Playfair Display"/>
              </a:rPr>
              <a:t>Биография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61188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что ел всю жизнь, к чему тянется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50808" y="2194560"/>
            <a:ext cx="2606040" cy="27432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0808" y="2377440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3108960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141413"/>
                </a:solidFill>
                <a:latin typeface="Playfair Display"/>
              </a:rPr>
              <a:t>Сведения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8" y="3611880"/>
            <a:ext cx="2331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от тех, кто хорошо знает человека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212080"/>
            <a:ext cx="10881360" cy="73152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49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ОГОВОРКА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Наблюдение — это сигнал, а не автоматическое согласие. Решение всё равно документируется.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ЧТО СДЕЛАТЬ В ПОНЕДЕЛЬНИК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Пилот на 90 дней. Одно отделение.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B8552F"/>
                </a:solidFill>
                <a:latin typeface="Playfair Display"/>
              </a:rPr>
              <a:t>Один обед  ·  одно отделение  ·  одна неделя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2194560" cy="246888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688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15468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Замер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384048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7 дней
ноль рублей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86000"/>
            <a:ext cx="2194560" cy="246888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C15F3C"/>
                </a:solidFill>
                <a:latin typeface="Playfair Display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15468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Приказ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84048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одна строка
об ответственном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2286000"/>
            <a:ext cx="2194560" cy="246888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24688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315468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Обучение смены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384048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15 минут
показать журнал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4" y="2286000"/>
            <a:ext cx="2194560" cy="2468880"/>
          </a:xfrm>
          <a:prstGeom prst="roundRect">
            <a:avLst>
              <a:gd name="adj" fmla="val 14000"/>
            </a:avLst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24688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FAF9F5"/>
                </a:solidFill>
                <a:latin typeface="Playfair Display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98664" y="315468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AF9F5"/>
                </a:solidFill>
                <a:latin typeface="Playfair Display"/>
              </a:rPr>
              <a:t>Пилот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4" y="384048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FAF9F5"/>
                </a:solidFill>
                <a:latin typeface="PT Sans"/>
              </a:rPr>
              <a:t>90 дней
одно отделение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9216" y="2286000"/>
            <a:ext cx="2194560" cy="246888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6" y="24688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 i="0">
                <a:solidFill>
                  <a:srgbClr val="C15F3C"/>
                </a:solidFill>
                <a:latin typeface="Playfair Display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66376" y="3154680"/>
            <a:ext cx="1920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Решение о масштабе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6376" y="3840480"/>
            <a:ext cx="1920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 i="0">
                <a:solidFill>
                  <a:srgbClr val="6E6A5E"/>
                </a:solidFill>
                <a:latin typeface="PT Sans"/>
              </a:rPr>
              <a:t>с письмом
учредителю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029200"/>
            <a:ext cx="10881360" cy="109728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166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ПЯТЬ ИЗМЕРЯЕМЫХ ПОКАЗАТЕЛЕЙ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406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① пищевая карта заполнена   ② доля приёмов с реальным выбором   ③ исполненные заказы   ④ отказы/замены/отходы   ⑤ события риска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8064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1">
                <a:solidFill>
                  <a:srgbClr val="B8552F"/>
                </a:solidFill>
                <a:latin typeface="Playfair Display"/>
              </a:rPr>
              <a:t>Процент выбравших — не KPI.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КРАСНЫЕ ЛИНИИ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141413"/>
                </a:solidFill>
                <a:latin typeface="Playfair Display"/>
              </a:rPr>
              <a:t>Три ошибки дороже бездействия.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Все три лечатся процедурой.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3611880" cy="3657600"/>
          </a:xfrm>
          <a:prstGeom prst="roundRect">
            <a:avLst>
              <a:gd name="adj" fmla="val 14000"/>
            </a:avLst>
          </a:prstGeom>
          <a:solidFill>
            <a:srgbClr val="F6F1E9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77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B8552F"/>
                </a:solidFill>
                <a:latin typeface="Playfair Display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3464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Имитация выбора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6576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3929"/>
                </a:solidFill>
                <a:latin typeface="PT Sans"/>
              </a:rPr>
              <a:t>«Выбирайте!» — при одном блюде на линии.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4348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B8552F"/>
                </a:solidFill>
                <a:latin typeface="PT Sans"/>
              </a:rPr>
              <a:t>Журнал врёт и проверяющему, и жителю.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5166360"/>
            <a:ext cx="3063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52120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41413"/>
                </a:solidFill>
                <a:latin typeface="PT Sans"/>
              </a:rPr>
              <a:t>Переписать журнал. Сократить позиции до реальных.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2194560"/>
            <a:ext cx="3611880" cy="3657600"/>
          </a:xfrm>
          <a:prstGeom prst="roundRect">
            <a:avLst>
              <a:gd name="adj" fmla="val 14000"/>
            </a:avLst>
          </a:prstGeom>
          <a:solidFill>
            <a:srgbClr val="F6F1E9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377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B8552F"/>
                </a:solidFill>
                <a:latin typeface="Playfair Display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83464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Выбор без гарантии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6576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3929"/>
                </a:solidFill>
                <a:latin typeface="PT Sans"/>
              </a:rPr>
              <a:t>Житель выбрал Б — Б закончилось.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44348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B8552F"/>
                </a:solidFill>
                <a:latin typeface="PT Sans"/>
              </a:rPr>
              <a:t>Нет стандартного — есть лотерея.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36008" y="5166360"/>
            <a:ext cx="3063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73168" y="52120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41413"/>
                </a:solidFill>
                <a:latin typeface="PT Sans"/>
              </a:rPr>
              <a:t>Стандартный вариант всегда в наличии.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194560"/>
            <a:ext cx="3611880" cy="3657600"/>
          </a:xfrm>
          <a:prstGeom prst="roundRect">
            <a:avLst>
              <a:gd name="adj" fmla="val 14000"/>
            </a:avLst>
          </a:prstGeom>
          <a:solidFill>
            <a:srgbClr val="F6F1E9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9328" y="23774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B8552F"/>
                </a:solidFill>
                <a:latin typeface="Playfair Display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83464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layfair Display"/>
              </a:rPr>
              <a:t>«Лечебность» руками кухни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657600"/>
            <a:ext cx="3063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3D3929"/>
                </a:solidFill>
                <a:latin typeface="PT Sans"/>
              </a:rPr>
              <a:t>Повар назначает диету.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4434840"/>
            <a:ext cx="3063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B8552F"/>
                </a:solidFill>
                <a:latin typeface="PT Sans"/>
              </a:rPr>
              <a:t>Диагноз повара — не диагноз.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8" y="5166360"/>
            <a:ext cx="3063240" cy="548640"/>
          </a:xfrm>
          <a:prstGeom prst="roundRect">
            <a:avLst>
              <a:gd name="adj" fmla="val 8000"/>
            </a:avLst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521208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41413"/>
                </a:solidFill>
                <a:latin typeface="PT Sans"/>
              </a:rPr>
              <a:t>Назначение делает врач, кухня исполняет.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НОВЫЙ САНИТАРНЫЙ КОНТЕКСТ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6E6A5E"/>
                </a:solidFill>
                <a:latin typeface="Playfair Display"/>
              </a:rPr>
              <a:t>Через шесть дней после нашей встречи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08760"/>
            <a:ext cx="6217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141413"/>
                </a:solidFill>
                <a:latin typeface="Playfair Display"/>
              </a:rPr>
              <a:t>01.09.2026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4612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B8552F"/>
                </a:solidFill>
                <a:latin typeface="Playfair Display"/>
              </a:rPr>
              <a:t>вступает СанПиН 2.3/2.4.4282-26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5087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ЧТО ЭТО ЗНАЧИТ ДЛЯ ВАШЕГО ДОМА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41413"/>
                </a:solidFill>
                <a:latin typeface="PT Sans"/>
              </a:rPr>
              <a:t>Пункт 56(11):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86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не менее 3-х приёмов, в т. ч. диетическое по показаниям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7432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41413"/>
                </a:solidFill>
                <a:latin typeface="PT Sans"/>
              </a:rPr>
              <a:t>Число вариантов блюда: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1089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ни в одной редакции правил не ограничено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5661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41413"/>
                </a:solidFill>
                <a:latin typeface="PT Sans"/>
              </a:rPr>
              <a:t>Журналы августа: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9319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законны как заполнены — задним числом не переписывать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80560"/>
            <a:ext cx="10881360" cy="13716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ИТОГ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Журналы бракеража, замен, выбора — как заполнены до 31.08.2026.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141413"/>
                </a:solidFill>
                <a:latin typeface="PT Sans"/>
              </a:rPr>
              <a:t>В сентябре — перепривязать документы к новому СанПиН, без паники.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 S003  ·  пост. ГГСВ РФ от 02.06.2026 № 18, зарег. 02.06.2026 № 86854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77240"/>
            <a:ext cx="914400" cy="54864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C15F3C"/>
                </a:solidFill>
                <a:latin typeface="PT Sans"/>
              </a:rPr>
              <a:t>Пилот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7315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15F3C"/>
                </a:solidFill>
                <a:latin typeface="Playfair Display"/>
              </a:rPr>
              <a:t>90 дней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3832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FAF9F5"/>
                </a:solidFill>
                <a:latin typeface="Playfair Display"/>
              </a:rPr>
              <a:t>одно отделение  ·  одна неделя замера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C15F3C"/>
                </a:solidFill>
                <a:latin typeface="PT Sans"/>
              </a:rPr>
              <a:t>ЧТО ДЕЛАЕМ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2024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AF9F5"/>
                </a:solidFill>
                <a:latin typeface="Playfair Display"/>
              </a:rPr>
              <a:t>Два варианта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33172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7AFA0"/>
                </a:solidFill>
                <a:latin typeface="PT Sans"/>
              </a:rPr>
              <a:t>на завтрак и обед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7432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AF9F5"/>
                </a:solidFill>
                <a:latin typeface="Playfair Display"/>
              </a:rPr>
              <a:t>Стандартный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54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7AFA0"/>
                </a:solidFill>
                <a:latin typeface="PT Sans"/>
              </a:rPr>
              <a:t>гарантирован всегда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5661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AF9F5"/>
                </a:solidFill>
                <a:latin typeface="Playfair Display"/>
              </a:rPr>
              <a:t>Житель выбрал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97764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B7AFA0"/>
                </a:solidFill>
                <a:latin typeface="PT Sans"/>
              </a:rPr>
              <a:t>житель получил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029200"/>
            <a:ext cx="914400" cy="36576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2120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AF9F5"/>
                </a:solidFill>
                <a:latin typeface="Playfair Display"/>
              </a:rPr>
              <a:t>Измерить  →  проверить  →  скорректировать  →  решить о масштабе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C15F3C"/>
                </a:solidFill>
                <a:latin typeface="Playfair Display"/>
              </a:rPr>
              <a:t>Не внедряйте вслепую.  Измеряйте.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РЕЗЕРВ · НЕ ПОКАЗЫВАТЬ В ОСНОВНОМ ХОДЕ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>
                <a:solidFill>
                  <a:srgbClr val="141413"/>
                </a:solidFill>
                <a:latin typeface="Playfair Display"/>
              </a:rPr>
              <a:t>Основной показ закончен.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6E6A5E"/>
                </a:solidFill>
                <a:latin typeface="Playfair Display"/>
              </a:rPr>
              <a:t>Дальше — резерв для ответов.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68880"/>
            <a:ext cx="10881360" cy="347472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ЧТО ЗДЕСЬ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10515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R1  разогрев  ·  вчерашний ужин, кто мог выбрать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R2  три конфликта программы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R3  Успенский ПНИ  ·  М2 — два вторых ежедневно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R4  Болотнинский ПНИ  ·  М1 — выбор несколько раз в неделю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R5  Усть-Илимский ДСО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R6  подробный кейс «Серафимовского»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R7  уровни IDDSI  ·  язык описания текстур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R8  правовая цепочка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R9  пищевая карта  ·  R10  журнал выбора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R11  закупочная модель  ·  R12  пять измеряемых показателей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E6A5E"/>
                </a:solidFill>
                <a:latin typeface="Playfair Display"/>
              </a:rPr>
              <a:t>На 90 минут достаточно слайдов 1–18.  Остальное — если зал спросит.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640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РАЗОГРЕВ · 1 МИНУТА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868680" y="1463040"/>
            <a:ext cx="2286000" cy="2286000"/>
          </a:xfrm>
          <a:prstGeom prst="ellipse">
            <a:avLst/>
          </a:prstGeom>
          <a:solidFill>
            <a:srgbClr val="FAF9F5"/>
          </a:solidFill>
          <a:ln w="190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286000" cy="228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0" b="1" i="0">
                <a:solidFill>
                  <a:srgbClr val="C15F3C"/>
                </a:solidFill>
                <a:latin typeface="Playfair Display"/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783080"/>
            <a:ext cx="54864" cy="1828800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691640"/>
            <a:ext cx="7772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Вспомните вчерашний ужин.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331720"/>
            <a:ext cx="7772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Поднимите руку, если хоть один житель вашего дома мог выбрать второе блюдо.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720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Рука, которая не поднимается, — это и есть повестка наших 90 минут.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1">
                <a:solidFill>
                  <a:srgbClr val="87867F"/>
                </a:solidFill>
                <a:latin typeface="PT Sans"/>
              </a:rPr>
              <a:t>Честное «никто не мог» — нормальный старт, а не провал.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ТРИ КОНФЛИКТА ПРОГРАММЫ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Шесть вопросов программы — три конфликта.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10881360" cy="118872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Выбор  ↔  безопасность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Субъектность жителя, недееспособность, медицинские рамки.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1945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1">
                <a:solidFill>
                  <a:srgbClr val="B8552F"/>
                </a:solidFill>
                <a:latin typeface="PT Sans"/>
              </a:rPr>
              <a:t>вопросы 1 и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200400"/>
            <a:ext cx="10881360" cy="118872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832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Вариативность  ↔  норматив и бюджет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8404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Меню в нормах, „лечебность“ руками кухни, качество против цены.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566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1">
                <a:solidFill>
                  <a:srgbClr val="B8552F"/>
                </a:solidFill>
                <a:latin typeface="PT Sans"/>
              </a:rPr>
              <a:t>вопросы 2, 4 и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572000"/>
            <a:ext cx="10881360" cy="1188720"/>
          </a:xfrm>
          <a:prstGeom prst="roundRect">
            <a:avLst>
              <a:gd name="adj" fmla="val 12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754880"/>
            <a:ext cx="548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7548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41413"/>
                </a:solidFill>
                <a:latin typeface="Playfair Display"/>
              </a:rPr>
              <a:t>Единое меню  ↔  индивидуальная поддержка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521208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Повар назначает диету, или медицинская служба?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9377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1">
                <a:solidFill>
                  <a:srgbClr val="B8552F"/>
                </a:solidFill>
                <a:latin typeface="PT Sans"/>
              </a:rPr>
              <a:t>вопрос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МОДЕЛЬ М2 · УСПЕНСКИЙ ПНИ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Успенский ПНИ · Новосибирская область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Выбор по всем позициям ежедневно, во всех отделениях.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0881360" cy="256032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КОНФИГУРАЦИЯ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Ежедневно: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  ·  два первых блюда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  ·  два вторых блюда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  ·  два салата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  ·  два напитка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029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E6A5E"/>
                </a:solidFill>
                <a:latin typeface="PT Sans"/>
              </a:rPr>
              <a:t>Диетические ограничения — внутри того же выбора, по назначению врача.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8552F"/>
                </a:solidFill>
                <a:latin typeface="PT Sans"/>
              </a:rPr>
              <a:t>Не путать с ДДСОЛ (там — буфет, S019).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 S016  ·  upni.nso.ru/news/1916  ·  13.08.2024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МОДЕЛЬ М1 · БОЛОТНИНСКИЙ ПНИ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Болотнинский ПНИ · Новосибирская область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Выбор на части приёмов, несколько раз в неделю.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0881360" cy="22860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КОНФИГУРАЦИЯ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Завтрак и обед — выбор ключевых позиций.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Перечень определяет диетсестра.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141413"/>
                </a:solidFill>
                <a:latin typeface="Playfair Display"/>
              </a:rPr>
              <a:t>Подходит как стартовая модель.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46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B8552F"/>
                </a:solidFill>
                <a:latin typeface="PT Sans"/>
              </a:rPr>
              <a:t>Не путать с Успенским ПНИ. Это не «Новосибирский ПНИ» как отдельный дом.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 S015  ·  bpni.nso.ru/news/2312  ·  16.08.2024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МОДЕЛЬ · УСТЬ-ИЛИМСКИЙ ДСО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Усть-Илимский ДСО · Иркутская область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Публикация 27.09.2024: «Что за зверь такой? Вариативное питание».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0881360" cy="22860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ЧТО ОПИСАНО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Дом ведёт публичный рассказ о внедрении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вариативного питания — для коллег и жителей.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141413"/>
                </a:solidFill>
                <a:latin typeface="Playfair Display"/>
              </a:rPr>
              <a:t>Один из четырёх публичных кейсов в России.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46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6E6A5E"/>
                </a:solidFill>
                <a:latin typeface="PT Sans"/>
              </a:rPr>
              <a:t>Публикация — не аудит эффекта. Источник первичный, открытый.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 S017  ·  ui-ogbuso.ru  ·  27.09.2024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ПОДРОБНО · ДСО «СЕРАФИМОВСКИЙ»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41413"/>
                </a:solidFill>
                <a:latin typeface="Playfair Display"/>
              </a:rPr>
              <a:t>Жители приняли выбор с энтузиазмом.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Несколько месяцев часть жителей выбирает рацион накануне.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0881360" cy="13716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ФОРМАТ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«Ресторанные дни» по отделениям — рассказ зам. директора И. Ю. Игнатьевой,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посещение Уполномоченного по правам человека в СПб 19.05.2026.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840480"/>
            <a:ext cx="10881360" cy="128016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ЧЕСТНО О ЦЕНЕ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Старт не был бесплатным — оборудование и ставки пищеблока.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Это сказано прямо: «рассказываю и про цену, и про пределы».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349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6E6A5E"/>
                </a:solidFill>
                <a:latin typeface="PT Sans"/>
              </a:rPr>
              <a:t>Старт — в автономном учреждении, 223-ФЗ, тендеры на tenmon.ru и tenderguru.ru.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 S030  ·  gov.spb.ru, 22.07.2025  ·  upchspb.ru/news/32938  ·  19.05.2026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УРОВНИ IDDSI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IDDSI — язык описания текстур.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Не диагностический протокол. Не замена назначения врача.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377440"/>
            <a:ext cx="971550" cy="91440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6888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41413"/>
                </a:solidFill>
                <a:latin typeface="PT Sans"/>
              </a:rPr>
              <a:t>Жидкая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337560"/>
            <a:ext cx="10629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E6A5E"/>
                </a:solidFill>
                <a:latin typeface="PT Sans"/>
              </a:rPr>
              <a:t>тонкая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21358" y="2377440"/>
            <a:ext cx="971550" cy="91440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21358" y="246888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1358" y="283464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41413"/>
                </a:solidFill>
                <a:latin typeface="PT Sans"/>
              </a:rPr>
              <a:t>Слегка густая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5638" y="3337560"/>
            <a:ext cx="10629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E6A5E"/>
                </a:solidFill>
                <a:latin typeface="PT Sans"/>
              </a:rPr>
              <a:t>для части жидкостей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4348" y="2377440"/>
            <a:ext cx="971550" cy="91440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4348" y="246888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4348" y="283464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41413"/>
                </a:solidFill>
                <a:latin typeface="PT Sans"/>
              </a:rPr>
              <a:t>Слабо густая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8628" y="3337560"/>
            <a:ext cx="10629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E6A5E"/>
                </a:solidFill>
                <a:latin typeface="PT Sans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7338" y="2377440"/>
            <a:ext cx="971550" cy="91440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7338" y="246888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7338" y="283464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41413"/>
                </a:solidFill>
                <a:latin typeface="PT Sans"/>
              </a:rPr>
              <a:t>Умеренно густая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1618" y="3337560"/>
            <a:ext cx="10629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E6A5E"/>
                </a:solidFill>
                <a:latin typeface="PT Sans"/>
              </a:rPr>
              <a:t>жидкое пюре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10328" y="2377440"/>
            <a:ext cx="971550" cy="91440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0328" y="246888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0328" y="283464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41413"/>
                </a:solidFill>
                <a:latin typeface="PT Sans"/>
              </a:rPr>
              <a:t>Очень густая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3337560"/>
            <a:ext cx="10629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E6A5E"/>
                </a:solidFill>
                <a:latin typeface="PT Sans"/>
              </a:rPr>
              <a:t>пюре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73318" y="2377440"/>
            <a:ext cx="971550" cy="91440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3318" y="246888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3318" y="283464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41413"/>
                </a:solidFill>
                <a:latin typeface="PT Sans"/>
              </a:rPr>
              <a:t>Мягкая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7598" y="3337560"/>
            <a:ext cx="10629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E6A5E"/>
                </a:solidFill>
                <a:latin typeface="PT Sans"/>
              </a:rPr>
              <a:t>мини-кусочки, мягкая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6308" y="2377440"/>
            <a:ext cx="971550" cy="91440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6308" y="246888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6308" y="283464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41413"/>
                </a:solidFill>
                <a:latin typeface="PT Sans"/>
              </a:rPr>
              <a:t>Мягкая и размерами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0588" y="3337560"/>
            <a:ext cx="10629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E6A5E"/>
                </a:solidFill>
                <a:latin typeface="PT Sans"/>
              </a:rPr>
              <a:t>мягкие кусочки ≤ 1,5 см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9298" y="2377440"/>
            <a:ext cx="971550" cy="91440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9298" y="246888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9298" y="2834640"/>
            <a:ext cx="97155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141413"/>
                </a:solidFill>
                <a:latin typeface="PT Sans"/>
              </a:rPr>
              <a:t>Обычная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53578" y="3337560"/>
            <a:ext cx="106299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E6A5E"/>
                </a:solidFill>
                <a:latin typeface="PT Sans"/>
              </a:rPr>
              <a:t>легко жуётся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97680"/>
            <a:ext cx="10881360" cy="128016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4348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ОГОВОРКА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7548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IDDSI — это терминология и методика проверки консистенции.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41413"/>
                </a:solidFill>
                <a:latin typeface="PT Sans"/>
              </a:rPr>
              <a:t>Текстуру назначает врач. Кухня исполняет по таблице.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International Dysphagia Diet Standardisation Initiative  ·  IDDSI Framework 2019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ПРАВОВАЯ ЦЕПОЧКА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Четыре уровня правовой рамки.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От статуса жителя — до санитарного акта.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3185-1 ст. 5 ч. 2; ст. 37, 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060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E6A5E"/>
                </a:solidFill>
                <a:latin typeface="PT Sans"/>
              </a:rPr>
              <a:t>Закон РФ о психиатрической помощи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3317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Гуманное отношение — ст. 5 ч. 2, не ст. 37 ч. 2. Ст. 37 и 43 — права пациентов и статус проживающих.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0896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004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2004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442-ФЗ ст. 9, 16, 32 ч.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20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E6A5E"/>
                </a:solidFill>
                <a:latin typeface="PT Sans"/>
              </a:rPr>
              <a:t>Основы социального обслуживания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461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Уважительное и гуманное отношение; ИППСУ исходя из потребности; предельная величина платы 75 %.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02336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1148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ГК РФ ст. 29,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348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E6A5E"/>
                </a:solidFill>
                <a:latin typeface="PT Sans"/>
              </a:rPr>
              <a:t>Гражданский кодекс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41605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Опекун недееспособного; учёт мнения подопечного.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937760"/>
            <a:ext cx="10881360" cy="777240"/>
          </a:xfrm>
          <a:prstGeom prst="roundRect">
            <a:avLst>
              <a:gd name="adj" fmla="val 10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0292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0292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СанПиН 2.3/2.4.4282-26, п. 56(11)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492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E6A5E"/>
                </a:solidFill>
                <a:latin typeface="PT Sans"/>
              </a:rPr>
              <a:t>с 01.09.2026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50749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41413"/>
                </a:solidFill>
                <a:latin typeface="PT Sans"/>
              </a:rPr>
              <a:t>Не менее 3-х приёмов в день, в т. ч. диетическое (лечебное) по медицинским показаниям.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ПРИМЕР · ПИЩЕВАЯ КАРТА ЖИТЕЛЯ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Пищевая карта — пять строк.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6E6A5E"/>
                </a:solidFill>
                <a:latin typeface="Playfair Display"/>
              </a:rPr>
              <a:t>Один житель. Один документ. Хватает для пищевой безопасности и пищевого выбора.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B8552F"/>
                </a:solidFill>
                <a:latin typeface="Playfair Display"/>
              </a:rPr>
              <a:t>Профиль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77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диагноз, ИППСУ, ограничения, лекарства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92608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B8552F"/>
                </a:solidFill>
                <a:latin typeface="Playfair Display"/>
              </a:rPr>
              <a:t>Текстура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назначение врача, IDDSI-уровень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56616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6576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B8552F"/>
                </a:solidFill>
                <a:latin typeface="Playfair Display"/>
              </a:rPr>
              <a:t>Исключения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657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аллергии, лекарственно-пищевые взаимодействия (клозапин ↔ кофеин)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20624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B8552F"/>
                </a:solidFill>
                <a:latin typeface="Playfair Display"/>
              </a:rPr>
              <a:t>Предпочтения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42976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биография, что ел всю жизнь, к чему тянется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846320"/>
            <a:ext cx="10881360" cy="54864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9377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B8552F"/>
                </a:solidFill>
                <a:latin typeface="Playfair Display"/>
              </a:rPr>
              <a:t>Способ фиксации выбора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9377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показ, наблюдение, слово, сведения от знающих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B8552F"/>
                </a:solidFill>
                <a:latin typeface="Playfair Display"/>
              </a:rPr>
              <a:t>Подпись врача на карте обязательна.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1264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Источник: доклад, приложение 3; пример из немецкого стандарта (§ 6 Abs. 4 SGB XII)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ПРИМЕР · ЖУРНАЛ ВЫБОРА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41413"/>
                </a:solidFill>
                <a:latin typeface="Playfair Display"/>
              </a:rPr>
              <a:t>Журнал выбора — одна строка на жителя в день.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6E6A5E"/>
                </a:solidFill>
                <a:latin typeface="Playfair Display"/>
              </a:rPr>
              <a:t>Без журнала «выбор» — это только слова. Проверяющий это знает.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B8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AF9F5"/>
                </a:solidFill>
                <a:latin typeface="PT Sans"/>
              </a:rPr>
              <a:t>Дата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9967" y="2286000"/>
            <a:ext cx="1188720" cy="457200"/>
          </a:xfrm>
          <a:prstGeom prst="roundRect">
            <a:avLst>
              <a:gd name="adj" fmla="val 4000"/>
            </a:avLst>
          </a:prstGeom>
          <a:solidFill>
            <a:srgbClr val="B8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23317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AF9F5"/>
                </a:solidFill>
                <a:latin typeface="PT Sans"/>
              </a:rPr>
              <a:t>Отделение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7" y="2286000"/>
            <a:ext cx="2194560" cy="457200"/>
          </a:xfrm>
          <a:prstGeom prst="roundRect">
            <a:avLst>
              <a:gd name="adj" fmla="val 4000"/>
            </a:avLst>
          </a:prstGeom>
          <a:solidFill>
            <a:srgbClr val="B8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7" y="233172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AF9F5"/>
                </a:solidFill>
                <a:latin typeface="PT Sans"/>
              </a:rPr>
              <a:t>Житель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13248" y="228600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B8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23317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AF9F5"/>
                </a:solidFill>
                <a:latin typeface="PT Sans"/>
              </a:rPr>
              <a:t>Заказал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8" y="228600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B8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23317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AF9F5"/>
                </a:solidFill>
                <a:latin typeface="PT Sans"/>
              </a:rPr>
              <a:t>Получил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8" y="2286000"/>
            <a:ext cx="2468880" cy="457200"/>
          </a:xfrm>
          <a:prstGeom prst="roundRect">
            <a:avLst>
              <a:gd name="adj" fmla="val 4000"/>
            </a:avLst>
          </a:prstGeom>
          <a:solidFill>
            <a:srgbClr val="B855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23317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AF9F5"/>
                </a:solidFill>
                <a:latin typeface="PT Sans"/>
              </a:rPr>
              <a:t>Подпись смены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278892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803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26.08.2026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29967" y="2788920"/>
            <a:ext cx="118872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28803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№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18687" y="2788920"/>
            <a:ext cx="219456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7" y="28803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Иванов И. 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13248" y="278892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4688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Гречка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42048" y="278892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28803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Гречка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70848" y="2788920"/>
            <a:ext cx="246888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62288" y="28803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Петрова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24612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337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26.08.2026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29967" y="3246120"/>
            <a:ext cx="1188720" cy="4572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21408" y="333756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№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18687" y="3246120"/>
            <a:ext cx="2194560" cy="4572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10127" y="33375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Сидорова А. П.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13248" y="324612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04688" y="33375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Рис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42048" y="324612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33488" y="333756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Рис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70848" y="3246120"/>
            <a:ext cx="2468880" cy="457200"/>
          </a:xfrm>
          <a:prstGeom prst="roundRect">
            <a:avLst>
              <a:gd name="adj" fmla="val 4000"/>
            </a:avLst>
          </a:prstGeom>
          <a:solidFill>
            <a:srgbClr val="FAF9F5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33375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Петрова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3703320"/>
            <a:ext cx="137160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3794759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26.08.2026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29967" y="3703320"/>
            <a:ext cx="118872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21408" y="3794759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№ 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18687" y="3703320"/>
            <a:ext cx="219456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10127" y="3794759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Ким В. С.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13248" y="370332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04688" y="379475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242048" y="3703320"/>
            <a:ext cx="182880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33488" y="3794759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Стандарт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70848" y="3703320"/>
            <a:ext cx="2468880" cy="457200"/>
          </a:xfrm>
          <a:prstGeom prst="roundRect">
            <a:avLst>
              <a:gd name="adj" fmla="val 4000"/>
            </a:avLst>
          </a:prstGeom>
          <a:solidFill>
            <a:srgbClr val="F0EEE6"/>
          </a:solidFill>
          <a:ln w="6350">
            <a:solidFill>
              <a:srgbClr val="E3DC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62288" y="3794759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141413"/>
                </a:solidFill>
                <a:latin typeface="PT Sans"/>
              </a:rPr>
              <a:t>Петрова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49377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B8552F"/>
                </a:solidFill>
                <a:latin typeface="Playfair Display"/>
              </a:rPr>
              <a:t>Не выбрал — стандартный вариант. Без давления.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5486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7867F"/>
                </a:solidFill>
                <a:latin typeface="PT Sans"/>
              </a:rPr>
              <a:t>Источник: доклад, приложение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ЗАКУПОЧНАЯ МОДЕЛЬ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 i="0">
                <a:solidFill>
                  <a:srgbClr val="141413"/>
                </a:solidFill>
                <a:latin typeface="Playfair Display"/>
              </a:rPr>
              <a:t>223-ФЗ и 44-ФЗ: что важно знать директору.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Вариативность возможна в обоих контурах — но документы разные.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286000"/>
            <a:ext cx="5303520" cy="3200400"/>
          </a:xfrm>
          <a:prstGeom prst="roundRect">
            <a:avLst>
              <a:gd name="adj" fmla="val 14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C15F3C"/>
                </a:solidFill>
                <a:latin typeface="Playfair Display"/>
              </a:rPr>
              <a:t>223-ФЗ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E6A5E"/>
                </a:solidFill>
                <a:latin typeface="PT Sans"/>
              </a:rPr>
              <a:t>автономное учреждение, конкурсная основа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·  Положение о закупке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·  Конкурсная документация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·  Тендеры на tenmon.ru, tenderguru.ru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·  Источник S030 для Серафимовского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303520" cy="3200400"/>
          </a:xfrm>
          <a:prstGeom prst="roundRect">
            <a:avLst>
              <a:gd name="adj" fmla="val 14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4688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B8552F"/>
                </a:solidFill>
                <a:latin typeface="Playfair Display"/>
              </a:rPr>
              <a:t>44-ФЗ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926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6E6A5E"/>
                </a:solidFill>
                <a:latin typeface="PT Sans"/>
              </a:rPr>
              <a:t>бюджетное учреждение, госзакупка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38328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·  Контрактная система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·  zakupki.gov.ru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·  Источник для Тесового берега: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41413"/>
                </a:solidFill>
                <a:latin typeface="PT Sans"/>
              </a:rPr>
              <a:t>    ИНН 7827661874, ЕГРЮЛ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6E6A5E"/>
                </a:solidFill>
                <a:latin typeface="Playfair Display"/>
              </a:rPr>
              <a:t>Что в обоих случаях: положение о питании, журнал заказа, согласование с учредителем.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R11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C15F3C"/>
                </a:solidFill>
                <a:latin typeface="PT Sans"/>
              </a:rPr>
              <a:t>ПЯТЬ ИЗМЕРЯЕМЫХ ПОКАЗАТЕЛЕЙ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035808" y="594360"/>
            <a:ext cx="8485632" cy="0"/>
          </a:xfrm>
          <a:prstGeom prst="line">
            <a:avLst/>
          </a:prstGeom>
          <a:ln w="9525">
            <a:solidFill>
              <a:srgbClr val="E3DC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58368" y="86868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141413"/>
                </a:solidFill>
                <a:latin typeface="Playfair Display"/>
              </a:rPr>
              <a:t>Пилот измеряет пять вещей.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1">
                <a:solidFill>
                  <a:srgbClr val="6E6A5E"/>
                </a:solidFill>
                <a:latin typeface="Playfair Display"/>
              </a:rPr>
              <a:t>Без замера — нет ответа на вопрос «стало лучше?».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9456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15F3C"/>
                </a:solidFill>
                <a:latin typeface="Playfair Display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Пищевая карта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8600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заполнена у каждого жителя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78892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15F3C"/>
                </a:solidFill>
                <a:latin typeface="Playfair Display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880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Доля с реальным выбором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88036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приёмы, где альтернатива была доступна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8328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7472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15F3C"/>
                </a:solidFill>
                <a:latin typeface="Playfair Display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74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Исполненные заказы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7472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житель выбрал — житель получил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069079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15F3C"/>
                </a:solidFill>
                <a:latin typeface="Playfair Display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6907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Отказы, замены, отходы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069079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что не съели, что заменили, что ушло в отходы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572000"/>
            <a:ext cx="10881360" cy="502920"/>
          </a:xfrm>
          <a:prstGeom prst="roundRect">
            <a:avLst>
              <a:gd name="adj" fmla="val 8000"/>
            </a:avLst>
          </a:prstGeom>
          <a:solidFill>
            <a:srgbClr val="F0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6634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15F3C"/>
                </a:solidFill>
                <a:latin typeface="Playfair Display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663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141413"/>
                </a:solidFill>
                <a:latin typeface="Playfair Display"/>
              </a:rPr>
              <a:t>События риска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6634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6E6A5E"/>
                </a:solidFill>
                <a:latin typeface="PT Sans"/>
              </a:rPr>
              <a:t>поперхивания, пропуски, потеря веса, обострения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349240"/>
            <a:ext cx="10881360" cy="640080"/>
          </a:xfrm>
          <a:prstGeom prst="roundRect">
            <a:avLst>
              <a:gd name="adj" fmla="val 10000"/>
            </a:avLst>
          </a:prstGeom>
          <a:solidFill>
            <a:srgbClr val="F5E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440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B8552F"/>
                </a:solidFill>
                <a:latin typeface="PT Sans"/>
              </a:rPr>
              <a:t>ВАЖНО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669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1">
                <a:solidFill>
                  <a:srgbClr val="141413"/>
                </a:solidFill>
                <a:latin typeface="Playfair Display"/>
              </a:rPr>
              <a:t>Процент выбравших — не KPI.  Человек вправе выбрать стандартное или не выбирать вовсе.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1" i="0">
                <a:solidFill>
                  <a:srgbClr val="C15F3C"/>
                </a:solidFill>
                <a:latin typeface="PT Sans"/>
              </a:rPr>
              <a:t>R12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