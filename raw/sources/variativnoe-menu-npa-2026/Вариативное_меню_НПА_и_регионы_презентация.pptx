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charts/chart18_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 type="custom"/>
  <p:notesSz cx="12192000" cy="6858000"/>
  <p:embeddedFontLst>
    <p:embeddedFont>
      <p:font typeface="Oranienbaum" charset="-122" pitchFamily="34"/>
      <p:regular r:id="rId31"/>
    </p:embeddedFont>
    <p:embeddedFont>
      <p:font typeface="MiSans" charset="-122" pitchFamily="34"/>
      <p:regular r:id="rId3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font" Target="fonts/font1.fntdata"/><Relationship Id="rId32" Type="http://schemas.openxmlformats.org/officeDocument/2006/relationships/font" Target="fonts/font2.fntdata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ableStyles" Target="tableStyles.xml"/></Relationships>
</file>

<file path=ppt/charts/chart18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Картофель, г нетто/сутки</c:v>
          </c:tx>
          <c:spPr>
            <a:solidFill>
              <a:srgbClr val="2F4F5F"/>
            </a:solidFill>
          </c:spPr>
          <c:dLbls>
            <c:txPr>
              <a:bodyPr/>
              <a:lstStyle/>
              <a:p>
                <a:pPr>
                  <a:defRPr sz="1000" noProof="1" b="0" i="0" u="none" strike="noStrike"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Общий</c:v>
              </c:pt>
              <c:pt idx="1">
                <c:v>ПНИ</c:v>
              </c:pt>
              <c:pt idx="2">
                <c:v>Сахарный диабет</c:v>
              </c:pt>
              <c:pt idx="3">
                <c:v>Заболевания ЖКТ</c:v>
              </c:pt>
            </c:strLit>
          </c:cat>
          <c:val>
            <c:numLit>
              <c:formatCode>General</c:formatCode>
              <c:ptCount val="4"/>
              <c:pt idx="0">
                <c:v>168</c:v>
              </c:pt>
              <c:pt idx="1">
                <c:v>268</c:v>
              </c:pt>
              <c:pt idx="2">
                <c:v>44</c:v>
              </c:pt>
              <c:pt idx="3">
                <c:v>126.2</c:v>
              </c:pt>
            </c:numLit>
          </c:val>
        </c:ser>
        <c:ser>
          <c:idx val="1"/>
          <c:order val="1"/>
          <c:tx>
            <c:v>Фрукты и ягоды свежие, г нетто/сутки</c:v>
          </c:tx>
          <c:spPr>
            <a:solidFill>
              <a:srgbClr val="B66A3C"/>
            </a:solidFill>
          </c:spPr>
          <c:dLbls>
            <c:txPr>
              <a:bodyPr/>
              <a:lstStyle/>
              <a:p>
                <a:pPr>
                  <a:defRPr sz="1000" noProof="1" b="0" i="0" u="none" strike="noStrike"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Общий</c:v>
              </c:pt>
              <c:pt idx="1">
                <c:v>ПНИ</c:v>
              </c:pt>
              <c:pt idx="2">
                <c:v>Сахарный диабет</c:v>
              </c:pt>
              <c:pt idx="3">
                <c:v>Заболевания ЖКТ</c:v>
              </c:pt>
            </c:strLit>
          </c:cat>
          <c:val>
            <c:numLit>
              <c:formatCode>General</c:formatCode>
              <c:ptCount val="4"/>
              <c:pt idx="0">
                <c:v>200</c:v>
              </c:pt>
              <c:pt idx="1">
                <c:v>100</c:v>
              </c:pt>
              <c:pt idx="2">
                <c:v>385</c:v>
              </c:pt>
              <c:pt idx="3">
                <c:v>200</c:v>
              </c:pt>
            </c:numLit>
          </c:val>
        </c:ser>
        <c:gapWidth val="35"/>
        <c:overlap val="-1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050" noProof="1" b="0" i="0" u="none" strike="noStrike">
                <a:latin typeface="Arial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400"/>
          <c:min val="0"/>
        </c:scaling>
        <c:delete val="0"/>
        <c:axPos val="l"/>
        <c:majorGridlines>
          <c:spPr>
            <a:ln w="12700">
              <a:solidFill>
                <a:srgbClr val="E0E6F1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200" noProof="1"/>
                  <a:t>г нетто в сутки</a:t>
                </a:r>
              </a:p>
            </c:rich>
          </c:tx>
          <c:layout>
            <c:manualLayout>
              <c:xMode val="edge"/>
              <c:yMode val="edge"/>
              <c:x val="0.02"/>
              <c:y val="0.44"/>
            </c:manualLayout>
          </c:layout>
          <c:overlay val="0"/>
        </c:title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000" noProof="1" b="0" i="0" u="none" strike="noStrike">
                <a:latin typeface="Arial"/>
              </a:defRPr>
            </a:pPr>
            <a:endParaRPr lang="en-US" noProof="1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b"/>
      <c:layout/>
      <c:overlay val="0"/>
      <c:txPr>
        <a:bodyPr/>
        <a:lstStyle/>
        <a:p>
          <a:pPr>
            <a:defRPr sz="1050" noProof="1" b="0" i="0" u="none" strike="noStrike">
              <a:latin typeface="Arial"/>
            </a:defRPr>
          </a:pPr>
          <a:endParaRPr lang="en-US" noProof="1"/>
        </a:p>
      </c:txPr>
    </c:legend>
    <c:plotVisOnly val="1"/>
    <c:dispBlanksAs val="gap"/>
  </c:chart>
  <c:spPr>
    <a:noFill/>
    <a:ln>
      <a:noFill/>
    </a:ln>
  </c:spPr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8_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4368800" cy="6858000"/>
          </a:xfrm>
          <a:prstGeom prst="rect">
            <a:avLst/>
          </a:prstGeom>
          <a:solidFill>
            <a:srgbClr val="2F4F5F"/>
          </a:solidFill>
          <a:ln>
            <a:noFill/>
          </a:ln>
        </p:spPr>
      </p:sp>
      <p:sp>
        <p:nvSpPr>
          <p:cNvPr id="3" name="seam"/>
          <p:cNvSpPr/>
          <p:nvPr/>
        </p:nvSpPr>
        <p:spPr>
          <a:xfrm>
            <a:off x="4368800" y="0"/>
            <a:ext cx="63500" cy="6858000"/>
          </a:xfrm>
          <a:prstGeom prst="rect">
            <a:avLst/>
          </a:prstGeom>
          <a:solidFill>
            <a:srgbClr val="B66A3C"/>
          </a:solidFill>
          <a:ln>
            <a:noFill/>
          </a:ln>
        </p:spPr>
      </p:sp>
      <p:sp>
        <p:nvSpPr>
          <p:cNvPr id="4" name="pkicker"/>
          <p:cNvSpPr txBox="1"/>
          <p:nvPr/>
        </p:nvSpPr>
        <p:spPr>
          <a:xfrm>
            <a:off x="508000" y="762000"/>
            <a:ext cx="3352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 spc="350" kern="0">
                <a:solidFill>
                  <a:srgbClr val="FFFFFF"/>
                </a:solidFill>
                <a:latin typeface="MiSans"/>
                <a:ea typeface="MiSans"/>
              </a:rPr>
              <a:t>АНАЛИТИЧЕСКИЙ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 spc="350" kern="0">
                <a:solidFill>
                  <a:srgbClr val="FFFFFF"/>
                </a:solidFill>
                <a:latin typeface="MiSans"/>
                <a:ea typeface="MiSans"/>
              </a:rPr>
              <a:t>ДОКЛАД</a:t>
            </a:r>
            <a:endParaRPr lang="en-US" sz="1150" noProof="1"/>
          </a:p>
        </p:txBody>
      </p:sp>
      <p:sp>
        <p:nvSpPr>
          <p:cNvPr id="5" name="pglyph"/>
          <p:cNvSpPr txBox="1"/>
          <p:nvPr/>
        </p:nvSpPr>
        <p:spPr>
          <a:xfrm>
            <a:off x="508000" y="2159000"/>
            <a:ext cx="33528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000" noProof="1">
                <a:solidFill>
                  <a:srgbClr val="FFFFFF">
                    <a:alpha val="7843"/>
                  </a:srgbClr>
                </a:solidFill>
                <a:latin typeface="Oranienbaum"/>
                <a:ea typeface="Oranienbaum"/>
              </a:rPr>
              <a:t>§</a:t>
            </a:r>
            <a:endParaRPr lang="en-US" sz="17000" noProof="1"/>
          </a:p>
        </p:txBody>
      </p:sp>
      <p:sp>
        <p:nvSpPr>
          <p:cNvPr id="6" name="prule"/>
          <p:cNvSpPr/>
          <p:nvPr/>
        </p:nvSpPr>
        <p:spPr>
          <a:xfrm>
            <a:off x="508000" y="1549400"/>
            <a:ext cx="609600" cy="38100"/>
          </a:xfrm>
          <a:prstGeom prst="rect">
            <a:avLst/>
          </a:prstGeom>
          <a:solidFill>
            <a:srgbClr val="B66A3C"/>
          </a:solidFill>
          <a:ln>
            <a:noFill/>
          </a:ln>
        </p:spPr>
      </p:sp>
      <p:sp>
        <p:nvSpPr>
          <p:cNvPr id="7" name="pnote"/>
          <p:cNvSpPr txBox="1"/>
          <p:nvPr/>
        </p:nvSpPr>
        <p:spPr>
          <a:xfrm>
            <a:off x="508000" y="5308600"/>
            <a:ext cx="33528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000" noProof="1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Дата подготовки: 16 июля 2026 г.</a:t>
            </a:r>
            <a:endParaRPr lang="en-US" sz="1000" noProof="1"/>
          </a:p>
          <a:p>
            <a:pPr>
              <a:lnSpc>
                <a:spcPct val="155000"/>
              </a:lnSpc>
            </a:pPr>
            <a:r>
              <a:rPr lang="en-US" sz="1000" noProof="1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Все ссылки верифицированы</a:t>
            </a:r>
            <a:endParaRPr lang="en-US" sz="1000" noProof="1"/>
          </a:p>
          <a:p>
            <a:pPr>
              <a:lnSpc>
                <a:spcPct val="155000"/>
              </a:lnSpc>
            </a:pPr>
            <a:r>
              <a:rPr lang="en-US" sz="1000" noProof="1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Реестр источников — Приложение 2 доклада</a:t>
            </a:r>
            <a:endParaRPr lang="en-US" sz="1000" noProof="1"/>
          </a:p>
        </p:txBody>
      </p:sp>
      <p:sp>
        <p:nvSpPr>
          <p:cNvPr id="8" name="kicker"/>
          <p:cNvSpPr txBox="1"/>
          <p:nvPr/>
        </p:nvSpPr>
        <p:spPr>
          <a:xfrm>
            <a:off x="5029200" y="14986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spc="250" kern="0">
                <a:solidFill>
                  <a:srgbClr val="2F4F5F"/>
                </a:solidFill>
                <a:latin typeface="MiSans"/>
                <a:ea typeface="MiSans"/>
              </a:rPr>
              <a:t>СТАЦИОНАРНЫЕ УЧРЕЖДЕНИЯ СОЦИАЛЬНОГО ОБСЛУЖИВАНИЯ · РОССИЯ</a:t>
            </a:r>
            <a:endParaRPr lang="en-US" sz="1050" noProof="1"/>
          </a:p>
        </p:txBody>
      </p:sp>
      <p:sp>
        <p:nvSpPr>
          <p:cNvPr id="9" name="ctitle"/>
          <p:cNvSpPr txBox="1"/>
          <p:nvPr/>
        </p:nvSpPr>
        <p:spPr>
          <a:xfrm>
            <a:off x="5029200" y="1854200"/>
            <a:ext cx="6604000" cy="193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8000"/>
              </a:lnSpc>
            </a:pPr>
            <a:r>
              <a:rPr lang="en-US" sz="3800" noProof="1">
                <a:solidFill>
                  <a:srgbClr val="27231F"/>
                </a:solidFill>
                <a:latin typeface="Oranienbaum"/>
                <a:ea typeface="Oranienbaum"/>
              </a:rPr>
              <a:t>Вариативное меню</a:t>
            </a:r>
            <a:endParaRPr lang="en-US" sz="3800" noProof="1"/>
          </a:p>
          <a:p>
            <a:pPr>
              <a:lnSpc>
                <a:spcPct val="118000"/>
              </a:lnSpc>
            </a:pPr>
            <a:r>
              <a:rPr lang="en-US" sz="3800" noProof="1">
                <a:solidFill>
                  <a:srgbClr val="27231F"/>
                </a:solidFill>
                <a:latin typeface="Oranienbaum"/>
                <a:ea typeface="Oranienbaum"/>
              </a:rPr>
              <a:t>в учреждениях социального обслуживания</a:t>
            </a:r>
            <a:endParaRPr lang="en-US" sz="3800" noProof="1"/>
          </a:p>
        </p:txBody>
      </p:sp>
      <p:sp>
        <p:nvSpPr>
          <p:cNvPr id="10" name="crule"/>
          <p:cNvSpPr/>
          <p:nvPr/>
        </p:nvSpPr>
        <p:spPr>
          <a:xfrm>
            <a:off x="5029200" y="3987800"/>
            <a:ext cx="812800" cy="38100"/>
          </a:xfrm>
          <a:prstGeom prst="rect">
            <a:avLst/>
          </a:prstGeom>
          <a:solidFill>
            <a:srgbClr val="B66A3C"/>
          </a:solidFill>
          <a:ln>
            <a:noFill/>
          </a:ln>
        </p:spPr>
      </p:sp>
      <p:sp>
        <p:nvSpPr>
          <p:cNvPr id="11" name="csub"/>
          <p:cNvSpPr txBox="1"/>
          <p:nvPr/>
        </p:nvSpPr>
        <p:spPr>
          <a:xfrm>
            <a:off x="5029200" y="4191000"/>
            <a:ext cx="6477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450" noProof="1">
                <a:solidFill>
                  <a:srgbClr val="4A4438"/>
                </a:solidFill>
                <a:latin typeface="MiSans"/>
                <a:ea typeface="MiSans"/>
              </a:rPr>
              <a:t>Нормативно-правовая база и обобщение опыта субъектов Российской Федерации</a:t>
            </a:r>
            <a:endParaRPr lang="en-US" sz="1450" noProof="1"/>
          </a:p>
        </p:txBody>
      </p:sp>
      <p:sp>
        <p:nvSpPr>
          <p:cNvPr id="12" name="s1n"/>
          <p:cNvSpPr txBox="1"/>
          <p:nvPr/>
        </p:nvSpPr>
        <p:spPr>
          <a:xfrm>
            <a:off x="5029200" y="52578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2F4F5F"/>
                </a:solidFill>
                <a:latin typeface="Oranienbaum"/>
                <a:ea typeface="Oranienbaum"/>
              </a:rPr>
              <a:t>83</a:t>
            </a:r>
            <a:endParaRPr lang="en-US" sz="3000" noProof="1"/>
          </a:p>
        </p:txBody>
      </p:sp>
      <p:sp>
        <p:nvSpPr>
          <p:cNvPr id="13" name="s1l"/>
          <p:cNvSpPr txBox="1"/>
          <p:nvPr/>
        </p:nvSpPr>
        <p:spPr>
          <a:xfrm>
            <a:off x="5029200" y="5740400"/>
            <a:ext cx="177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страницы полного доклада</a:t>
            </a:r>
            <a:endParaRPr lang="en-US" sz="1000" noProof="1"/>
          </a:p>
        </p:txBody>
      </p:sp>
      <p:sp>
        <p:nvSpPr>
          <p:cNvPr id="14" name="s2n"/>
          <p:cNvSpPr txBox="1"/>
          <p:nvPr/>
        </p:nvSpPr>
        <p:spPr>
          <a:xfrm>
            <a:off x="7112000" y="52578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2F4F5F"/>
                </a:solidFill>
                <a:latin typeface="Oranienbaum"/>
                <a:ea typeface="Oranienbaum"/>
              </a:rPr>
              <a:t>37</a:t>
            </a:r>
            <a:endParaRPr lang="en-US" sz="3000" noProof="1"/>
          </a:p>
        </p:txBody>
      </p:sp>
      <p:sp>
        <p:nvSpPr>
          <p:cNvPr id="15" name="s2l"/>
          <p:cNvSpPr txBox="1"/>
          <p:nvPr/>
        </p:nvSpPr>
        <p:spPr>
          <a:xfrm>
            <a:off x="7112000" y="5740400"/>
            <a:ext cx="177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проверенных источников</a:t>
            </a:r>
            <a:endParaRPr lang="en-US" sz="1000" noProof="1"/>
          </a:p>
        </p:txBody>
      </p:sp>
      <p:sp>
        <p:nvSpPr>
          <p:cNvPr id="16" name="s3n"/>
          <p:cNvSpPr txBox="1"/>
          <p:nvPr/>
        </p:nvSpPr>
        <p:spPr>
          <a:xfrm>
            <a:off x="9194800" y="52578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2F4F5F"/>
                </a:solidFill>
                <a:latin typeface="Oranienbaum"/>
                <a:ea typeface="Oranienbaum"/>
              </a:rPr>
              <a:t>8</a:t>
            </a:r>
            <a:endParaRPr lang="en-US" sz="3000" noProof="1"/>
          </a:p>
        </p:txBody>
      </p:sp>
      <p:sp>
        <p:nvSpPr>
          <p:cNvPr id="17" name="s3l"/>
          <p:cNvSpPr txBox="1"/>
          <p:nvPr/>
        </p:nvSpPr>
        <p:spPr>
          <a:xfrm>
            <a:off x="9194800" y="57404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регионов в сравнительном анализе</a:t>
            </a:r>
            <a:endParaRPr lang="en-US" sz="1000" noProof="1"/>
          </a:p>
        </p:txBody>
      </p:sp>
      <p:sp>
        <p:nvSpPr>
          <p:cNvPr id="18" name="cbottom"/>
          <p:cNvSpPr txBox="1"/>
          <p:nvPr/>
        </p:nvSpPr>
        <p:spPr>
          <a:xfrm>
            <a:off x="5029200" y="6350000"/>
            <a:ext cx="660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Презентация к докладу · июль 2026 г.</a:t>
            </a:r>
            <a:endParaRPr lang="en-US" sz="1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spc="250" kern="0">
                <a:solidFill>
                  <a:srgbClr val="2F4F5F"/>
                </a:solidFill>
                <a:latin typeface="MiSans"/>
                <a:ea typeface="MiSans"/>
              </a:rPr>
              <a:t>СТРУКТУРА ДОКЛАДА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842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700" noProof="1">
                <a:solidFill>
                  <a:srgbClr val="27231F"/>
                </a:solidFill>
                <a:latin typeface="Oranienbaum"/>
                <a:ea typeface="Oranienbaum"/>
              </a:rPr>
              <a:t>Содержание</a:t>
            </a:r>
            <a:endParaRPr lang="en-US" sz="2700" noProof="1"/>
          </a:p>
        </p:txBody>
      </p:sp>
      <p:sp>
        <p:nvSpPr>
          <p:cNvPr id="4" name="h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5" name="frul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6" name="fleft"/>
          <p:cNvSpPr txBox="1"/>
          <p:nvPr/>
        </p:nvSpPr>
        <p:spPr>
          <a:xfrm>
            <a:off x="812800" y="65024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Вариативное меню в учреждениях социального обслуживания · Аналитический доклад · 2026</a:t>
            </a:r>
            <a:endParaRPr lang="en-US" sz="1000" noProof="1"/>
          </a:p>
        </p:txBody>
      </p:sp>
      <p:sp>
        <p:nvSpPr>
          <p:cNvPr id="7" name="fright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02 / 28</a:t>
            </a:r>
            <a:endParaRPr lang="en-US" sz="1000" noProof="1"/>
          </a:p>
        </p:txBody>
      </p:sp>
      <p:sp>
        <p:nvSpPr>
          <p:cNvPr id="8" name="tocitems"/>
          <p:cNvSpPr txBox="1"/>
          <p:nvPr/>
        </p:nvSpPr>
        <p:spPr>
          <a:xfrm>
            <a:off x="812800" y="1549400"/>
            <a:ext cx="6807200" cy="467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2000"/>
              </a:lnSpc>
            </a:pPr>
            <a:r>
              <a:rPr lang="en-US" sz="1700" noProof="1">
                <a:solidFill>
                  <a:srgbClr val="2F4F5F"/>
                </a:solidFill>
                <a:latin typeface="Oranienbaum"/>
                <a:ea typeface="Oranienbaum"/>
              </a:rPr>
              <a:t>01</a:t>
            </a:r>
            <a:r>
              <a:rPr lang="en-US" sz="1300" noProof="1" b="1">
                <a:solidFill>
                  <a:srgbClr val="27231F"/>
                </a:solidFill>
                <a:latin typeface="MiSans"/>
                <a:ea typeface="MiSans"/>
              </a:rPr>
              <a:t>Понятийный аппарат и история</a:t>
            </a:r>
            <a:endParaRPr lang="en-US" sz="1300" noProof="1"/>
          </a:p>
          <a:p>
            <a:pPr>
              <a:lnSpc>
                <a:spcPct val="132000"/>
              </a:lnSpc>
              <a:spcBef>
                <a:spcPts val="200"/>
              </a:spcBef>
            </a:pPr>
            <a:r>
              <a:rPr lang="en-US" sz="1050" noProof="1">
                <a:solidFill>
                  <a:srgbClr val="8B8578"/>
                </a:solidFill>
                <a:latin typeface="MiSans"/>
                <a:ea typeface="MiSans"/>
              </a:rPr>
              <a:t>объект регулирования, дефиниции, этапы 1993–2026</a:t>
            </a:r>
            <a:endParaRPr lang="en-US" sz="1300" noProof="1"/>
          </a:p>
          <a:p>
            <a:pPr>
              <a:lnSpc>
                <a:spcPct val="132000"/>
              </a:lnSpc>
              <a:spcBef>
                <a:spcPts val="1000"/>
              </a:spcBef>
            </a:pPr>
            <a:r>
              <a:rPr lang="en-US" sz="1700" noProof="1">
                <a:solidFill>
                  <a:srgbClr val="2F4F5F"/>
                </a:solidFill>
                <a:latin typeface="Oranienbaum"/>
                <a:ea typeface="Oranienbaum"/>
              </a:rPr>
              <a:t>02</a:t>
            </a:r>
            <a:r>
              <a:rPr lang="en-US" sz="1300" noProof="1" b="1">
                <a:solidFill>
                  <a:srgbClr val="27231F"/>
                </a:solidFill>
                <a:latin typeface="MiSans"/>
                <a:ea typeface="MiSans"/>
              </a:rPr>
              <a:t>Федеральная нормативно-правовая база</a:t>
            </a:r>
            <a:endParaRPr lang="en-US" sz="1300" noProof="1"/>
          </a:p>
          <a:p>
            <a:pPr>
              <a:lnSpc>
                <a:spcPct val="132000"/>
              </a:lnSpc>
              <a:spcBef>
                <a:spcPts val="200"/>
              </a:spcBef>
            </a:pPr>
            <a:r>
              <a:rPr lang="en-US" sz="1050" noProof="1">
                <a:solidFill>
                  <a:srgbClr val="8B8578"/>
                </a:solidFill>
                <a:latin typeface="MiSans"/>
                <a:ea typeface="MiSans"/>
              </a:rPr>
              <a:t>ФЗ-442, СанПиН 3590-20, нормы питания и диеты, акты Минтруда</a:t>
            </a:r>
            <a:endParaRPr lang="en-US" sz="1300" noProof="1"/>
          </a:p>
          <a:p>
            <a:pPr>
              <a:lnSpc>
                <a:spcPct val="132000"/>
              </a:lnSpc>
              <a:spcBef>
                <a:spcPts val="1000"/>
              </a:spcBef>
            </a:pPr>
            <a:r>
              <a:rPr lang="en-US" sz="1700" noProof="1">
                <a:solidFill>
                  <a:srgbClr val="2F4F5F"/>
                </a:solidFill>
                <a:latin typeface="Oranienbaum"/>
                <a:ea typeface="Oranienbaum"/>
              </a:rPr>
              <a:t>03</a:t>
            </a:r>
            <a:r>
              <a:rPr lang="en-US" sz="1300" noProof="1" b="1">
                <a:solidFill>
                  <a:srgbClr val="27231F"/>
                </a:solidFill>
                <a:latin typeface="MiSans"/>
                <a:ea typeface="MiSans"/>
              </a:rPr>
              <a:t>Региональная база и опыт восьми субъектов РФ</a:t>
            </a:r>
            <a:endParaRPr lang="en-US" sz="1300" noProof="1"/>
          </a:p>
          <a:p>
            <a:pPr>
              <a:lnSpc>
                <a:spcPct val="132000"/>
              </a:lnSpc>
              <a:spcBef>
                <a:spcPts val="200"/>
              </a:spcBef>
            </a:pPr>
            <a:r>
              <a:rPr lang="en-US" sz="1050" noProof="1">
                <a:solidFill>
                  <a:srgbClr val="8B8578"/>
                </a:solidFill>
                <a:latin typeface="MiSans"/>
                <a:ea typeface="MiSans"/>
              </a:rPr>
              <a:t>модели регулирования, сравнительный анализ, документированные кейсы</a:t>
            </a:r>
            <a:endParaRPr lang="en-US" sz="1300" noProof="1"/>
          </a:p>
          <a:p>
            <a:pPr>
              <a:lnSpc>
                <a:spcPct val="132000"/>
              </a:lnSpc>
              <a:spcBef>
                <a:spcPts val="1000"/>
              </a:spcBef>
            </a:pPr>
            <a:r>
              <a:rPr lang="en-US" sz="1700" noProof="1">
                <a:solidFill>
                  <a:srgbClr val="2F4F5F"/>
                </a:solidFill>
                <a:latin typeface="Oranienbaum"/>
                <a:ea typeface="Oranienbaum"/>
              </a:rPr>
              <a:t>04</a:t>
            </a:r>
            <a:r>
              <a:rPr lang="en-US" sz="1300" noProof="1" b="1">
                <a:solidFill>
                  <a:srgbClr val="27231F"/>
                </a:solidFill>
                <a:latin typeface="MiSans"/>
                <a:ea typeface="MiSans"/>
              </a:rPr>
              <a:t>Организация вариативного меню</a:t>
            </a:r>
            <a:endParaRPr lang="en-US" sz="1300" noProof="1"/>
          </a:p>
          <a:p>
            <a:pPr>
              <a:lnSpc>
                <a:spcPct val="132000"/>
              </a:lnSpc>
              <a:spcBef>
                <a:spcPts val="200"/>
              </a:spcBef>
            </a:pPr>
            <a:r>
              <a:rPr lang="en-US" sz="1050" noProof="1">
                <a:solidFill>
                  <a:srgbClr val="8B8578"/>
                </a:solidFill>
                <a:latin typeface="MiSans"/>
                <a:ea typeface="MiSans"/>
              </a:rPr>
              <a:t>пять моделей, диетические треки, документооборот, экономика</a:t>
            </a:r>
            <a:endParaRPr lang="en-US" sz="1300" noProof="1"/>
          </a:p>
          <a:p>
            <a:pPr>
              <a:lnSpc>
                <a:spcPct val="132000"/>
              </a:lnSpc>
              <a:spcBef>
                <a:spcPts val="1000"/>
              </a:spcBef>
            </a:pPr>
            <a:r>
              <a:rPr lang="en-US" sz="1700" noProof="1">
                <a:solidFill>
                  <a:srgbClr val="2F4F5F"/>
                </a:solidFill>
                <a:latin typeface="Oranienbaum"/>
                <a:ea typeface="Oranienbaum"/>
              </a:rPr>
              <a:t>05</a:t>
            </a:r>
            <a:r>
              <a:rPr lang="en-US" sz="1300" noProof="1" b="1">
                <a:solidFill>
                  <a:srgbClr val="27231F"/>
                </a:solidFill>
                <a:latin typeface="MiSans"/>
                <a:ea typeface="MiSans"/>
              </a:rPr>
              <a:t>Контроль качества питания и защита прав проживающих</a:t>
            </a:r>
            <a:endParaRPr lang="en-US" sz="1300" noProof="1"/>
          </a:p>
          <a:p>
            <a:pPr>
              <a:lnSpc>
                <a:spcPct val="132000"/>
              </a:lnSpc>
              <a:spcBef>
                <a:spcPts val="200"/>
              </a:spcBef>
            </a:pPr>
            <a:r>
              <a:rPr lang="en-US" sz="1050" noProof="1">
                <a:solidFill>
                  <a:srgbClr val="8B8578"/>
                </a:solidFill>
                <a:latin typeface="MiSans"/>
                <a:ea typeface="MiSans"/>
              </a:rPr>
              <a:t>надзор, аудит, правозащитные механизмы</a:t>
            </a:r>
            <a:endParaRPr lang="en-US" sz="1300" noProof="1"/>
          </a:p>
          <a:p>
            <a:pPr>
              <a:lnSpc>
                <a:spcPct val="132000"/>
              </a:lnSpc>
              <a:spcBef>
                <a:spcPts val="1000"/>
              </a:spcBef>
            </a:pPr>
            <a:r>
              <a:rPr lang="en-US" sz="1700" noProof="1">
                <a:solidFill>
                  <a:srgbClr val="2F4F5F"/>
                </a:solidFill>
                <a:latin typeface="Oranienbaum"/>
                <a:ea typeface="Oranienbaum"/>
              </a:rPr>
              <a:t>06</a:t>
            </a:r>
            <a:r>
              <a:rPr lang="en-US" sz="1300" noProof="1" b="1">
                <a:solidFill>
                  <a:srgbClr val="27231F"/>
                </a:solidFill>
                <a:latin typeface="MiSans"/>
                <a:ea typeface="MiSans"/>
              </a:rPr>
              <a:t>Проблемы регулирования и предложения</a:t>
            </a:r>
            <a:endParaRPr lang="en-US" sz="1300" noProof="1"/>
          </a:p>
          <a:p>
            <a:pPr>
              <a:lnSpc>
                <a:spcPct val="132000"/>
              </a:lnSpc>
              <a:spcBef>
                <a:spcPts val="200"/>
              </a:spcBef>
            </a:pPr>
            <a:r>
              <a:rPr lang="en-US" sz="1050" noProof="1">
                <a:solidFill>
                  <a:srgbClr val="8B8578"/>
                </a:solidFill>
                <a:latin typeface="MiSans"/>
                <a:ea typeface="MiSans"/>
              </a:rPr>
              <a:t>пробелы, de lege ferenda, перспективы развития</a:t>
            </a:r>
            <a:endParaRPr lang="en-US" sz="1300" noProof="1"/>
          </a:p>
        </p:txBody>
      </p:sp>
      <p:sp>
        <p:nvSpPr>
          <p:cNvPr id="9" name="vline"/>
          <p:cNvSpPr/>
          <p:nvPr/>
        </p:nvSpPr>
        <p:spPr>
          <a:xfrm>
            <a:off x="8026400" y="1549400"/>
            <a:ext cx="12700" cy="45720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0" name="abouth"/>
          <p:cNvSpPr txBox="1"/>
          <p:nvPr/>
        </p:nvSpPr>
        <p:spPr>
          <a:xfrm>
            <a:off x="8432800" y="15494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2F4F5F"/>
                </a:solidFill>
                <a:latin typeface="MiSans"/>
                <a:ea typeface="MiSans"/>
              </a:rPr>
              <a:t>О докладе</a:t>
            </a:r>
            <a:endParaRPr lang="en-US" sz="1500" noProof="1"/>
          </a:p>
        </p:txBody>
      </p:sp>
      <p:sp>
        <p:nvSpPr>
          <p:cNvPr id="11" name="about"/>
          <p:cNvSpPr txBox="1"/>
          <p:nvPr/>
        </p:nvSpPr>
        <p:spPr>
          <a:xfrm>
            <a:off x="8432800" y="1905000"/>
            <a:ext cx="2946400" cy="431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Объём: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 83 страницы, 4 диаграммы, 26 таблиц, 7 приложений.</a:t>
            </a:r>
            <a:endParaRPr lang="en-US" sz="1150" noProof="1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Источники: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 37 позиций; 35 ссылок проверены 16.07.2026 (HTTP 200), недоступные из РФ ресурсы вынесены в список ручной проверки.</a:t>
            </a:r>
            <a:endParaRPr lang="en-US" sz="1150" noProof="1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Метод: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 анализ НПА федерального и регионального уровней, сравнительный анализ восьми субъектов РФ, обобщение документированных практик.</a:t>
            </a:r>
            <a:endParaRPr lang="en-US" sz="1150" noProof="1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Приложения: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 реестр НПА, реестр ссылок, модель меню, чек-лист внедрения, проект локального акта, глоссарий.</a:t>
            </a:r>
            <a:endParaRPr lang="en-US" sz="115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2F4F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num"/>
          <p:cNvSpPr txBox="1"/>
          <p:nvPr/>
        </p:nvSpPr>
        <p:spPr>
          <a:xfrm>
            <a:off x="711200" y="1371600"/>
            <a:ext cx="4318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800" noProof="1">
                <a:solidFill>
                  <a:srgbClr val="FFFFFF">
                    <a:alpha val="12157"/>
                  </a:srgbClr>
                </a:solidFill>
                <a:latin typeface="Oranienbaum"/>
                <a:ea typeface="Oranienbaum"/>
              </a:rPr>
              <a:t>01</a:t>
            </a:r>
            <a:endParaRPr lang="en-US" sz="12800" noProof="1"/>
          </a:p>
        </p:txBody>
      </p:sp>
      <p:sp>
        <p:nvSpPr>
          <p:cNvPr id="3" name="seclabel"/>
          <p:cNvSpPr txBox="1"/>
          <p:nvPr/>
        </p:nvSpPr>
        <p:spPr>
          <a:xfrm>
            <a:off x="812800" y="3759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РАЗДЕЛ 1</a:t>
            </a:r>
            <a:endParaRPr lang="en-US" sz="1100" noProof="1"/>
          </a:p>
        </p:txBody>
      </p:sp>
      <p:sp>
        <p:nvSpPr>
          <p:cNvPr id="4" name="dtitle"/>
          <p:cNvSpPr txBox="1"/>
          <p:nvPr/>
        </p:nvSpPr>
        <p:spPr>
          <a:xfrm>
            <a:off x="812800" y="4089400"/>
            <a:ext cx="10160000" cy="1244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400" noProof="1">
                <a:solidFill>
                  <a:srgbClr val="FFFFFF"/>
                </a:solidFill>
                <a:latin typeface="Oranienbaum"/>
                <a:ea typeface="Oranienbaum"/>
              </a:rPr>
              <a:t>Понятийный аппарат и история правового регулирования</a:t>
            </a:r>
            <a:endParaRPr lang="en-US" sz="3400" noProof="1"/>
          </a:p>
        </p:txBody>
      </p:sp>
      <p:sp>
        <p:nvSpPr>
          <p:cNvPr id="5" name="drule"/>
          <p:cNvSpPr/>
          <p:nvPr/>
        </p:nvSpPr>
        <p:spPr>
          <a:xfrm>
            <a:off x="812800" y="5511800"/>
            <a:ext cx="812800" cy="38100"/>
          </a:xfrm>
          <a:prstGeom prst="rect">
            <a:avLst/>
          </a:prstGeom>
          <a:solidFill>
            <a:srgbClr val="B66A3C"/>
          </a:solidFill>
          <a:ln>
            <a:noFill/>
          </a:ln>
        </p:spPr>
      </p:sp>
      <p:sp>
        <p:nvSpPr>
          <p:cNvPr id="6" name="dsub"/>
          <p:cNvSpPr txBox="1"/>
          <p:nvPr/>
        </p:nvSpPr>
        <p:spPr>
          <a:xfrm>
            <a:off x="812800" y="5715000"/>
            <a:ext cx="9652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350" noProof="1" i="1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Что такое вариативное меню, каким учреждениям оно относится и как складывалось регулирование питания в соцобслуживании (1993–2026)</a:t>
            </a:r>
            <a:endParaRPr lang="en-US" sz="1350" noProof="1"/>
          </a:p>
        </p:txBody>
      </p:sp>
      <p:sp>
        <p:nvSpPr>
          <p:cNvPr id="7" name="dnum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03 / 28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spc="250" kern="0">
                <a:solidFill>
                  <a:srgbClr val="2F4F5F"/>
                </a:solidFill>
                <a:latin typeface="MiSans"/>
                <a:ea typeface="MiSans"/>
              </a:rPr>
              <a:t>РАЗДЕЛ 1 · ОБЪЕКТ РЕГУЛИРОВАНИЯ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842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700" noProof="1">
                <a:solidFill>
                  <a:srgbClr val="27231F"/>
                </a:solidFill>
                <a:latin typeface="Oranienbaum"/>
                <a:ea typeface="Oranienbaum"/>
              </a:rPr>
              <a:t>Стационарное соцобслуживание в цифрах</a:t>
            </a:r>
            <a:endParaRPr lang="en-US" sz="2700" noProof="1"/>
          </a:p>
        </p:txBody>
      </p:sp>
      <p:sp>
        <p:nvSpPr>
          <p:cNvPr id="4" name="h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5" name="frul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6" name="fleft"/>
          <p:cNvSpPr txBox="1"/>
          <p:nvPr/>
        </p:nvSpPr>
        <p:spPr>
          <a:xfrm>
            <a:off x="812800" y="65024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Вариативное меню в учреждениях социального обслуживания · Аналитический доклад · 2026</a:t>
            </a:r>
            <a:endParaRPr lang="en-US" sz="1000" noProof="1"/>
          </a:p>
        </p:txBody>
      </p:sp>
      <p:sp>
        <p:nvSpPr>
          <p:cNvPr id="7" name="fright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04 / 28</a:t>
            </a:r>
            <a:endParaRPr lang="en-US" sz="1000" noProof="1"/>
          </a:p>
        </p:txBody>
      </p:sp>
      <p:sp>
        <p:nvSpPr>
          <p:cNvPr id="8" name="st0n"/>
          <p:cNvSpPr txBox="1"/>
          <p:nvPr/>
        </p:nvSpPr>
        <p:spPr>
          <a:xfrm>
            <a:off x="812800" y="16002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2F4F5F"/>
                </a:solidFill>
                <a:latin typeface="Oranienbaum"/>
                <a:ea typeface="Oranienbaum"/>
              </a:rPr>
              <a:t>5 481</a:t>
            </a:r>
            <a:endParaRPr lang="en-US" sz="3000" noProof="1"/>
          </a:p>
        </p:txBody>
      </p:sp>
      <p:sp>
        <p:nvSpPr>
          <p:cNvPr id="9" name="st0l"/>
          <p:cNvSpPr txBox="1"/>
          <p:nvPr/>
        </p:nvSpPr>
        <p:spPr>
          <a:xfrm>
            <a:off x="2489200" y="1625600"/>
            <a:ext cx="3403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организация социального обслуживания в Российской Федерации</a:t>
            </a:r>
            <a:endParaRPr lang="en-US" sz="1150" noProof="1"/>
          </a:p>
        </p:txBody>
      </p:sp>
      <p:sp>
        <p:nvSpPr>
          <p:cNvPr id="10" name="st0r"/>
          <p:cNvSpPr/>
          <p:nvPr/>
        </p:nvSpPr>
        <p:spPr>
          <a:xfrm>
            <a:off x="812800" y="2235200"/>
            <a:ext cx="50800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1" name="st1n"/>
          <p:cNvSpPr txBox="1"/>
          <p:nvPr/>
        </p:nvSpPr>
        <p:spPr>
          <a:xfrm>
            <a:off x="812800" y="23876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2F4F5F"/>
                </a:solidFill>
                <a:latin typeface="Oranienbaum"/>
                <a:ea typeface="Oranienbaum"/>
              </a:rPr>
              <a:t>1 400+</a:t>
            </a:r>
            <a:endParaRPr lang="en-US" sz="3000" noProof="1"/>
          </a:p>
        </p:txBody>
      </p:sp>
      <p:sp>
        <p:nvSpPr>
          <p:cNvPr id="12" name="st1l"/>
          <p:cNvSpPr txBox="1"/>
          <p:nvPr/>
        </p:nvSpPr>
        <p:spPr>
          <a:xfrm>
            <a:off x="2489200" y="2413000"/>
            <a:ext cx="3403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стационарных учреждений — дома-интернаты, ПНИ, геронтологические центры</a:t>
            </a:r>
            <a:endParaRPr lang="en-US" sz="1150" noProof="1"/>
          </a:p>
        </p:txBody>
      </p:sp>
      <p:sp>
        <p:nvSpPr>
          <p:cNvPr id="13" name="st1r"/>
          <p:cNvSpPr/>
          <p:nvPr/>
        </p:nvSpPr>
        <p:spPr>
          <a:xfrm>
            <a:off x="812800" y="3022600"/>
            <a:ext cx="50800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4" name="st2n"/>
          <p:cNvSpPr txBox="1"/>
          <p:nvPr/>
        </p:nvSpPr>
        <p:spPr>
          <a:xfrm>
            <a:off x="812800" y="31750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2F4F5F"/>
                </a:solidFill>
                <a:latin typeface="Oranienbaum"/>
                <a:ea typeface="Oranienbaum"/>
              </a:rPr>
              <a:t>517</a:t>
            </a:r>
            <a:endParaRPr lang="en-US" sz="3000" noProof="1"/>
          </a:p>
        </p:txBody>
      </p:sp>
      <p:sp>
        <p:nvSpPr>
          <p:cNvPr id="15" name="st2l"/>
          <p:cNvSpPr txBox="1"/>
          <p:nvPr/>
        </p:nvSpPr>
        <p:spPr>
          <a:xfrm>
            <a:off x="2489200" y="3200400"/>
            <a:ext cx="3403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стационарных отделений в составе нестационарных организаций</a:t>
            </a:r>
            <a:endParaRPr lang="en-US" sz="1150" noProof="1"/>
          </a:p>
        </p:txBody>
      </p:sp>
      <p:sp>
        <p:nvSpPr>
          <p:cNvPr id="16" name="st2r"/>
          <p:cNvSpPr/>
          <p:nvPr/>
        </p:nvSpPr>
        <p:spPr>
          <a:xfrm>
            <a:off x="812800" y="3810000"/>
            <a:ext cx="50800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7" name="st3n"/>
          <p:cNvSpPr txBox="1"/>
          <p:nvPr/>
        </p:nvSpPr>
        <p:spPr>
          <a:xfrm>
            <a:off x="812800" y="39624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2F4F5F"/>
                </a:solidFill>
                <a:latin typeface="Oranienbaum"/>
                <a:ea typeface="Oranienbaum"/>
              </a:rPr>
              <a:t>3,6 млн</a:t>
            </a:r>
            <a:endParaRPr lang="en-US" sz="3000" noProof="1"/>
          </a:p>
        </p:txBody>
      </p:sp>
      <p:sp>
        <p:nvSpPr>
          <p:cNvPr id="18" name="st3l"/>
          <p:cNvSpPr txBox="1"/>
          <p:nvPr/>
        </p:nvSpPr>
        <p:spPr>
          <a:xfrm>
            <a:off x="2489200" y="3987800"/>
            <a:ext cx="3403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получателей социальных услуг во всех формах обслуживания</a:t>
            </a:r>
            <a:endParaRPr lang="en-US" sz="1150" noProof="1"/>
          </a:p>
        </p:txBody>
      </p:sp>
      <p:sp>
        <p:nvSpPr>
          <p:cNvPr id="19" name="stsrc"/>
          <p:cNvSpPr txBox="1"/>
          <p:nvPr/>
        </p:nvSpPr>
        <p:spPr>
          <a:xfrm>
            <a:off x="812800" y="4775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Тематический доклад Уполномоченного по правам человека в РФ «Социальное обслуживание» [37]; данные Минтруда России</a:t>
            </a:r>
            <a:endParaRPr lang="en-US" sz="1000" noProof="1"/>
          </a:p>
        </p:txBody>
      </p:sp>
      <p:sp>
        <p:nvSpPr>
          <p:cNvPr id="20" name="vline"/>
          <p:cNvSpPr/>
          <p:nvPr/>
        </p:nvSpPr>
        <p:spPr>
          <a:xfrm>
            <a:off x="6299200" y="1600200"/>
            <a:ext cx="12700" cy="41910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21" name="vidh"/>
          <p:cNvSpPr txBox="1"/>
          <p:nvPr/>
        </p:nvSpPr>
        <p:spPr>
          <a:xfrm>
            <a:off x="6705600" y="1600200"/>
            <a:ext cx="4673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2F4F5F"/>
                </a:solidFill>
                <a:latin typeface="MiSans"/>
                <a:ea typeface="MiSans"/>
              </a:rPr>
              <a:t>Виды стационарных учреждений</a:t>
            </a:r>
            <a:endParaRPr lang="en-US" sz="1500" noProof="1"/>
          </a:p>
        </p:txBody>
      </p:sp>
      <p:sp>
        <p:nvSpPr>
          <p:cNvPr id="22" name="vidlist"/>
          <p:cNvSpPr txBox="1"/>
          <p:nvPr/>
        </p:nvSpPr>
        <p:spPr>
          <a:xfrm>
            <a:off x="6705600" y="1930400"/>
            <a:ext cx="4673600" cy="223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дома-интернаты для престарелых и инвалидов (в т.ч. малого и среднего типа)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психоневрологические интернаты (ПНИ)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дома милосердия, геронтологические дома (центры)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дома ветеранов, пансионаты для ветеранов труда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хосписы, реабилитационные центры</a:t>
            </a:r>
            <a:endParaRPr lang="en-US" sz="1200" noProof="1"/>
          </a:p>
        </p:txBody>
      </p:sp>
      <p:sp>
        <p:nvSpPr>
          <p:cNvPr id="23" name="vidnote"/>
          <p:cNvSpPr txBox="1"/>
          <p:nvPr/>
        </p:nvSpPr>
        <p:spPr>
          <a:xfrm>
            <a:off x="6705600" y="4267200"/>
            <a:ext cx="4673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Номенклатура — приказ Минтруда России № 258н. Детские дома-интернаты в доклад не входят (специальные правила — СанПиН 2.4.3259-15)</a:t>
            </a:r>
            <a:endParaRPr lang="en-US" sz="1000" noProof="1"/>
          </a:p>
        </p:txBody>
      </p:sp>
      <p:sp>
        <p:nvSpPr>
          <p:cNvPr id="24" name="vidaccent"/>
          <p:cNvSpPr txBox="1"/>
          <p:nvPr/>
        </p:nvSpPr>
        <p:spPr>
          <a:xfrm>
            <a:off x="6705600" y="4978400"/>
            <a:ext cx="46736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 noProof="1" b="1">
                <a:solidFill>
                  <a:srgbClr val="2F4F5F"/>
                </a:solidFill>
                <a:latin typeface="MiSans"/>
                <a:ea typeface="MiSans"/>
              </a:rPr>
              <a:t>Питание — единственная услуга, предоставляемая круглосуточно весь период проживания:</a:t>
            </a:r>
            <a:r>
              <a:rPr lang="en-US" sz="1300" noProof="1">
                <a:solidFill>
                  <a:srgbClr val="2F4F5F"/>
                </a:solidFill>
                <a:latin typeface="MiSans"/>
                <a:ea typeface="MiSans"/>
              </a:rPr>
              <a:t> оно фактически полностью определяет рацион человека</a:t>
            </a:r>
            <a:endParaRPr lang="en-US" sz="13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spc="250" kern="0">
                <a:solidFill>
                  <a:srgbClr val="2F4F5F"/>
                </a:solidFill>
                <a:latin typeface="MiSans"/>
                <a:ea typeface="MiSans"/>
              </a:rPr>
              <a:t>РАЗДЕЛ 1 · ПОНЯТИЙНЫЙ АППАРАТ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842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700" noProof="1">
                <a:solidFill>
                  <a:srgbClr val="27231F"/>
                </a:solidFill>
                <a:latin typeface="Oranienbaum"/>
                <a:ea typeface="Oranienbaum"/>
              </a:rPr>
              <a:t>«Вариативное меню» — дефиниция и разграничение</a:t>
            </a:r>
            <a:endParaRPr lang="en-US" sz="2700" noProof="1"/>
          </a:p>
        </p:txBody>
      </p:sp>
      <p:sp>
        <p:nvSpPr>
          <p:cNvPr id="4" name="h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5" name="frul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6" name="fleft"/>
          <p:cNvSpPr txBox="1"/>
          <p:nvPr/>
        </p:nvSpPr>
        <p:spPr>
          <a:xfrm>
            <a:off x="812800" y="65024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Вариативное меню в учреждениях социального обслуживания · Аналитический доклад · 2026</a:t>
            </a:r>
            <a:endParaRPr lang="en-US" sz="1000" noProof="1"/>
          </a:p>
        </p:txBody>
      </p:sp>
      <p:sp>
        <p:nvSpPr>
          <p:cNvPr id="7" name="fright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05 / 28</a:t>
            </a:r>
            <a:endParaRPr lang="en-US" sz="1000" noProof="1"/>
          </a:p>
        </p:txBody>
      </p:sp>
      <p:sp>
        <p:nvSpPr>
          <p:cNvPr id="8" name="qbar"/>
          <p:cNvSpPr/>
          <p:nvPr/>
        </p:nvSpPr>
        <p:spPr>
          <a:xfrm>
            <a:off x="812800" y="1625600"/>
            <a:ext cx="50800" cy="1905000"/>
          </a:xfrm>
          <a:prstGeom prst="rect">
            <a:avLst/>
          </a:prstGeom>
          <a:solidFill>
            <a:srgbClr val="B66A3C"/>
          </a:solidFill>
          <a:ln>
            <a:noFill/>
          </a:ln>
        </p:spPr>
      </p:sp>
      <p:sp>
        <p:nvSpPr>
          <p:cNvPr id="9" name="quote"/>
          <p:cNvSpPr txBox="1"/>
          <p:nvPr/>
        </p:nvSpPr>
        <p:spPr>
          <a:xfrm>
            <a:off x="1066800" y="1625600"/>
            <a:ext cx="6096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50" noProof="1" i="1">
                <a:solidFill>
                  <a:srgbClr val="27231F"/>
                </a:solidFill>
                <a:latin typeface="MiSans"/>
                <a:ea typeface="MiSans"/>
              </a:rPr>
              <a:t>Федерального определения «вариативного меню» не существует. Рабочая дефиниция доклада — модель организации питания, при которой проживающему регулярно предоставляется документированный выбор между двумя и более вариантами блюд равной пищевой ценности в рамках утверждённых норм питания</a:t>
            </a:r>
            <a:endParaRPr lang="en-US" sz="1450" noProof="1"/>
          </a:p>
        </p:txBody>
      </p:sp>
      <p:sp>
        <p:nvSpPr>
          <p:cNvPr id="10" name="synh"/>
          <p:cNvSpPr txBox="1"/>
          <p:nvPr/>
        </p:nvSpPr>
        <p:spPr>
          <a:xfrm>
            <a:off x="1066800" y="37084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2F4F5F"/>
                </a:solidFill>
                <a:latin typeface="MiSans"/>
                <a:ea typeface="MiSans"/>
              </a:rPr>
              <a:t>Практические синонимы</a:t>
            </a:r>
            <a:endParaRPr lang="en-US" sz="1500" noProof="1"/>
          </a:p>
        </p:txBody>
      </p:sp>
      <p:sp>
        <p:nvSpPr>
          <p:cNvPr id="11" name="syn"/>
          <p:cNvSpPr txBox="1"/>
          <p:nvPr/>
        </p:nvSpPr>
        <p:spPr>
          <a:xfrm>
            <a:off x="1066800" y="3987800"/>
            <a:ext cx="609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вариативное питание · меню с правом выбора блюд · двухвариантное (многовариантное) меню · меню-заказ · элементы «шведского стола»</a:t>
            </a:r>
            <a:endParaRPr lang="en-US" sz="1200" noProof="1"/>
          </a:p>
        </p:txBody>
      </p:sp>
      <p:sp>
        <p:nvSpPr>
          <p:cNvPr id="12" name="legal"/>
          <p:cNvSpPr txBox="1"/>
          <p:nvPr/>
        </p:nvSpPr>
        <p:spPr>
          <a:xfrm>
            <a:off x="1066800" y="4902200"/>
            <a:ext cx="6096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27231F"/>
                </a:solidFill>
                <a:latin typeface="MiSans"/>
                <a:ea typeface="MiSans"/>
              </a:rPr>
              <a:t>Ближайшая нормативная опора: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ст. 9 ФЗ-442 — права получателей на уважительное и гуманное отношение и на информацию об услугах; региональные стандарты качества социальных услуг [2]</a:t>
            </a:r>
            <a:endParaRPr lang="en-US" sz="1200" noProof="1"/>
          </a:p>
        </p:txBody>
      </p:sp>
      <p:sp>
        <p:nvSpPr>
          <p:cNvPr id="13" name="vline"/>
          <p:cNvSpPr/>
          <p:nvPr/>
        </p:nvSpPr>
        <p:spPr>
          <a:xfrm>
            <a:off x="7569200" y="1625600"/>
            <a:ext cx="12700" cy="43180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4" name="difh"/>
          <p:cNvSpPr txBox="1"/>
          <p:nvPr/>
        </p:nvSpPr>
        <p:spPr>
          <a:xfrm>
            <a:off x="7924800" y="1625600"/>
            <a:ext cx="3454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2F4F5F"/>
                </a:solidFill>
                <a:latin typeface="MiSans"/>
                <a:ea typeface="MiSans"/>
              </a:rPr>
              <a:t>Разграничение понятий</a:t>
            </a:r>
            <a:endParaRPr lang="en-US" sz="1500" noProof="1"/>
          </a:p>
        </p:txBody>
      </p:sp>
      <p:sp>
        <p:nvSpPr>
          <p:cNvPr id="15" name="dif1"/>
          <p:cNvSpPr txBox="1"/>
          <p:nvPr/>
        </p:nvSpPr>
        <p:spPr>
          <a:xfrm>
            <a:off x="7924800" y="1981200"/>
            <a:ext cx="34544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Диетическое питание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 — обязательная вариативность по медицинским показаниям (п. 7.1.11 СанПиН 3590-20); не зависит от воли учреждения</a:t>
            </a:r>
            <a:endParaRPr lang="en-US" sz="1150" noProof="1"/>
          </a:p>
        </p:txBody>
      </p:sp>
      <p:sp>
        <p:nvSpPr>
          <p:cNvPr id="16" name="dif2"/>
          <p:cNvSpPr txBox="1"/>
          <p:nvPr/>
        </p:nvSpPr>
        <p:spPr>
          <a:xfrm>
            <a:off x="7924800" y="3327400"/>
            <a:ext cx="34544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Вариативное меню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 — сфера качества услуги и вкусовых предпочтений — выбор там, где медицинских различий в рационах нет</a:t>
            </a:r>
            <a:endParaRPr lang="en-US" sz="1150" noProof="1"/>
          </a:p>
        </p:txBody>
      </p:sp>
      <p:sp>
        <p:nvSpPr>
          <p:cNvPr id="17" name="dif3"/>
          <p:cNvSpPr txBox="1"/>
          <p:nvPr/>
        </p:nvSpPr>
        <p:spPr>
          <a:xfrm>
            <a:off x="7924800" y="4673600"/>
            <a:ext cx="34544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Персонализированное питание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 — более широкое понятие — здоровье, культурные и религиозные предпочтения, текстурные потребности</a:t>
            </a:r>
            <a:endParaRPr lang="en-US" sz="115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spc="250" kern="0">
                <a:solidFill>
                  <a:srgbClr val="2F4F5F"/>
                </a:solidFill>
                <a:latin typeface="MiSans"/>
                <a:ea typeface="MiSans"/>
              </a:rPr>
              <a:t>РАЗДЕЛ 1 · ИСТОРИЯ РЕГУЛИРОВАНИЯ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842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700" noProof="1">
                <a:solidFill>
                  <a:srgbClr val="27231F"/>
                </a:solidFill>
                <a:latin typeface="Oranienbaum"/>
                <a:ea typeface="Oranienbaum"/>
              </a:rPr>
              <a:t>История правового регулирования — 1993–2026</a:t>
            </a:r>
            <a:endParaRPr lang="en-US" sz="2700" noProof="1"/>
          </a:p>
        </p:txBody>
      </p:sp>
      <p:sp>
        <p:nvSpPr>
          <p:cNvPr id="4" name="h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5" name="frul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6" name="fleft"/>
          <p:cNvSpPr txBox="1"/>
          <p:nvPr/>
        </p:nvSpPr>
        <p:spPr>
          <a:xfrm>
            <a:off x="812800" y="65024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Вариативное меню в учреждениях социального обслуживания · Аналитический доклад · 2026</a:t>
            </a:r>
            <a:endParaRPr lang="en-US" sz="1000" noProof="1"/>
          </a:p>
        </p:txBody>
      </p:sp>
      <p:sp>
        <p:nvSpPr>
          <p:cNvPr id="7" name="fright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06 / 28</a:t>
            </a:r>
            <a:endParaRPr lang="en-US" sz="1000" noProof="1"/>
          </a:p>
        </p:txBody>
      </p:sp>
      <p:sp>
        <p:nvSpPr>
          <p:cNvPr id="8" name="axis"/>
          <p:cNvSpPr/>
          <p:nvPr/>
        </p:nvSpPr>
        <p:spPr>
          <a:xfrm>
            <a:off x="812800" y="3416300"/>
            <a:ext cx="10566400" cy="25400"/>
          </a:xfrm>
          <a:prstGeom prst="rect">
            <a:avLst/>
          </a:prstGeom>
          <a:solidFill>
            <a:srgbClr val="2F4F5F"/>
          </a:solidFill>
          <a:ln>
            <a:noFill/>
          </a:ln>
        </p:spPr>
      </p:sp>
      <p:sp>
        <p:nvSpPr>
          <p:cNvPr id="9" name="dot0"/>
          <p:cNvSpPr/>
          <p:nvPr/>
        </p:nvSpPr>
        <p:spPr>
          <a:xfrm>
            <a:off x="1397000" y="3352800"/>
            <a:ext cx="152400" cy="152400"/>
          </a:xfrm>
          <a:prstGeom prst="ellipse">
            <a:avLst/>
          </a:prstGeom>
          <a:solidFill>
            <a:srgbClr val="B66A3C"/>
          </a:solidFill>
          <a:ln w="25400">
            <a:solidFill>
              <a:srgbClr val="F7F3E8"/>
            </a:solidFill>
          </a:ln>
        </p:spPr>
      </p:sp>
      <p:sp>
        <p:nvSpPr>
          <p:cNvPr id="10" name="mt0"/>
          <p:cNvSpPr txBox="1"/>
          <p:nvPr/>
        </p:nvSpPr>
        <p:spPr>
          <a:xfrm>
            <a:off x="812800" y="2032000"/>
            <a:ext cx="13208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ctr">
              <a:lnSpc>
                <a:spcPct val="125000"/>
              </a:lnSpc>
            </a:pPr>
            <a:r>
              <a:rPr lang="en-US" sz="1400" noProof="1" b="1">
                <a:solidFill>
                  <a:srgbClr val="2F4F5F"/>
                </a:solidFill>
                <a:latin typeface="MiSans"/>
                <a:ea typeface="MiSans"/>
              </a:rPr>
              <a:t>1993</a:t>
            </a:r>
            <a:endParaRPr lang="en-US" sz="1600" noProof="1"/>
          </a:p>
          <a:p>
            <a:pPr algn="ctr">
              <a:lnSpc>
                <a:spcPct val="125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27231F"/>
                </a:solidFill>
                <a:latin typeface="MiSans"/>
                <a:ea typeface="MiSans"/>
              </a:rPr>
              <a:t>Основы законодательства о социальном обслуживании</a:t>
            </a:r>
            <a:endParaRPr lang="en-US" sz="1600" noProof="1"/>
          </a:p>
        </p:txBody>
      </p:sp>
      <p:sp>
        <p:nvSpPr>
          <p:cNvPr id="11" name="dot1"/>
          <p:cNvSpPr/>
          <p:nvPr/>
        </p:nvSpPr>
        <p:spPr>
          <a:xfrm>
            <a:off x="2768600" y="3352800"/>
            <a:ext cx="152400" cy="152400"/>
          </a:xfrm>
          <a:prstGeom prst="ellipse">
            <a:avLst/>
          </a:prstGeom>
          <a:solidFill>
            <a:srgbClr val="B66A3C"/>
          </a:solidFill>
          <a:ln w="25400">
            <a:solidFill>
              <a:srgbClr val="F7F3E8"/>
            </a:solidFill>
          </a:ln>
        </p:spPr>
      </p:sp>
      <p:sp>
        <p:nvSpPr>
          <p:cNvPr id="12" name="mt1"/>
          <p:cNvSpPr txBox="1"/>
          <p:nvPr/>
        </p:nvSpPr>
        <p:spPr>
          <a:xfrm>
            <a:off x="2184400" y="3657600"/>
            <a:ext cx="13208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5000"/>
              </a:lnSpc>
            </a:pPr>
            <a:r>
              <a:rPr lang="en-US" sz="1400" noProof="1" b="1">
                <a:solidFill>
                  <a:srgbClr val="2F4F5F"/>
                </a:solidFill>
                <a:latin typeface="MiSans"/>
                <a:ea typeface="MiSans"/>
              </a:rPr>
              <a:t>1995</a:t>
            </a:r>
            <a:endParaRPr lang="en-US" sz="1600" noProof="1"/>
          </a:p>
          <a:p>
            <a:pPr algn="ctr">
              <a:lnSpc>
                <a:spcPct val="125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27231F"/>
                </a:solidFill>
                <a:latin typeface="MiSans"/>
                <a:ea typeface="MiSans"/>
              </a:rPr>
              <a:t>ФЗ-181 «О социальной защите инвалидов»</a:t>
            </a:r>
            <a:endParaRPr lang="en-US" sz="1600" noProof="1"/>
          </a:p>
        </p:txBody>
      </p:sp>
      <p:sp>
        <p:nvSpPr>
          <p:cNvPr id="13" name="dot2"/>
          <p:cNvSpPr/>
          <p:nvPr/>
        </p:nvSpPr>
        <p:spPr>
          <a:xfrm>
            <a:off x="4140200" y="3352800"/>
            <a:ext cx="152400" cy="152400"/>
          </a:xfrm>
          <a:prstGeom prst="ellipse">
            <a:avLst/>
          </a:prstGeom>
          <a:solidFill>
            <a:srgbClr val="B66A3C"/>
          </a:solidFill>
          <a:ln w="25400">
            <a:solidFill>
              <a:srgbClr val="F7F3E8"/>
            </a:solidFill>
          </a:ln>
        </p:spPr>
      </p:sp>
      <p:sp>
        <p:nvSpPr>
          <p:cNvPr id="14" name="mt2"/>
          <p:cNvSpPr txBox="1"/>
          <p:nvPr/>
        </p:nvSpPr>
        <p:spPr>
          <a:xfrm>
            <a:off x="3556000" y="2032000"/>
            <a:ext cx="13208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ctr">
              <a:lnSpc>
                <a:spcPct val="125000"/>
              </a:lnSpc>
            </a:pPr>
            <a:r>
              <a:rPr lang="en-US" sz="1400" noProof="1" b="1">
                <a:solidFill>
                  <a:srgbClr val="2F4F5F"/>
                </a:solidFill>
                <a:latin typeface="MiSans"/>
                <a:ea typeface="MiSans"/>
              </a:rPr>
              <a:t>2002</a:t>
            </a:r>
            <a:endParaRPr lang="en-US" sz="1600" noProof="1"/>
          </a:p>
          <a:p>
            <a:pPr algn="ctr">
              <a:lnSpc>
                <a:spcPct val="125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27231F"/>
                </a:solidFill>
                <a:latin typeface="MiSans"/>
                <a:ea typeface="MiSans"/>
              </a:rPr>
              <a:t>Пост. Минтруда № 12 — первые нормы питания</a:t>
            </a:r>
            <a:endParaRPr lang="en-US" sz="1600" noProof="1"/>
          </a:p>
        </p:txBody>
      </p:sp>
      <p:sp>
        <p:nvSpPr>
          <p:cNvPr id="15" name="dot3"/>
          <p:cNvSpPr/>
          <p:nvPr/>
        </p:nvSpPr>
        <p:spPr>
          <a:xfrm>
            <a:off x="5511800" y="3352800"/>
            <a:ext cx="152400" cy="152400"/>
          </a:xfrm>
          <a:prstGeom prst="ellipse">
            <a:avLst/>
          </a:prstGeom>
          <a:solidFill>
            <a:srgbClr val="B66A3C"/>
          </a:solidFill>
          <a:ln w="25400">
            <a:solidFill>
              <a:srgbClr val="F7F3E8"/>
            </a:solidFill>
          </a:ln>
        </p:spPr>
      </p:sp>
      <p:sp>
        <p:nvSpPr>
          <p:cNvPr id="16" name="mt3"/>
          <p:cNvSpPr txBox="1"/>
          <p:nvPr/>
        </p:nvSpPr>
        <p:spPr>
          <a:xfrm>
            <a:off x="4927600" y="3657600"/>
            <a:ext cx="13208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5000"/>
              </a:lnSpc>
            </a:pPr>
            <a:r>
              <a:rPr lang="en-US" sz="1400" noProof="1" b="1">
                <a:solidFill>
                  <a:srgbClr val="2F4F5F"/>
                </a:solidFill>
                <a:latin typeface="MiSans"/>
                <a:ea typeface="MiSans"/>
              </a:rPr>
              <a:t>2013</a:t>
            </a:r>
            <a:endParaRPr lang="en-US" sz="1600" noProof="1"/>
          </a:p>
          <a:p>
            <a:pPr algn="ctr">
              <a:lnSpc>
                <a:spcPct val="125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27231F"/>
                </a:solidFill>
                <a:latin typeface="MiSans"/>
                <a:ea typeface="MiSans"/>
              </a:rPr>
              <a:t>ФЗ-442; приказ № 395н — стандартные диеты</a:t>
            </a:r>
            <a:endParaRPr lang="en-US" sz="1600" noProof="1"/>
          </a:p>
        </p:txBody>
      </p:sp>
      <p:sp>
        <p:nvSpPr>
          <p:cNvPr id="17" name="dot4"/>
          <p:cNvSpPr/>
          <p:nvPr/>
        </p:nvSpPr>
        <p:spPr>
          <a:xfrm>
            <a:off x="6883400" y="3352800"/>
            <a:ext cx="152400" cy="152400"/>
          </a:xfrm>
          <a:prstGeom prst="ellipse">
            <a:avLst/>
          </a:prstGeom>
          <a:solidFill>
            <a:srgbClr val="B66A3C"/>
          </a:solidFill>
          <a:ln w="25400">
            <a:solidFill>
              <a:srgbClr val="F7F3E8"/>
            </a:solidFill>
          </a:ln>
        </p:spPr>
      </p:sp>
      <p:sp>
        <p:nvSpPr>
          <p:cNvPr id="18" name="mt4"/>
          <p:cNvSpPr txBox="1"/>
          <p:nvPr/>
        </p:nvSpPr>
        <p:spPr>
          <a:xfrm>
            <a:off x="6299200" y="2032000"/>
            <a:ext cx="13208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ctr">
              <a:lnSpc>
                <a:spcPct val="125000"/>
              </a:lnSpc>
            </a:pPr>
            <a:r>
              <a:rPr lang="en-US" sz="1400" noProof="1" b="1">
                <a:solidFill>
                  <a:srgbClr val="2F4F5F"/>
                </a:solidFill>
                <a:latin typeface="MiSans"/>
                <a:ea typeface="MiSans"/>
              </a:rPr>
              <a:t>2014–15</a:t>
            </a:r>
            <a:endParaRPr lang="en-US" sz="1600" noProof="1"/>
          </a:p>
          <a:p>
            <a:pPr algn="ctr">
              <a:lnSpc>
                <a:spcPct val="125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27231F"/>
                </a:solidFill>
                <a:latin typeface="MiSans"/>
                <a:ea typeface="MiSans"/>
              </a:rPr>
              <a:t>Региональные нормы питания (в исполнение ФЗ-442)</a:t>
            </a:r>
            <a:endParaRPr lang="en-US" sz="1600" noProof="1"/>
          </a:p>
        </p:txBody>
      </p:sp>
      <p:sp>
        <p:nvSpPr>
          <p:cNvPr id="19" name="dot5"/>
          <p:cNvSpPr/>
          <p:nvPr/>
        </p:nvSpPr>
        <p:spPr>
          <a:xfrm>
            <a:off x="8255000" y="3352800"/>
            <a:ext cx="152400" cy="152400"/>
          </a:xfrm>
          <a:prstGeom prst="ellipse">
            <a:avLst/>
          </a:prstGeom>
          <a:solidFill>
            <a:srgbClr val="B66A3C"/>
          </a:solidFill>
          <a:ln w="25400">
            <a:solidFill>
              <a:srgbClr val="F7F3E8"/>
            </a:solidFill>
          </a:ln>
        </p:spPr>
      </p:sp>
      <p:sp>
        <p:nvSpPr>
          <p:cNvPr id="20" name="mt5"/>
          <p:cNvSpPr txBox="1"/>
          <p:nvPr/>
        </p:nvSpPr>
        <p:spPr>
          <a:xfrm>
            <a:off x="7670800" y="3657600"/>
            <a:ext cx="13208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5000"/>
              </a:lnSpc>
            </a:pPr>
            <a:r>
              <a:rPr lang="en-US" sz="1400" noProof="1" b="1">
                <a:solidFill>
                  <a:srgbClr val="2F4F5F"/>
                </a:solidFill>
                <a:latin typeface="MiSans"/>
                <a:ea typeface="MiSans"/>
              </a:rPr>
              <a:t>2020</a:t>
            </a:r>
            <a:endParaRPr lang="en-US" sz="1600" noProof="1"/>
          </a:p>
          <a:p>
            <a:pPr algn="ctr">
              <a:lnSpc>
                <a:spcPct val="125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27231F"/>
                </a:solidFill>
                <a:latin typeface="MiSans"/>
                <a:ea typeface="MiSans"/>
              </a:rPr>
              <a:t>СанПиН 2.3/2.4.3590-20, п. 7.1.11</a:t>
            </a:r>
            <a:endParaRPr lang="en-US" sz="1600" noProof="1"/>
          </a:p>
        </p:txBody>
      </p:sp>
      <p:sp>
        <p:nvSpPr>
          <p:cNvPr id="21" name="dot6"/>
          <p:cNvSpPr/>
          <p:nvPr/>
        </p:nvSpPr>
        <p:spPr>
          <a:xfrm>
            <a:off x="9626600" y="3352800"/>
            <a:ext cx="152400" cy="152400"/>
          </a:xfrm>
          <a:prstGeom prst="ellipse">
            <a:avLst/>
          </a:prstGeom>
          <a:solidFill>
            <a:srgbClr val="B66A3C"/>
          </a:solidFill>
          <a:ln w="25400">
            <a:solidFill>
              <a:srgbClr val="F7F3E8"/>
            </a:solidFill>
          </a:ln>
        </p:spPr>
      </p:sp>
      <p:sp>
        <p:nvSpPr>
          <p:cNvPr id="22" name="mt6"/>
          <p:cNvSpPr txBox="1"/>
          <p:nvPr/>
        </p:nvSpPr>
        <p:spPr>
          <a:xfrm>
            <a:off x="9042400" y="2032000"/>
            <a:ext cx="13208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ctr">
              <a:lnSpc>
                <a:spcPct val="125000"/>
              </a:lnSpc>
            </a:pPr>
            <a:r>
              <a:rPr lang="en-US" sz="1400" noProof="1" b="1">
                <a:solidFill>
                  <a:srgbClr val="2F4F5F"/>
                </a:solidFill>
                <a:latin typeface="MiSans"/>
                <a:ea typeface="MiSans"/>
              </a:rPr>
              <a:t>2021</a:t>
            </a:r>
            <a:endParaRPr lang="en-US" sz="1600" noProof="1"/>
          </a:p>
          <a:p>
            <a:pPr algn="ctr">
              <a:lnSpc>
                <a:spcPct val="125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27231F"/>
                </a:solidFill>
                <a:latin typeface="MiSans"/>
                <a:ea typeface="MiSans"/>
              </a:rPr>
              <a:t>ГОСТ Р 52884-2021</a:t>
            </a:r>
            <a:endParaRPr lang="en-US" sz="1600" noProof="1"/>
          </a:p>
        </p:txBody>
      </p:sp>
      <p:sp>
        <p:nvSpPr>
          <p:cNvPr id="23" name="dot7"/>
          <p:cNvSpPr/>
          <p:nvPr/>
        </p:nvSpPr>
        <p:spPr>
          <a:xfrm>
            <a:off x="10998200" y="3352800"/>
            <a:ext cx="152400" cy="152400"/>
          </a:xfrm>
          <a:prstGeom prst="ellipse">
            <a:avLst/>
          </a:prstGeom>
          <a:solidFill>
            <a:srgbClr val="B66A3C"/>
          </a:solidFill>
          <a:ln w="25400">
            <a:solidFill>
              <a:srgbClr val="F7F3E8"/>
            </a:solidFill>
          </a:ln>
        </p:spPr>
      </p:sp>
      <p:sp>
        <p:nvSpPr>
          <p:cNvPr id="24" name="mt7"/>
          <p:cNvSpPr txBox="1"/>
          <p:nvPr/>
        </p:nvSpPr>
        <p:spPr>
          <a:xfrm>
            <a:off x="10414000" y="3657600"/>
            <a:ext cx="13208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5000"/>
              </a:lnSpc>
            </a:pPr>
            <a:r>
              <a:rPr lang="en-US" sz="1400" noProof="1" b="1">
                <a:solidFill>
                  <a:srgbClr val="2F4F5F"/>
                </a:solidFill>
                <a:latin typeface="MiSans"/>
                <a:ea typeface="MiSans"/>
              </a:rPr>
              <a:t>2024</a:t>
            </a:r>
            <a:endParaRPr lang="en-US" sz="1600" noProof="1"/>
          </a:p>
          <a:p>
            <a:pPr algn="ctr">
              <a:lnSpc>
                <a:spcPct val="125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27231F"/>
                </a:solidFill>
                <a:latin typeface="MiSans"/>
                <a:ea typeface="MiSans"/>
              </a:rPr>
              <a:t>Болотнинский ПНИ — практика вариативного питания</a:t>
            </a:r>
            <a:endParaRPr lang="en-US" sz="1600" noProof="1"/>
          </a:p>
        </p:txBody>
      </p:sp>
      <p:sp>
        <p:nvSpPr>
          <p:cNvPr id="25" name="tnote"/>
          <p:cNvSpPr txBox="1"/>
          <p:nvPr/>
        </p:nvSpPr>
        <p:spPr>
          <a:xfrm>
            <a:off x="812800" y="5334000"/>
            <a:ext cx="10566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27231F"/>
                </a:solidFill>
                <a:latin typeface="MiSans"/>
                <a:ea typeface="MiSans"/>
              </a:rPr>
              <a:t>Ключевая перестройка — 2013–2015: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ФЗ-442 передал формирование нормативов, включая нормы питания, в компетенцию субъектов РФ; федеральный уровень сохранил права получателей, процедуры и санитарную рамку.</a:t>
            </a:r>
            <a:endParaRPr lang="en-US" sz="12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2F4F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num"/>
          <p:cNvSpPr txBox="1"/>
          <p:nvPr/>
        </p:nvSpPr>
        <p:spPr>
          <a:xfrm>
            <a:off x="711200" y="1371600"/>
            <a:ext cx="4318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800" noProof="1">
                <a:solidFill>
                  <a:srgbClr val="FFFFFF">
                    <a:alpha val="12157"/>
                  </a:srgbClr>
                </a:solidFill>
                <a:latin typeface="Oranienbaum"/>
                <a:ea typeface="Oranienbaum"/>
              </a:rPr>
              <a:t>02</a:t>
            </a:r>
            <a:endParaRPr lang="en-US" sz="12800" noProof="1"/>
          </a:p>
        </p:txBody>
      </p:sp>
      <p:sp>
        <p:nvSpPr>
          <p:cNvPr id="3" name="seclabel"/>
          <p:cNvSpPr txBox="1"/>
          <p:nvPr/>
        </p:nvSpPr>
        <p:spPr>
          <a:xfrm>
            <a:off x="812800" y="3759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РАЗДЕЛ 2</a:t>
            </a:r>
            <a:endParaRPr lang="en-US" sz="1100" noProof="1"/>
          </a:p>
        </p:txBody>
      </p:sp>
      <p:sp>
        <p:nvSpPr>
          <p:cNvPr id="4" name="dtitle"/>
          <p:cNvSpPr txBox="1"/>
          <p:nvPr/>
        </p:nvSpPr>
        <p:spPr>
          <a:xfrm>
            <a:off x="812800" y="4089400"/>
            <a:ext cx="1016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400" noProof="1">
                <a:solidFill>
                  <a:srgbClr val="FFFFFF"/>
                </a:solidFill>
                <a:latin typeface="Oranienbaum"/>
                <a:ea typeface="Oranienbaum"/>
              </a:rPr>
              <a:t>Федеральная нормативно-правовая база</a:t>
            </a:r>
            <a:endParaRPr lang="en-US" sz="3400" noProof="1"/>
          </a:p>
        </p:txBody>
      </p:sp>
      <p:sp>
        <p:nvSpPr>
          <p:cNvPr id="5" name="drule"/>
          <p:cNvSpPr/>
          <p:nvPr/>
        </p:nvSpPr>
        <p:spPr>
          <a:xfrm>
            <a:off x="812800" y="4927600"/>
            <a:ext cx="812800" cy="38100"/>
          </a:xfrm>
          <a:prstGeom prst="rect">
            <a:avLst/>
          </a:prstGeom>
          <a:solidFill>
            <a:srgbClr val="B66A3C"/>
          </a:solidFill>
          <a:ln>
            <a:noFill/>
          </a:ln>
        </p:spPr>
      </p:sp>
      <p:sp>
        <p:nvSpPr>
          <p:cNvPr id="6" name="dsub"/>
          <p:cNvSpPr txBox="1"/>
          <p:nvPr/>
        </p:nvSpPr>
        <p:spPr>
          <a:xfrm>
            <a:off x="812800" y="5130800"/>
            <a:ext cx="9652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350" noProof="1" i="1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Понятия «вариативное меню» в федеральном праве нет — но действующие нормы дают четыре правовые опоры для его внедрения</a:t>
            </a:r>
            <a:endParaRPr lang="en-US" sz="1350" noProof="1"/>
          </a:p>
        </p:txBody>
      </p:sp>
      <p:sp>
        <p:nvSpPr>
          <p:cNvPr id="7" name="dnum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07 / 28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spc="250" kern="0">
                <a:solidFill>
                  <a:srgbClr val="2F4F5F"/>
                </a:solidFill>
                <a:latin typeface="MiSans"/>
                <a:ea typeface="MiSans"/>
              </a:rPr>
              <a:t>РАЗДЕЛ 2 · АРХИТЕКТУРА РЕГУЛИРОВАНИЯ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842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700" noProof="1">
                <a:solidFill>
                  <a:srgbClr val="27231F"/>
                </a:solidFill>
                <a:latin typeface="Oranienbaum"/>
                <a:ea typeface="Oranienbaum"/>
              </a:rPr>
              <a:t>Пять уровней правового регулирования питания</a:t>
            </a:r>
            <a:endParaRPr lang="en-US" sz="2700" noProof="1"/>
          </a:p>
        </p:txBody>
      </p:sp>
      <p:sp>
        <p:nvSpPr>
          <p:cNvPr id="4" name="h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5" name="frul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6" name="fleft"/>
          <p:cNvSpPr txBox="1"/>
          <p:nvPr/>
        </p:nvSpPr>
        <p:spPr>
          <a:xfrm>
            <a:off x="812800" y="65024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Вариативное меню в учреждениях социального обслуживания · Аналитический доклад · 2026</a:t>
            </a:r>
            <a:endParaRPr lang="en-US" sz="1000" noProof="1"/>
          </a:p>
        </p:txBody>
      </p:sp>
      <p:sp>
        <p:nvSpPr>
          <p:cNvPr id="7" name="fright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08 / 28</a:t>
            </a:r>
            <a:endParaRPr lang="en-US" sz="1000" noProof="1"/>
          </a:p>
        </p:txBody>
      </p:sp>
      <p:sp>
        <p:nvSpPr>
          <p:cNvPr id="8" name="lv0n"/>
          <p:cNvSpPr txBox="1"/>
          <p:nvPr/>
        </p:nvSpPr>
        <p:spPr>
          <a:xfrm>
            <a:off x="812800" y="1549400"/>
            <a:ext cx="711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B66A3C"/>
                </a:solidFill>
                <a:latin typeface="Oranienbaum"/>
                <a:ea typeface="Oranienbaum"/>
              </a:rPr>
              <a:t>I</a:t>
            </a:r>
            <a:endParaRPr lang="en-US" sz="2200" noProof="1"/>
          </a:p>
        </p:txBody>
      </p:sp>
      <p:sp>
        <p:nvSpPr>
          <p:cNvPr id="9" name="lv0t"/>
          <p:cNvSpPr txBox="1"/>
          <p:nvPr/>
        </p:nvSpPr>
        <p:spPr>
          <a:xfrm>
            <a:off x="1625600" y="1651000"/>
            <a:ext cx="304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5000"/>
              </a:lnSpc>
            </a:pPr>
            <a:r>
              <a:rPr lang="en-US" sz="1350" noProof="1" b="1">
                <a:solidFill>
                  <a:srgbClr val="2F4F5F"/>
                </a:solidFill>
                <a:latin typeface="MiSans"/>
                <a:ea typeface="MiSans"/>
              </a:rPr>
              <a:t>Конституционный уровень</a:t>
            </a:r>
            <a:endParaRPr lang="en-US" sz="1350" noProof="1"/>
          </a:p>
        </p:txBody>
      </p:sp>
      <p:sp>
        <p:nvSpPr>
          <p:cNvPr id="10" name="lv0a"/>
          <p:cNvSpPr txBox="1"/>
          <p:nvPr/>
        </p:nvSpPr>
        <p:spPr>
          <a:xfrm>
            <a:off x="4876800" y="1600200"/>
            <a:ext cx="65024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ст. 7, 39, 41 Конституции РФ — право на социальное обеспечение и охрану здоровья</a:t>
            </a:r>
            <a:endParaRPr lang="en-US" sz="1150" noProof="1"/>
          </a:p>
        </p:txBody>
      </p:sp>
      <p:sp>
        <p:nvSpPr>
          <p:cNvPr id="11" name="lv0r"/>
          <p:cNvSpPr/>
          <p:nvPr/>
        </p:nvSpPr>
        <p:spPr>
          <a:xfrm>
            <a:off x="812800" y="2336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2" name="lv1n"/>
          <p:cNvSpPr txBox="1"/>
          <p:nvPr/>
        </p:nvSpPr>
        <p:spPr>
          <a:xfrm>
            <a:off x="812800" y="2438400"/>
            <a:ext cx="711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B66A3C"/>
                </a:solidFill>
                <a:latin typeface="Oranienbaum"/>
                <a:ea typeface="Oranienbaum"/>
              </a:rPr>
              <a:t>II</a:t>
            </a:r>
            <a:endParaRPr lang="en-US" sz="2200" noProof="1"/>
          </a:p>
        </p:txBody>
      </p:sp>
      <p:sp>
        <p:nvSpPr>
          <p:cNvPr id="13" name="lv1t"/>
          <p:cNvSpPr txBox="1"/>
          <p:nvPr/>
        </p:nvSpPr>
        <p:spPr>
          <a:xfrm>
            <a:off x="1625600" y="2540000"/>
            <a:ext cx="304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5000"/>
              </a:lnSpc>
            </a:pPr>
            <a:r>
              <a:rPr lang="en-US" sz="1350" noProof="1" b="1">
                <a:solidFill>
                  <a:srgbClr val="2F4F5F"/>
                </a:solidFill>
                <a:latin typeface="MiSans"/>
                <a:ea typeface="MiSans"/>
              </a:rPr>
              <a:t>Федеральные законы</a:t>
            </a:r>
            <a:endParaRPr lang="en-US" sz="1350" noProof="1"/>
          </a:p>
        </p:txBody>
      </p:sp>
      <p:sp>
        <p:nvSpPr>
          <p:cNvPr id="14" name="lv1a"/>
          <p:cNvSpPr txBox="1"/>
          <p:nvPr/>
        </p:nvSpPr>
        <p:spPr>
          <a:xfrm>
            <a:off x="4876800" y="2489200"/>
            <a:ext cx="65024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442-ФЗ (соцобслуживание) · 181-ФЗ (инвалиды) · 52-ФЗ (санитарное благополучие) · 323-ФЗ (охрана здоровья) · 29-ФЗ (качество и безопасность пищевых продуктов)</a:t>
            </a:r>
            <a:endParaRPr lang="en-US" sz="1150" noProof="1"/>
          </a:p>
        </p:txBody>
      </p:sp>
      <p:sp>
        <p:nvSpPr>
          <p:cNvPr id="15" name="lv1r"/>
          <p:cNvSpPr/>
          <p:nvPr/>
        </p:nvSpPr>
        <p:spPr>
          <a:xfrm>
            <a:off x="812800" y="3225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6" name="lv2n"/>
          <p:cNvSpPr txBox="1"/>
          <p:nvPr/>
        </p:nvSpPr>
        <p:spPr>
          <a:xfrm>
            <a:off x="812800" y="3327400"/>
            <a:ext cx="711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B66A3C"/>
                </a:solidFill>
                <a:latin typeface="Oranienbaum"/>
                <a:ea typeface="Oranienbaum"/>
              </a:rPr>
              <a:t>III</a:t>
            </a:r>
            <a:endParaRPr lang="en-US" sz="2200" noProof="1"/>
          </a:p>
        </p:txBody>
      </p:sp>
      <p:sp>
        <p:nvSpPr>
          <p:cNvPr id="17" name="lv2t"/>
          <p:cNvSpPr txBox="1"/>
          <p:nvPr/>
        </p:nvSpPr>
        <p:spPr>
          <a:xfrm>
            <a:off x="1625600" y="3429000"/>
            <a:ext cx="304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5000"/>
              </a:lnSpc>
            </a:pPr>
            <a:r>
              <a:rPr lang="en-US" sz="1350" noProof="1" b="1">
                <a:solidFill>
                  <a:srgbClr val="2F4F5F"/>
                </a:solidFill>
                <a:latin typeface="MiSans"/>
                <a:ea typeface="MiSans"/>
              </a:rPr>
              <a:t>Подзаконные акты РФ</a:t>
            </a:r>
            <a:endParaRPr lang="en-US" sz="1350" noProof="1"/>
          </a:p>
        </p:txBody>
      </p:sp>
      <p:sp>
        <p:nvSpPr>
          <p:cNvPr id="18" name="lv2a"/>
          <p:cNvSpPr txBox="1"/>
          <p:nvPr/>
        </p:nvSpPr>
        <p:spPr>
          <a:xfrm>
            <a:off x="4876800" y="3378200"/>
            <a:ext cx="65024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СанПиН 2.3/2.4.3590-20 · пост. Минтруда № 12/2002 · приказы Минздрава № 330, 395н, 1008н, 614 · приказы Минтруда № 159н, 258н, 935н</a:t>
            </a:r>
            <a:endParaRPr lang="en-US" sz="1150" noProof="1"/>
          </a:p>
        </p:txBody>
      </p:sp>
      <p:sp>
        <p:nvSpPr>
          <p:cNvPr id="19" name="lv2r"/>
          <p:cNvSpPr/>
          <p:nvPr/>
        </p:nvSpPr>
        <p:spPr>
          <a:xfrm>
            <a:off x="812800" y="4114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20" name="lv3n"/>
          <p:cNvSpPr txBox="1"/>
          <p:nvPr/>
        </p:nvSpPr>
        <p:spPr>
          <a:xfrm>
            <a:off x="812800" y="4216400"/>
            <a:ext cx="711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B66A3C"/>
                </a:solidFill>
                <a:latin typeface="Oranienbaum"/>
                <a:ea typeface="Oranienbaum"/>
              </a:rPr>
              <a:t>IV</a:t>
            </a:r>
            <a:endParaRPr lang="en-US" sz="2200" noProof="1"/>
          </a:p>
        </p:txBody>
      </p:sp>
      <p:sp>
        <p:nvSpPr>
          <p:cNvPr id="21" name="lv3t"/>
          <p:cNvSpPr txBox="1"/>
          <p:nvPr/>
        </p:nvSpPr>
        <p:spPr>
          <a:xfrm>
            <a:off x="1625600" y="4318000"/>
            <a:ext cx="304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5000"/>
              </a:lnSpc>
            </a:pPr>
            <a:r>
              <a:rPr lang="en-US" sz="1350" noProof="1" b="1">
                <a:solidFill>
                  <a:srgbClr val="2F4F5F"/>
                </a:solidFill>
                <a:latin typeface="MiSans"/>
                <a:ea typeface="MiSans"/>
              </a:rPr>
              <a:t>Региональные акты</a:t>
            </a:r>
            <a:endParaRPr lang="en-US" sz="1350" noProof="1"/>
          </a:p>
        </p:txBody>
      </p:sp>
      <p:sp>
        <p:nvSpPr>
          <p:cNvPr id="22" name="lv3a"/>
          <p:cNvSpPr txBox="1"/>
          <p:nvPr/>
        </p:nvSpPr>
        <p:spPr>
          <a:xfrm>
            <a:off x="4876800" y="4267200"/>
            <a:ext cx="65024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законы субъектов о соцобслуживании · нормы питания по видам учреждений · стандарты качества социальных услуг</a:t>
            </a:r>
            <a:endParaRPr lang="en-US" sz="1150" noProof="1"/>
          </a:p>
        </p:txBody>
      </p:sp>
      <p:sp>
        <p:nvSpPr>
          <p:cNvPr id="23" name="lv3r"/>
          <p:cNvSpPr/>
          <p:nvPr/>
        </p:nvSpPr>
        <p:spPr>
          <a:xfrm>
            <a:off x="812800" y="5003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24" name="lv4n"/>
          <p:cNvSpPr txBox="1"/>
          <p:nvPr/>
        </p:nvSpPr>
        <p:spPr>
          <a:xfrm>
            <a:off x="812800" y="5105400"/>
            <a:ext cx="711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B66A3C"/>
                </a:solidFill>
                <a:latin typeface="Oranienbaum"/>
                <a:ea typeface="Oranienbaum"/>
              </a:rPr>
              <a:t>V</a:t>
            </a:r>
            <a:endParaRPr lang="en-US" sz="2200" noProof="1"/>
          </a:p>
        </p:txBody>
      </p:sp>
      <p:sp>
        <p:nvSpPr>
          <p:cNvPr id="25" name="lv4t"/>
          <p:cNvSpPr txBox="1"/>
          <p:nvPr/>
        </p:nvSpPr>
        <p:spPr>
          <a:xfrm>
            <a:off x="1625600" y="5207000"/>
            <a:ext cx="304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5000"/>
              </a:lnSpc>
            </a:pPr>
            <a:r>
              <a:rPr lang="en-US" sz="1350" noProof="1" b="1">
                <a:solidFill>
                  <a:srgbClr val="2F4F5F"/>
                </a:solidFill>
                <a:latin typeface="MiSans"/>
                <a:ea typeface="MiSans"/>
              </a:rPr>
              <a:t>Локальные акты учреждения</a:t>
            </a:r>
            <a:endParaRPr lang="en-US" sz="1350" noProof="1"/>
          </a:p>
        </p:txBody>
      </p:sp>
      <p:sp>
        <p:nvSpPr>
          <p:cNvPr id="26" name="lv4a"/>
          <p:cNvSpPr txBox="1"/>
          <p:nvPr/>
        </p:nvSpPr>
        <p:spPr>
          <a:xfrm>
            <a:off x="4876800" y="5156200"/>
            <a:ext cx="65024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положения об организации питания · цикличные меню · технологические карты · листы выбора проживающих</a:t>
            </a:r>
            <a:endParaRPr lang="en-US" sz="1150" noProof="1"/>
          </a:p>
        </p:txBody>
      </p:sp>
      <p:sp>
        <p:nvSpPr>
          <p:cNvPr id="27" name="lvnote"/>
          <p:cNvSpPr txBox="1"/>
          <p:nvPr/>
        </p:nvSpPr>
        <p:spPr>
          <a:xfrm>
            <a:off x="812800" y="60706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B66A3C"/>
                </a:solidFill>
                <a:latin typeface="MiSans"/>
                <a:ea typeface="MiSans"/>
              </a:rPr>
              <a:t>Понятие «вариативное меню» отсутствует на уровнях I–IV — оно закрепляется локальными актами (уровень V).</a:t>
            </a:r>
            <a:endParaRPr lang="en-US" sz="12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spc="250" kern="0">
                <a:solidFill>
                  <a:srgbClr val="2F4F5F"/>
                </a:solidFill>
                <a:latin typeface="MiSans"/>
                <a:ea typeface="MiSans"/>
              </a:rPr>
              <a:t>РАЗДЕЛ 2 · ФЕДЕРАЛЬНЫЙ ЗАКОН № 442-ФЗ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842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700" noProof="1">
                <a:solidFill>
                  <a:srgbClr val="27231F"/>
                </a:solidFill>
                <a:latin typeface="Oranienbaum"/>
                <a:ea typeface="Oranienbaum"/>
              </a:rPr>
              <a:t>ФЗ-442 — системообразующий акт</a:t>
            </a:r>
            <a:endParaRPr lang="en-US" sz="2700" noProof="1"/>
          </a:p>
        </p:txBody>
      </p:sp>
      <p:sp>
        <p:nvSpPr>
          <p:cNvPr id="4" name="h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5" name="frul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6" name="fleft"/>
          <p:cNvSpPr txBox="1"/>
          <p:nvPr/>
        </p:nvSpPr>
        <p:spPr>
          <a:xfrm>
            <a:off x="812800" y="65024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Вариативное меню в учреждениях социального обслуживания · Аналитический доклад · 2026</a:t>
            </a:r>
            <a:endParaRPr lang="en-US" sz="1000" noProof="1"/>
          </a:p>
        </p:txBody>
      </p:sp>
      <p:sp>
        <p:nvSpPr>
          <p:cNvPr id="7" name="fright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09 / 28</a:t>
            </a:r>
            <a:endParaRPr lang="en-US" sz="1000" noProof="1"/>
          </a:p>
        </p:txBody>
      </p:sp>
      <p:sp>
        <p:nvSpPr>
          <p:cNvPr id="8" name="a0n"/>
          <p:cNvSpPr txBox="1"/>
          <p:nvPr/>
        </p:nvSpPr>
        <p:spPr>
          <a:xfrm>
            <a:off x="812800" y="1574800"/>
            <a:ext cx="1498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>
                <a:solidFill>
                  <a:srgbClr val="2F4F5F"/>
                </a:solidFill>
                <a:latin typeface="Oranienbaum"/>
                <a:ea typeface="Oranienbaum"/>
              </a:rPr>
              <a:t>ст. 7–8</a:t>
            </a:r>
            <a:endParaRPr lang="en-US" sz="1900" noProof="1"/>
          </a:p>
        </p:txBody>
      </p:sp>
      <p:sp>
        <p:nvSpPr>
          <p:cNvPr id="9" name="a0t"/>
          <p:cNvSpPr txBox="1"/>
          <p:nvPr/>
        </p:nvSpPr>
        <p:spPr>
          <a:xfrm>
            <a:off x="2413000" y="1574800"/>
            <a:ext cx="8966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350" noProof="1" b="1">
                <a:solidFill>
                  <a:srgbClr val="27231F"/>
                </a:solidFill>
                <a:latin typeface="MiSans"/>
                <a:ea typeface="MiSans"/>
              </a:rPr>
              <a:t>Полномочия.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формирование нормативов, включая нормы питания, отнесено к субъектам РФ; региональные акты — основа нормирования</a:t>
            </a:r>
            <a:endParaRPr lang="en-US" sz="1600" noProof="1"/>
          </a:p>
        </p:txBody>
      </p:sp>
      <p:sp>
        <p:nvSpPr>
          <p:cNvPr id="10" name="a0r"/>
          <p:cNvSpPr/>
          <p:nvPr/>
        </p:nvSpPr>
        <p:spPr>
          <a:xfrm>
            <a:off x="812800" y="24384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1" name="a1n"/>
          <p:cNvSpPr txBox="1"/>
          <p:nvPr/>
        </p:nvSpPr>
        <p:spPr>
          <a:xfrm>
            <a:off x="812800" y="2540000"/>
            <a:ext cx="1498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>
                <a:solidFill>
                  <a:srgbClr val="2F4F5F"/>
                </a:solidFill>
                <a:latin typeface="Oranienbaum"/>
                <a:ea typeface="Oranienbaum"/>
              </a:rPr>
              <a:t>ст. 9</a:t>
            </a:r>
            <a:endParaRPr lang="en-US" sz="1900" noProof="1"/>
          </a:p>
        </p:txBody>
      </p:sp>
      <p:sp>
        <p:nvSpPr>
          <p:cNvPr id="12" name="a1t"/>
          <p:cNvSpPr txBox="1"/>
          <p:nvPr/>
        </p:nvSpPr>
        <p:spPr>
          <a:xfrm>
            <a:off x="2413000" y="2540000"/>
            <a:ext cx="8966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350" noProof="1" b="1">
                <a:solidFill>
                  <a:srgbClr val="27231F"/>
                </a:solidFill>
                <a:latin typeface="MiSans"/>
                <a:ea typeface="MiSans"/>
              </a:rPr>
              <a:t>Права получателей.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уважительное и гуманное отношение; информация о видах услуг, сроках, тарифах; отказ от услуг — правовая база требований к питанию</a:t>
            </a:r>
            <a:endParaRPr lang="en-US" sz="1600" noProof="1"/>
          </a:p>
        </p:txBody>
      </p:sp>
      <p:sp>
        <p:nvSpPr>
          <p:cNvPr id="13" name="a1r"/>
          <p:cNvSpPr/>
          <p:nvPr/>
        </p:nvSpPr>
        <p:spPr>
          <a:xfrm>
            <a:off x="812800" y="3403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4" name="a2n"/>
          <p:cNvSpPr txBox="1"/>
          <p:nvPr/>
        </p:nvSpPr>
        <p:spPr>
          <a:xfrm>
            <a:off x="812800" y="3505200"/>
            <a:ext cx="1498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>
                <a:solidFill>
                  <a:srgbClr val="2F4F5F"/>
                </a:solidFill>
                <a:latin typeface="Oranienbaum"/>
                <a:ea typeface="Oranienbaum"/>
              </a:rPr>
              <a:t>ст. 16–17</a:t>
            </a:r>
            <a:endParaRPr lang="en-US" sz="1900" noProof="1"/>
          </a:p>
        </p:txBody>
      </p:sp>
      <p:sp>
        <p:nvSpPr>
          <p:cNvPr id="15" name="a2t"/>
          <p:cNvSpPr txBox="1"/>
          <p:nvPr/>
        </p:nvSpPr>
        <p:spPr>
          <a:xfrm>
            <a:off x="2413000" y="3505200"/>
            <a:ext cx="8966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350" noProof="1" b="1">
                <a:solidFill>
                  <a:srgbClr val="27231F"/>
                </a:solidFill>
                <a:latin typeface="MiSans"/>
                <a:ea typeface="MiSans"/>
              </a:rPr>
              <a:t>Индивидуальная программа и договор.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документы, фиксирующие индивидуальные потребности проживающего, включая особенности питания</a:t>
            </a:r>
            <a:endParaRPr lang="en-US" sz="1600" noProof="1"/>
          </a:p>
        </p:txBody>
      </p:sp>
      <p:sp>
        <p:nvSpPr>
          <p:cNvPr id="16" name="a2r"/>
          <p:cNvSpPr/>
          <p:nvPr/>
        </p:nvSpPr>
        <p:spPr>
          <a:xfrm>
            <a:off x="812800" y="4368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7" name="a3n"/>
          <p:cNvSpPr txBox="1"/>
          <p:nvPr/>
        </p:nvSpPr>
        <p:spPr>
          <a:xfrm>
            <a:off x="812800" y="4470400"/>
            <a:ext cx="1498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>
                <a:solidFill>
                  <a:srgbClr val="2F4F5F"/>
                </a:solidFill>
                <a:latin typeface="Oranienbaum"/>
                <a:ea typeface="Oranienbaum"/>
              </a:rPr>
              <a:t>ст. 31–32</a:t>
            </a:r>
            <a:endParaRPr lang="en-US" sz="1900" noProof="1"/>
          </a:p>
        </p:txBody>
      </p:sp>
      <p:sp>
        <p:nvSpPr>
          <p:cNvPr id="18" name="a3t"/>
          <p:cNvSpPr txBox="1"/>
          <p:nvPr/>
        </p:nvSpPr>
        <p:spPr>
          <a:xfrm>
            <a:off x="2413000" y="4470400"/>
            <a:ext cx="8966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350" noProof="1" b="1">
                <a:solidFill>
                  <a:srgbClr val="27231F"/>
                </a:solidFill>
                <a:latin typeface="MiSans"/>
                <a:ea typeface="MiSans"/>
              </a:rPr>
              <a:t>Плата за обслуживание.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предельный размер — до 75 % среднедушевого дохода (п. 35 приказа № 935н); влияет на экономику пищеблока</a:t>
            </a:r>
            <a:endParaRPr lang="en-US" sz="1600" noProof="1"/>
          </a:p>
        </p:txBody>
      </p:sp>
      <p:sp>
        <p:nvSpPr>
          <p:cNvPr id="19" name="tkbar"/>
          <p:cNvSpPr/>
          <p:nvPr/>
        </p:nvSpPr>
        <p:spPr>
          <a:xfrm>
            <a:off x="812800" y="5511800"/>
            <a:ext cx="50800" cy="558800"/>
          </a:xfrm>
          <a:prstGeom prst="rect">
            <a:avLst/>
          </a:prstGeom>
          <a:solidFill>
            <a:srgbClr val="B66A3C"/>
          </a:solidFill>
          <a:ln>
            <a:noFill/>
          </a:ln>
        </p:spPr>
      </p:sp>
      <p:sp>
        <p:nvSpPr>
          <p:cNvPr id="20" name="takeaway"/>
          <p:cNvSpPr txBox="1"/>
          <p:nvPr/>
        </p:nvSpPr>
        <p:spPr>
          <a:xfrm>
            <a:off x="1016000" y="5511800"/>
            <a:ext cx="10363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250" noProof="1" b="1">
                <a:solidFill>
                  <a:srgbClr val="27231F"/>
                </a:solidFill>
                <a:latin typeface="MiSans"/>
                <a:ea typeface="MiSans"/>
              </a:rPr>
              <a:t>Вывод:</a:t>
            </a:r>
            <a:r>
              <a:rPr lang="en-US" sz="1250" noProof="1">
                <a:solidFill>
                  <a:srgbClr val="27231F"/>
                </a:solidFill>
                <a:latin typeface="MiSans"/>
                <a:ea typeface="MiSans"/>
              </a:rPr>
              <a:t> питание включено в перечень социальных услуг, но его нормы — региональная компетенция. Федеральный уровень задаёт права, процедуры и санитарную рамку.</a:t>
            </a:r>
            <a:endParaRPr lang="en-US" sz="125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spc="250" kern="0">
                <a:solidFill>
                  <a:srgbClr val="2F4F5F"/>
                </a:solidFill>
                <a:latin typeface="MiSans"/>
                <a:ea typeface="MiSans"/>
              </a:rPr>
              <a:t>РАЗДЕЛ 2 · САНИТАРНОЕ НОРМИРОВАНИЕ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842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700" noProof="1">
                <a:solidFill>
                  <a:srgbClr val="27231F"/>
                </a:solidFill>
                <a:latin typeface="Oranienbaum"/>
                <a:ea typeface="Oranienbaum"/>
              </a:rPr>
              <a:t>СанПиН 2.3/2.4.3590-20 — ключевые нормы</a:t>
            </a:r>
            <a:endParaRPr lang="en-US" sz="2700" noProof="1"/>
          </a:p>
        </p:txBody>
      </p:sp>
      <p:sp>
        <p:nvSpPr>
          <p:cNvPr id="4" name="h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5" name="frul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6" name="fleft"/>
          <p:cNvSpPr txBox="1"/>
          <p:nvPr/>
        </p:nvSpPr>
        <p:spPr>
          <a:xfrm>
            <a:off x="812800" y="65024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Вариативное меню в учреждениях социального обслуживания · Аналитический доклад · 2026</a:t>
            </a:r>
            <a:endParaRPr lang="en-US" sz="1000" noProof="1"/>
          </a:p>
        </p:txBody>
      </p:sp>
      <p:sp>
        <p:nvSpPr>
          <p:cNvPr id="7" name="fright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10 / 28</a:t>
            </a:r>
            <a:endParaRPr lang="en-US" sz="1000" noProof="1"/>
          </a:p>
        </p:txBody>
      </p:sp>
      <p:sp>
        <p:nvSpPr>
          <p:cNvPr id="8" name="qbar"/>
          <p:cNvSpPr/>
          <p:nvPr/>
        </p:nvSpPr>
        <p:spPr>
          <a:xfrm>
            <a:off x="812800" y="1651000"/>
            <a:ext cx="50800" cy="1625600"/>
          </a:xfrm>
          <a:prstGeom prst="rect">
            <a:avLst/>
          </a:prstGeom>
          <a:solidFill>
            <a:srgbClr val="B66A3C"/>
          </a:solidFill>
          <a:ln>
            <a:noFill/>
          </a:ln>
        </p:spPr>
      </p:sp>
      <p:sp>
        <p:nvSpPr>
          <p:cNvPr id="9" name="pnum"/>
          <p:cNvSpPr txBox="1"/>
          <p:nvPr/>
        </p:nvSpPr>
        <p:spPr>
          <a:xfrm>
            <a:off x="1066800" y="1651000"/>
            <a:ext cx="546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2F4F5F"/>
                </a:solidFill>
                <a:latin typeface="MiSans"/>
                <a:ea typeface="MiSans"/>
              </a:rPr>
              <a:t>Пункт 7.1.11 (раздел 7.1)</a:t>
            </a:r>
            <a:endParaRPr lang="en-US" sz="1200" noProof="1"/>
          </a:p>
        </p:txBody>
      </p:sp>
      <p:sp>
        <p:nvSpPr>
          <p:cNvPr id="10" name="pquote"/>
          <p:cNvSpPr txBox="1"/>
          <p:nvPr/>
        </p:nvSpPr>
        <p:spPr>
          <a:xfrm>
            <a:off x="1066800" y="2006600"/>
            <a:ext cx="5461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2000" noProof="1">
                <a:solidFill>
                  <a:srgbClr val="27231F"/>
                </a:solidFill>
                <a:latin typeface="Oranienbaum"/>
                <a:ea typeface="Oranienbaum"/>
              </a:rPr>
              <a:t>«Питание проживающих должно быть организовано не менее трёх раз в день, включая диетическое питание»</a:t>
            </a:r>
            <a:endParaRPr lang="en-US" sz="2000" noProof="1"/>
          </a:p>
        </p:txBody>
      </p:sp>
      <p:sp>
        <p:nvSpPr>
          <p:cNvPr id="11" name="pcap"/>
          <p:cNvSpPr txBox="1"/>
          <p:nvPr/>
        </p:nvSpPr>
        <p:spPr>
          <a:xfrm>
            <a:off x="1066800" y="2921000"/>
            <a:ext cx="546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Единственная федеральная санитарная норма, прямо адресованная режиму питания в учреждениях соцобслуживания. СанПиН утверждён пост. Главного санитарного врача РФ от 27.10.2020 № 32, действует до 01.01.2027 [7][8]</a:t>
            </a:r>
            <a:endParaRPr lang="en-US" sz="1000" noProof="1"/>
          </a:p>
        </p:txBody>
      </p:sp>
      <p:sp>
        <p:nvSpPr>
          <p:cNvPr id="12" name="pnote"/>
          <p:cNvSpPr txBox="1"/>
          <p:nvPr/>
        </p:nvSpPr>
        <p:spPr>
          <a:xfrm>
            <a:off x="812800" y="3810000"/>
            <a:ext cx="5715000" cy="223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27231F"/>
                </a:solidFill>
                <a:latin typeface="MiSans"/>
                <a:ea typeface="MiSans"/>
              </a:rPr>
              <a:t>Почему это важно для вариативного меню: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— минимальная кратность приёмов пищи зафиксирована нормой права;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— диетическое питание обязательно, оно не «опция» учреждения;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— любая модель выбора блюд строится внутри этих ограничений.</a:t>
            </a:r>
            <a:endParaRPr lang="en-US" sz="1200" noProof="1"/>
          </a:p>
        </p:txBody>
      </p:sp>
      <p:sp>
        <p:nvSpPr>
          <p:cNvPr id="13" name="vline"/>
          <p:cNvSpPr/>
          <p:nvPr/>
        </p:nvSpPr>
        <p:spPr>
          <a:xfrm>
            <a:off x="6959600" y="1651000"/>
            <a:ext cx="12700" cy="43942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4" name="rh"/>
          <p:cNvSpPr txBox="1"/>
          <p:nvPr/>
        </p:nvSpPr>
        <p:spPr>
          <a:xfrm>
            <a:off x="7315200" y="165100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2F4F5F"/>
                </a:solidFill>
                <a:latin typeface="MiSans"/>
                <a:ea typeface="MiSans"/>
              </a:rPr>
              <a:t>Что ещё даёт санитарный блок</a:t>
            </a:r>
            <a:endParaRPr lang="en-US" sz="1500" noProof="1"/>
          </a:p>
        </p:txBody>
      </p:sp>
      <p:sp>
        <p:nvSpPr>
          <p:cNvPr id="15" name="rlist"/>
          <p:cNvSpPr txBox="1"/>
          <p:nvPr/>
        </p:nvSpPr>
        <p:spPr>
          <a:xfrm>
            <a:off x="7315200" y="2006600"/>
            <a:ext cx="4064000" cy="403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27231F"/>
                </a:solidFill>
                <a:latin typeface="MiSans"/>
                <a:ea typeface="MiSans"/>
              </a:rPr>
              <a:t>Раздел 7.1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— требования к пищеблокам — помещения и оборудование, приёмка и хранение продуктов, технология приготовления, бракераж, персонал [8]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200" noProof="1" b="1">
                <a:solidFill>
                  <a:srgbClr val="27231F"/>
                </a:solidFill>
                <a:latin typeface="MiSans"/>
                <a:ea typeface="MiSans"/>
              </a:rPr>
              <a:t>Приложение 11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— таблица взаимозаменяемости продуктов — технологическая основа выбора блюд равной пищевой ценности [8]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200" noProof="1" b="1">
                <a:solidFill>
                  <a:srgbClr val="27231F"/>
                </a:solidFill>
                <a:latin typeface="MiSans"/>
                <a:ea typeface="MiSans"/>
              </a:rPr>
              <a:t>МР 2.3.1.0253-21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— физиологические нормы потребности в энергии и пищевых веществах — научный эталон нормирования [31]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200" noProof="1" b="1">
                <a:solidFill>
                  <a:srgbClr val="27231F"/>
                </a:solidFill>
                <a:latin typeface="MiSans"/>
                <a:ea typeface="MiSans"/>
              </a:rPr>
              <a:t>Надзор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— риск-ориентированный контроль Роспотребнадзора (ФЗ-52, ФЗ-248); ответственность — ст. 6.3 КоАП РФ [4]</a:t>
            </a:r>
            <a:endParaRPr lang="en-US" sz="12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spc="250" kern="0">
                <a:solidFill>
                  <a:srgbClr val="2F4F5F"/>
                </a:solidFill>
                <a:latin typeface="MiSans"/>
                <a:ea typeface="MiSans"/>
              </a:rPr>
              <a:t>РАЗДЕЛ 2 · НОРМЫ ПИТАНИЯ И ДИЕТОЛОГИЯ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842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700" noProof="1">
                <a:solidFill>
                  <a:srgbClr val="27231F"/>
                </a:solidFill>
                <a:latin typeface="Oranienbaum"/>
                <a:ea typeface="Oranienbaum"/>
              </a:rPr>
              <a:t>Нормы питания и лечебно-диетическая база</a:t>
            </a:r>
            <a:endParaRPr lang="en-US" sz="2700" noProof="1"/>
          </a:p>
        </p:txBody>
      </p:sp>
      <p:sp>
        <p:nvSpPr>
          <p:cNvPr id="4" name="h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5" name="frul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6" name="fleft"/>
          <p:cNvSpPr txBox="1"/>
          <p:nvPr/>
        </p:nvSpPr>
        <p:spPr>
          <a:xfrm>
            <a:off x="812800" y="65024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Вариативное меню в учреждениях социального обслуживания · Аналитический доклад · 2026</a:t>
            </a:r>
            <a:endParaRPr lang="en-US" sz="1000" noProof="1"/>
          </a:p>
        </p:txBody>
      </p:sp>
      <p:sp>
        <p:nvSpPr>
          <p:cNvPr id="7" name="fright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11 / 28</a:t>
            </a:r>
            <a:endParaRPr lang="en-US" sz="1000" noProof="1"/>
          </a:p>
        </p:txBody>
      </p:sp>
      <p:graphicFrame>
        <p:nvGraphicFramePr>
          <p:cNvPr id="8" name="tbl"/>
          <p:cNvGraphicFramePr>
            <a:graphicFrameLocks noGrp="1"/>
          </p:cNvGraphicFramePr>
          <p:nvPr/>
        </p:nvGraphicFramePr>
        <p:xfrm>
          <a:off x="812800" y="1549400"/>
          <a:ext cx="10566400" cy="3810000"/>
        </p:xfrm>
        <a:graphic>
          <a:graphicData uri="http://schemas.openxmlformats.org/drawingml/2006/table">
            <a:tbl>
              <a:tblPr/>
              <a:tblGrid>
                <a:gridCol w="2535936"/>
                <a:gridCol w="4437888"/>
                <a:gridCol w="3592576"/>
              </a:tblGrid>
              <a:tr h="4191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Документ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2F4F5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Содержание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2F4F5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Значение для вариативного меню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2F4F5F"/>
                    </a:solidFill>
                  </a:tcPr>
                </a:tc>
              </a:tr>
              <a:tr h="7620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Пост. Минтруда № 12</a:t>
                      </a: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15.02.2002 [10]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9 приложений — суточные продуктовые наборы, примерные 7-дневные меню для домов-интернатов и ПНИ; прил. 6 — нормы взаимозаменяемости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Методологическая основа выбора равноценных блюд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Приказ Минздрава № 330</a:t>
                      </a: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05.08.2003 [14]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Номенклатура стандартных диет; инструкция по организации лечебного питания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Диетическая номенклатура де-факто применяется в соцучреждениях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</a:tr>
              <a:tr h="6858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Приказ Минздрава № 395н</a:t>
                      </a: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21.06.2013 [12]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Нормы лечебного питания; характеристики стандартных диет (щадящая, низкокалорийная и др.)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Основа «диетических треков» внутри вариативного меню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Приказы № 1008н и № 614</a:t>
                      </a: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2020 / 2016 [14][31]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Порядок обеспечения лечебным питанием; рациональные нормы потребления продуктов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Ориентиры пищевой ценности и ассортимента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</a:tr>
              <a:tr h="6477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МР 2.3.1.0253-21</a:t>
                      </a: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 [31]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Физиологические потребности в энергии и пищевых веществах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Научный эталон для проверки норм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bar"/>
          <p:cNvSpPr/>
          <p:nvPr/>
        </p:nvSpPr>
        <p:spPr>
          <a:xfrm>
            <a:off x="812800" y="5588000"/>
            <a:ext cx="50800" cy="508000"/>
          </a:xfrm>
          <a:prstGeom prst="rect">
            <a:avLst/>
          </a:prstGeom>
          <a:solidFill>
            <a:srgbClr val="B66A3C"/>
          </a:solidFill>
          <a:ln>
            <a:noFill/>
          </a:ln>
        </p:spPr>
      </p:sp>
      <p:sp>
        <p:nvSpPr>
          <p:cNvPr id="10" name="nnote"/>
          <p:cNvSpPr txBox="1"/>
          <p:nvPr/>
        </p:nvSpPr>
        <p:spPr>
          <a:xfrm>
            <a:off x="1016000" y="5588000"/>
            <a:ext cx="10363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250" noProof="1" b="1">
                <a:solidFill>
                  <a:srgbClr val="27231F"/>
                </a:solidFill>
                <a:latin typeface="MiSans"/>
                <a:ea typeface="MiSans"/>
              </a:rPr>
              <a:t>Обязательных федеральных норм питания для соцучреждений с 01.01.2015 нет</a:t>
            </a:r>
            <a:r>
              <a:rPr lang="en-US" sz="1250" noProof="1">
                <a:solidFill>
                  <a:srgbClr val="27231F"/>
                </a:solidFill>
                <a:latin typeface="MiSans"/>
                <a:ea typeface="MiSans"/>
              </a:rPr>
              <a:t> — нормотворческая компетенция передана субъектам РФ (ст. 8 ФЗ-442) [2]</a:t>
            </a:r>
            <a:endParaRPr lang="en-US" sz="125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spc="250" kern="0">
                <a:solidFill>
                  <a:srgbClr val="2F4F5F"/>
                </a:solidFill>
                <a:latin typeface="MiSans"/>
                <a:ea typeface="MiSans"/>
              </a:rPr>
              <a:t>РАЗДЕЛ 2 · АКТЫ МИНТРУДА И СТАНДАРТЫ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842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700" noProof="1">
                <a:solidFill>
                  <a:srgbClr val="27231F"/>
                </a:solidFill>
                <a:latin typeface="Oranienbaum"/>
                <a:ea typeface="Oranienbaum"/>
              </a:rPr>
              <a:t>Процедурные акты Минтруда и ГОСТ</a:t>
            </a:r>
            <a:endParaRPr lang="en-US" sz="2700" noProof="1"/>
          </a:p>
        </p:txBody>
      </p:sp>
      <p:sp>
        <p:nvSpPr>
          <p:cNvPr id="4" name="h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5" name="frul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6" name="fleft"/>
          <p:cNvSpPr txBox="1"/>
          <p:nvPr/>
        </p:nvSpPr>
        <p:spPr>
          <a:xfrm>
            <a:off x="812800" y="65024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Вариативное меню в учреждениях социального обслуживания · Аналитический доклад · 2026</a:t>
            </a:r>
            <a:endParaRPr lang="en-US" sz="1000" noProof="1"/>
          </a:p>
        </p:txBody>
      </p:sp>
      <p:sp>
        <p:nvSpPr>
          <p:cNvPr id="7" name="fright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12 / 28</a:t>
            </a:r>
            <a:endParaRPr lang="en-US" sz="1000" noProof="1"/>
          </a:p>
        </p:txBody>
      </p:sp>
      <p:graphicFrame>
        <p:nvGraphicFramePr>
          <p:cNvPr id="8" name="tbl"/>
          <p:cNvGraphicFramePr>
            <a:graphicFrameLocks noGrp="1"/>
          </p:cNvGraphicFramePr>
          <p:nvPr/>
        </p:nvGraphicFramePr>
        <p:xfrm>
          <a:off x="812800" y="1549400"/>
          <a:ext cx="10566400" cy="3759200"/>
        </p:xfrm>
        <a:graphic>
          <a:graphicData uri="http://schemas.openxmlformats.org/drawingml/2006/table">
            <a:tbl>
              <a:tblPr/>
              <a:tblGrid>
                <a:gridCol w="2113280"/>
                <a:gridCol w="4015232"/>
                <a:gridCol w="4437888"/>
              </a:tblGrid>
              <a:tr h="75184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Акт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2F4F5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Предмет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2F4F5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Значение для темы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2F4F5F"/>
                    </a:solidFill>
                  </a:tcPr>
                </a:tc>
              </a:tr>
              <a:tr h="75184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№ 159н</a:t>
                      </a: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28.03.2014 [15]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Форма заявления о предоставлении социальных услуг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Заявление фиксирует обстоятельства, значимые для питания (здоровье, противопоказания)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184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№ 258н</a:t>
                      </a: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17.04.2014 [15]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Номенклатура организаций социального обслуживания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Классификация, по видам которой дифференцируются региональные нормы питания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</a:tr>
              <a:tr h="75184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№ 935н</a:t>
                      </a: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 (ред. 216н, 664н)</a:t>
                      </a: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24.11.2014 [15][16]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Примерный порядок предоставления услуг в стационарной форме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п. 16 — учёт норм питания; п. 19 — качество питания; п. 28 — права получателей; п. 35 — плата до 75 % дохода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184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ГОСТ Р 52884-2021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Порядок и условия предоставления социальных услуг пожилым гражданам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Учёт индивидуальных потребностей; база региональных стандартов качества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</a:tr>
            </a:tbl>
          </a:graphicData>
        </a:graphic>
      </p:graphicFrame>
      <p:sp>
        <p:nvSpPr>
          <p:cNvPr id="9" name="hbar"/>
          <p:cNvSpPr/>
          <p:nvPr/>
        </p:nvSpPr>
        <p:spPr>
          <a:xfrm>
            <a:off x="812800" y="5537200"/>
            <a:ext cx="50800" cy="533400"/>
          </a:xfrm>
          <a:prstGeom prst="rect">
            <a:avLst/>
          </a:prstGeom>
          <a:solidFill>
            <a:srgbClr val="B66A3C"/>
          </a:solidFill>
          <a:ln>
            <a:noFill/>
          </a:ln>
        </p:spPr>
      </p:sp>
      <p:sp>
        <p:nvSpPr>
          <p:cNvPr id="10" name="hnote"/>
          <p:cNvSpPr txBox="1"/>
          <p:nvPr/>
        </p:nvSpPr>
        <p:spPr>
          <a:xfrm>
            <a:off x="1016000" y="5537200"/>
            <a:ext cx="103632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250" noProof="1" b="1">
                <a:solidFill>
                  <a:srgbClr val="27231F"/>
                </a:solidFill>
                <a:latin typeface="MiSans"/>
                <a:ea typeface="MiSans"/>
              </a:rPr>
              <a:t>Пункт 28 приказа № 935н — ключевая норма прав проживающих:</a:t>
            </a:r>
            <a:r>
              <a:rPr lang="en-US" sz="1250" noProof="1">
                <a:solidFill>
                  <a:srgbClr val="27231F"/>
                </a:solidFill>
                <a:latin typeface="MiSans"/>
                <a:ea typeface="MiSans"/>
              </a:rPr>
              <a:t> уважительное отношение, информация об услугах, надлежащие условия пребывания и уход [15]</a:t>
            </a:r>
            <a:endParaRPr lang="en-US" sz="125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spc="250" kern="0">
                <a:solidFill>
                  <a:srgbClr val="2F4F5F"/>
                </a:solidFill>
                <a:latin typeface="MiSans"/>
                <a:ea typeface="MiSans"/>
              </a:rPr>
              <a:t>РАЗДЕЛ 2 · ИТОГИ ФЕДЕРАЛЬНОГО АНАЛИЗА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842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700" noProof="1">
                <a:solidFill>
                  <a:srgbClr val="27231F"/>
                </a:solidFill>
                <a:latin typeface="Oranienbaum"/>
                <a:ea typeface="Oranienbaum"/>
              </a:rPr>
              <a:t>Вывод — четыре правовые опоры вариативного меню</a:t>
            </a:r>
            <a:endParaRPr lang="en-US" sz="2700" noProof="1"/>
          </a:p>
        </p:txBody>
      </p:sp>
      <p:sp>
        <p:nvSpPr>
          <p:cNvPr id="4" name="h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5" name="frul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6" name="fleft"/>
          <p:cNvSpPr txBox="1"/>
          <p:nvPr/>
        </p:nvSpPr>
        <p:spPr>
          <a:xfrm>
            <a:off x="812800" y="65024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Вариативное меню в учреждениях социального обслуживания · Аналитический доклад · 2026</a:t>
            </a:r>
            <a:endParaRPr lang="en-US" sz="1000" noProof="1"/>
          </a:p>
        </p:txBody>
      </p:sp>
      <p:sp>
        <p:nvSpPr>
          <p:cNvPr id="7" name="fright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13 / 28</a:t>
            </a:r>
            <a:endParaRPr lang="en-US" sz="1000" noProof="1"/>
          </a:p>
        </p:txBody>
      </p:sp>
      <p:sp>
        <p:nvSpPr>
          <p:cNvPr id="8" name="intro"/>
          <p:cNvSpPr txBox="1"/>
          <p:nvPr/>
        </p:nvSpPr>
        <p:spPr>
          <a:xfrm>
            <a:off x="812800" y="14986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27231F"/>
                </a:solidFill>
                <a:latin typeface="MiSans"/>
                <a:ea typeface="MiSans"/>
              </a:rPr>
              <a:t>Федерального определения «вариативного меню» нет, но </a:t>
            </a:r>
            <a:r>
              <a:rPr lang="en-US" sz="1300" noProof="1" b="1">
                <a:solidFill>
                  <a:srgbClr val="27231F"/>
                </a:solidFill>
                <a:latin typeface="MiSans"/>
                <a:ea typeface="MiSans"/>
              </a:rPr>
              <a:t>внедрение возможно в рамках действующих норм</a:t>
            </a:r>
            <a:r>
              <a:rPr lang="en-US" sz="1300" noProof="1">
                <a:solidFill>
                  <a:srgbClr val="27231F"/>
                </a:solidFill>
                <a:latin typeface="MiSans"/>
                <a:ea typeface="MiSans"/>
              </a:rPr>
              <a:t> — за счёт четырёх механизмов:</a:t>
            </a:r>
            <a:endParaRPr lang="en-US" sz="1300" noProof="1"/>
          </a:p>
        </p:txBody>
      </p:sp>
      <p:sp>
        <p:nvSpPr>
          <p:cNvPr id="9" name="op0n"/>
          <p:cNvSpPr txBox="1"/>
          <p:nvPr/>
        </p:nvSpPr>
        <p:spPr>
          <a:xfrm>
            <a:off x="812800" y="2133600"/>
            <a:ext cx="558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>
                <a:solidFill>
                  <a:srgbClr val="B66A3C"/>
                </a:solidFill>
                <a:latin typeface="Oranienbaum"/>
                <a:ea typeface="Oranienbaum"/>
              </a:rPr>
              <a:t>1</a:t>
            </a:r>
            <a:endParaRPr lang="en-US" sz="2600" noProof="1"/>
          </a:p>
        </p:txBody>
      </p:sp>
      <p:sp>
        <p:nvSpPr>
          <p:cNvPr id="10" name="op0t"/>
          <p:cNvSpPr txBox="1"/>
          <p:nvPr/>
        </p:nvSpPr>
        <p:spPr>
          <a:xfrm>
            <a:off x="1473200" y="21336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400" noProof="1" b="1">
                <a:solidFill>
                  <a:srgbClr val="2F4F5F"/>
                </a:solidFill>
                <a:latin typeface="MiSans"/>
                <a:ea typeface="MiSans"/>
              </a:rPr>
              <a:t>Права получателей</a:t>
            </a:r>
            <a:endParaRPr lang="en-US" sz="1600" noProof="1"/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ст. 9 ФЗ-442; п. 28 приказа № 935н — уважительное отношение, информация об услугах, отказ от услуги</a:t>
            </a:r>
            <a:endParaRPr lang="en-US" sz="1600" noProof="1"/>
          </a:p>
        </p:txBody>
      </p:sp>
      <p:sp>
        <p:nvSpPr>
          <p:cNvPr id="11" name="op0r"/>
          <p:cNvSpPr/>
          <p:nvPr/>
        </p:nvSpPr>
        <p:spPr>
          <a:xfrm>
            <a:off x="812800" y="2971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2" name="op1n"/>
          <p:cNvSpPr txBox="1"/>
          <p:nvPr/>
        </p:nvSpPr>
        <p:spPr>
          <a:xfrm>
            <a:off x="812800" y="3073400"/>
            <a:ext cx="558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>
                <a:solidFill>
                  <a:srgbClr val="B66A3C"/>
                </a:solidFill>
                <a:latin typeface="Oranienbaum"/>
                <a:ea typeface="Oranienbaum"/>
              </a:rPr>
              <a:t>2</a:t>
            </a:r>
            <a:endParaRPr lang="en-US" sz="2600" noProof="1"/>
          </a:p>
        </p:txBody>
      </p:sp>
      <p:sp>
        <p:nvSpPr>
          <p:cNvPr id="13" name="op1t"/>
          <p:cNvSpPr txBox="1"/>
          <p:nvPr/>
        </p:nvSpPr>
        <p:spPr>
          <a:xfrm>
            <a:off x="1473200" y="30734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400" noProof="1" b="1">
                <a:solidFill>
                  <a:srgbClr val="2F4F5F"/>
                </a:solidFill>
                <a:latin typeface="MiSans"/>
                <a:ea typeface="MiSans"/>
              </a:rPr>
              <a:t>Взаимозаменяемость продуктов</a:t>
            </a:r>
            <a:endParaRPr lang="en-US" sz="1600" noProof="1"/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прил. 6 к пост. Минтруда № 12; прил. 11 к СанПиН 3590-20 — альтернативные блюда равной пищевой ценности</a:t>
            </a:r>
            <a:endParaRPr lang="en-US" sz="1600" noProof="1"/>
          </a:p>
        </p:txBody>
      </p:sp>
      <p:sp>
        <p:nvSpPr>
          <p:cNvPr id="14" name="op1r"/>
          <p:cNvSpPr/>
          <p:nvPr/>
        </p:nvSpPr>
        <p:spPr>
          <a:xfrm>
            <a:off x="812800" y="3911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5" name="op2n"/>
          <p:cNvSpPr txBox="1"/>
          <p:nvPr/>
        </p:nvSpPr>
        <p:spPr>
          <a:xfrm>
            <a:off x="812800" y="4013200"/>
            <a:ext cx="558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>
                <a:solidFill>
                  <a:srgbClr val="B66A3C"/>
                </a:solidFill>
                <a:latin typeface="Oranienbaum"/>
                <a:ea typeface="Oranienbaum"/>
              </a:rPr>
              <a:t>3</a:t>
            </a:r>
            <a:endParaRPr lang="en-US" sz="2600" noProof="1"/>
          </a:p>
        </p:txBody>
      </p:sp>
      <p:sp>
        <p:nvSpPr>
          <p:cNvPr id="16" name="op2t"/>
          <p:cNvSpPr txBox="1"/>
          <p:nvPr/>
        </p:nvSpPr>
        <p:spPr>
          <a:xfrm>
            <a:off x="1473200" y="40132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400" noProof="1" b="1">
                <a:solidFill>
                  <a:srgbClr val="2F4F5F"/>
                </a:solidFill>
                <a:latin typeface="MiSans"/>
                <a:ea typeface="MiSans"/>
              </a:rPr>
              <a:t>Стандартные диеты</a:t>
            </a:r>
            <a:endParaRPr lang="en-US" sz="1600" noProof="1"/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приказ Минздрава № 395н — диетические «треки» выбора по медицинским показаниям</a:t>
            </a:r>
            <a:endParaRPr lang="en-US" sz="1600" noProof="1"/>
          </a:p>
        </p:txBody>
      </p:sp>
      <p:sp>
        <p:nvSpPr>
          <p:cNvPr id="17" name="op2r"/>
          <p:cNvSpPr/>
          <p:nvPr/>
        </p:nvSpPr>
        <p:spPr>
          <a:xfrm>
            <a:off x="812800" y="48514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8" name="op3n"/>
          <p:cNvSpPr txBox="1"/>
          <p:nvPr/>
        </p:nvSpPr>
        <p:spPr>
          <a:xfrm>
            <a:off x="812800" y="4953000"/>
            <a:ext cx="558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>
                <a:solidFill>
                  <a:srgbClr val="B66A3C"/>
                </a:solidFill>
                <a:latin typeface="Oranienbaum"/>
                <a:ea typeface="Oranienbaum"/>
              </a:rPr>
              <a:t>4</a:t>
            </a:r>
            <a:endParaRPr lang="en-US" sz="2600" noProof="1"/>
          </a:p>
        </p:txBody>
      </p:sp>
      <p:sp>
        <p:nvSpPr>
          <p:cNvPr id="19" name="op3t"/>
          <p:cNvSpPr txBox="1"/>
          <p:nvPr/>
        </p:nvSpPr>
        <p:spPr>
          <a:xfrm>
            <a:off x="1473200" y="49530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400" noProof="1" b="1">
                <a:solidFill>
                  <a:srgbClr val="2F4F5F"/>
                </a:solidFill>
                <a:latin typeface="MiSans"/>
                <a:ea typeface="MiSans"/>
              </a:rPr>
              <a:t>Стандарты качества и локальные акты</a:t>
            </a:r>
            <a:endParaRPr lang="en-US" sz="1600" noProof="1"/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региональные стандарты качества услуг; положения учреждения, цикличные меню, листы выбора</a:t>
            </a:r>
            <a:endParaRPr lang="en-US" sz="1600" noProof="1"/>
          </a:p>
        </p:txBody>
      </p:sp>
      <p:sp>
        <p:nvSpPr>
          <p:cNvPr id="20" name="opnote"/>
          <p:cNvSpPr txBox="1"/>
          <p:nvPr/>
        </p:nvSpPr>
        <p:spPr>
          <a:xfrm>
            <a:off x="812800" y="5969000"/>
            <a:ext cx="10566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8B8578"/>
                </a:solidFill>
                <a:latin typeface="MiSans"/>
                <a:ea typeface="MiSans"/>
              </a:rPr>
              <a:t>Источники — ФЗ-442 [2], СанПиН 3590-20 [8], пост. № 12 [10], приказ № 395н [12], приказ № 935н [15]</a:t>
            </a:r>
            <a:endParaRPr lang="en-US" sz="12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2F4F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num"/>
          <p:cNvSpPr txBox="1"/>
          <p:nvPr/>
        </p:nvSpPr>
        <p:spPr>
          <a:xfrm>
            <a:off x="711200" y="1371600"/>
            <a:ext cx="4318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800" noProof="1">
                <a:solidFill>
                  <a:srgbClr val="FFFFFF">
                    <a:alpha val="12157"/>
                  </a:srgbClr>
                </a:solidFill>
                <a:latin typeface="Oranienbaum"/>
                <a:ea typeface="Oranienbaum"/>
              </a:rPr>
              <a:t>03</a:t>
            </a:r>
            <a:endParaRPr lang="en-US" sz="12800" noProof="1"/>
          </a:p>
        </p:txBody>
      </p:sp>
      <p:sp>
        <p:nvSpPr>
          <p:cNvPr id="3" name="seclabel"/>
          <p:cNvSpPr txBox="1"/>
          <p:nvPr/>
        </p:nvSpPr>
        <p:spPr>
          <a:xfrm>
            <a:off x="812800" y="3759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РАЗДЕЛ 3</a:t>
            </a:r>
            <a:endParaRPr lang="en-US" sz="1100" noProof="1"/>
          </a:p>
        </p:txBody>
      </p:sp>
      <p:sp>
        <p:nvSpPr>
          <p:cNvPr id="4" name="dtitle"/>
          <p:cNvSpPr txBox="1"/>
          <p:nvPr/>
        </p:nvSpPr>
        <p:spPr>
          <a:xfrm>
            <a:off x="812800" y="4089400"/>
            <a:ext cx="1016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400" noProof="1">
                <a:solidFill>
                  <a:srgbClr val="FFFFFF"/>
                </a:solidFill>
                <a:latin typeface="Oranienbaum"/>
                <a:ea typeface="Oranienbaum"/>
              </a:rPr>
              <a:t>Региональная база и опыт субъектов РФ</a:t>
            </a:r>
            <a:endParaRPr lang="en-US" sz="3400" noProof="1"/>
          </a:p>
        </p:txBody>
      </p:sp>
      <p:sp>
        <p:nvSpPr>
          <p:cNvPr id="5" name="drule"/>
          <p:cNvSpPr/>
          <p:nvPr/>
        </p:nvSpPr>
        <p:spPr>
          <a:xfrm>
            <a:off x="812800" y="4927600"/>
            <a:ext cx="812800" cy="38100"/>
          </a:xfrm>
          <a:prstGeom prst="rect">
            <a:avLst/>
          </a:prstGeom>
          <a:solidFill>
            <a:srgbClr val="B66A3C"/>
          </a:solidFill>
          <a:ln>
            <a:noFill/>
          </a:ln>
        </p:spPr>
      </p:sp>
      <p:sp>
        <p:nvSpPr>
          <p:cNvPr id="6" name="dsub"/>
          <p:cNvSpPr txBox="1"/>
          <p:nvPr/>
        </p:nvSpPr>
        <p:spPr>
          <a:xfrm>
            <a:off x="812800" y="5130800"/>
            <a:ext cx="9652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350" noProof="1" i="1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Восемь субъектов — от суточных норм питания в граммах до первых документированных практик выбора блюд проживающими</a:t>
            </a:r>
            <a:endParaRPr lang="en-US" sz="1350" noProof="1"/>
          </a:p>
        </p:txBody>
      </p:sp>
      <p:sp>
        <p:nvSpPr>
          <p:cNvPr id="7" name="dnum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14 / 28</a:t>
            </a:r>
            <a:endParaRPr lang="en-US" sz="10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spc="250" kern="0">
                <a:solidFill>
                  <a:srgbClr val="2F4F5F"/>
                </a:solidFill>
                <a:latin typeface="MiSans"/>
                <a:ea typeface="MiSans"/>
              </a:rPr>
              <a:t>РАЗДЕЛ 3 · МОДЕЛЬ РЕГУЛИРОВАНИЯ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842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700" noProof="1">
                <a:solidFill>
                  <a:srgbClr val="27231F"/>
                </a:solidFill>
                <a:latin typeface="Oranienbaum"/>
                <a:ea typeface="Oranienbaum"/>
              </a:rPr>
              <a:t>Как устроено региональное регулирование питания</a:t>
            </a:r>
            <a:endParaRPr lang="en-US" sz="2700" noProof="1"/>
          </a:p>
        </p:txBody>
      </p:sp>
      <p:sp>
        <p:nvSpPr>
          <p:cNvPr id="4" name="h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5" name="frul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6" name="fleft"/>
          <p:cNvSpPr txBox="1"/>
          <p:nvPr/>
        </p:nvSpPr>
        <p:spPr>
          <a:xfrm>
            <a:off x="812800" y="65024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Вариативное меню в учреждениях социального обслуживания · Аналитический доклад · 2026</a:t>
            </a:r>
            <a:endParaRPr lang="en-US" sz="1000" noProof="1"/>
          </a:p>
        </p:txBody>
      </p:sp>
      <p:sp>
        <p:nvSpPr>
          <p:cNvPr id="7" name="fright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15 / 28</a:t>
            </a:r>
            <a:endParaRPr lang="en-US" sz="1000" noProof="1"/>
          </a:p>
        </p:txBody>
      </p:sp>
      <p:sp>
        <p:nvSpPr>
          <p:cNvPr id="8" name="st1"/>
          <p:cNvSpPr/>
          <p:nvPr/>
        </p:nvSpPr>
        <p:spPr>
          <a:xfrm>
            <a:off x="812800" y="1625600"/>
            <a:ext cx="4064000" cy="711200"/>
          </a:xfrm>
          <a:prstGeom prst="rect">
            <a:avLst/>
          </a:prstGeom>
          <a:solidFill>
            <a:srgbClr val="EFE8D8"/>
          </a:solidFill>
          <a:ln w="12700">
            <a:solidFill>
              <a:srgbClr val="2F4F5F"/>
            </a:solidFill>
          </a:ln>
        </p:spPr>
      </p:sp>
      <p:sp>
        <p:nvSpPr>
          <p:cNvPr id="9" name="st1t"/>
          <p:cNvSpPr txBox="1"/>
          <p:nvPr/>
        </p:nvSpPr>
        <p:spPr>
          <a:xfrm>
            <a:off x="965200" y="1765300"/>
            <a:ext cx="3759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200" noProof="1" b="1">
                <a:solidFill>
                  <a:srgbClr val="2F4F5F"/>
                </a:solidFill>
                <a:latin typeface="MiSans"/>
                <a:ea typeface="MiSans"/>
              </a:rPr>
              <a:t>Закон субъекта РФ о социальном обслуживании</a:t>
            </a:r>
            <a:endParaRPr lang="en-US" sz="1200" noProof="1"/>
          </a:p>
        </p:txBody>
      </p:sp>
      <p:sp>
        <p:nvSpPr>
          <p:cNvPr id="10" name="ar1"/>
          <p:cNvSpPr txBox="1"/>
          <p:nvPr/>
        </p:nvSpPr>
        <p:spPr>
          <a:xfrm>
            <a:off x="812800" y="23622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B66A3C"/>
                </a:solidFill>
                <a:latin typeface="MiSans"/>
                <a:ea typeface="MiSans"/>
              </a:rPr>
              <a:t>↓</a:t>
            </a:r>
            <a:endParaRPr lang="en-US" sz="1300" noProof="1"/>
          </a:p>
        </p:txBody>
      </p:sp>
      <p:sp>
        <p:nvSpPr>
          <p:cNvPr id="11" name="st2"/>
          <p:cNvSpPr/>
          <p:nvPr/>
        </p:nvSpPr>
        <p:spPr>
          <a:xfrm>
            <a:off x="812800" y="2641600"/>
            <a:ext cx="4064000" cy="711200"/>
          </a:xfrm>
          <a:prstGeom prst="rect">
            <a:avLst/>
          </a:prstGeom>
          <a:solidFill>
            <a:srgbClr val="EFE8D8"/>
          </a:solidFill>
          <a:ln w="12700">
            <a:solidFill>
              <a:srgbClr val="2F4F5F"/>
            </a:solidFill>
          </a:ln>
        </p:spPr>
      </p:sp>
      <p:sp>
        <p:nvSpPr>
          <p:cNvPr id="12" name="st2t"/>
          <p:cNvSpPr txBox="1"/>
          <p:nvPr/>
        </p:nvSpPr>
        <p:spPr>
          <a:xfrm>
            <a:off x="965200" y="2781300"/>
            <a:ext cx="3759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200" noProof="1" b="1">
                <a:solidFill>
                  <a:srgbClr val="2F4F5F"/>
                </a:solidFill>
                <a:latin typeface="MiSans"/>
                <a:ea typeface="MiSans"/>
              </a:rPr>
              <a:t>Перечень социальных услуг (питание — в составе услуг)</a:t>
            </a:r>
            <a:endParaRPr lang="en-US" sz="1200" noProof="1"/>
          </a:p>
        </p:txBody>
      </p:sp>
      <p:sp>
        <p:nvSpPr>
          <p:cNvPr id="13" name="ar2"/>
          <p:cNvSpPr txBox="1"/>
          <p:nvPr/>
        </p:nvSpPr>
        <p:spPr>
          <a:xfrm>
            <a:off x="812800" y="33782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B66A3C"/>
                </a:solidFill>
                <a:latin typeface="MiSans"/>
                <a:ea typeface="MiSans"/>
              </a:rPr>
              <a:t>↓</a:t>
            </a:r>
            <a:endParaRPr lang="en-US" sz="1300" noProof="1"/>
          </a:p>
        </p:txBody>
      </p:sp>
      <p:sp>
        <p:nvSpPr>
          <p:cNvPr id="14" name="st3"/>
          <p:cNvSpPr/>
          <p:nvPr/>
        </p:nvSpPr>
        <p:spPr>
          <a:xfrm>
            <a:off x="812800" y="3657600"/>
            <a:ext cx="4064000" cy="914400"/>
          </a:xfrm>
          <a:prstGeom prst="rect">
            <a:avLst/>
          </a:prstGeom>
          <a:solidFill>
            <a:srgbClr val="2F4F5F"/>
          </a:solidFill>
          <a:ln>
            <a:noFill/>
          </a:ln>
        </p:spPr>
      </p:sp>
      <p:sp>
        <p:nvSpPr>
          <p:cNvPr id="15" name="st3t"/>
          <p:cNvSpPr txBox="1"/>
          <p:nvPr/>
        </p:nvSpPr>
        <p:spPr>
          <a:xfrm>
            <a:off x="965200" y="3835400"/>
            <a:ext cx="3759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200" noProof="1" b="1">
                <a:solidFill>
                  <a:srgbClr val="FFFFFF"/>
                </a:solidFill>
                <a:latin typeface="MiSans"/>
                <a:ea typeface="MiSans"/>
              </a:rPr>
              <a:t>Нормы питания</a:t>
            </a: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 — постановление правительства или ведомственный приказ — суточные наборы в граммах по видам учреждений</a:t>
            </a:r>
            <a:endParaRPr lang="en-US" sz="1200" noProof="1"/>
          </a:p>
        </p:txBody>
      </p:sp>
      <p:sp>
        <p:nvSpPr>
          <p:cNvPr id="16" name="ar3"/>
          <p:cNvSpPr txBox="1"/>
          <p:nvPr/>
        </p:nvSpPr>
        <p:spPr>
          <a:xfrm>
            <a:off x="812800" y="45974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B66A3C"/>
                </a:solidFill>
                <a:latin typeface="MiSans"/>
                <a:ea typeface="MiSans"/>
              </a:rPr>
              <a:t>↓</a:t>
            </a:r>
            <a:endParaRPr lang="en-US" sz="1300" noProof="1"/>
          </a:p>
        </p:txBody>
      </p:sp>
      <p:sp>
        <p:nvSpPr>
          <p:cNvPr id="17" name="st4"/>
          <p:cNvSpPr/>
          <p:nvPr/>
        </p:nvSpPr>
        <p:spPr>
          <a:xfrm>
            <a:off x="812800" y="4876800"/>
            <a:ext cx="4064000" cy="914400"/>
          </a:xfrm>
          <a:prstGeom prst="rect">
            <a:avLst/>
          </a:prstGeom>
          <a:solidFill>
            <a:srgbClr val="EFE8D8"/>
          </a:solidFill>
          <a:ln w="12700">
            <a:solidFill>
              <a:srgbClr val="2F4F5F"/>
            </a:solidFill>
          </a:ln>
        </p:spPr>
      </p:sp>
      <p:sp>
        <p:nvSpPr>
          <p:cNvPr id="18" name="st4t"/>
          <p:cNvSpPr txBox="1"/>
          <p:nvPr/>
        </p:nvSpPr>
        <p:spPr>
          <a:xfrm>
            <a:off x="965200" y="5054600"/>
            <a:ext cx="3759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200" noProof="1" b="1">
                <a:solidFill>
                  <a:srgbClr val="2F4F5F"/>
                </a:solidFill>
                <a:latin typeface="MiSans"/>
                <a:ea typeface="MiSans"/>
              </a:rPr>
              <a:t>Стандарты качества услуг и локальные акты учреждений — здесь живёт вариативное меню</a:t>
            </a:r>
            <a:endParaRPr lang="en-US" sz="1200" noProof="1"/>
          </a:p>
        </p:txBody>
      </p:sp>
      <p:sp>
        <p:nvSpPr>
          <p:cNvPr id="19" name="vline"/>
          <p:cNvSpPr/>
          <p:nvPr/>
        </p:nvSpPr>
        <p:spPr>
          <a:xfrm>
            <a:off x="5384800" y="1625600"/>
            <a:ext cx="12700" cy="41656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20" name="ch"/>
          <p:cNvSpPr txBox="1"/>
          <p:nvPr/>
        </p:nvSpPr>
        <p:spPr>
          <a:xfrm>
            <a:off x="5740400" y="1625600"/>
            <a:ext cx="5638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2F4F5F"/>
                </a:solidFill>
                <a:latin typeface="MiSans"/>
                <a:ea typeface="MiSans"/>
              </a:rPr>
              <a:t>Пять общих черт — итог анализа восьми регионов</a:t>
            </a:r>
            <a:endParaRPr lang="en-US" sz="1500" noProof="1"/>
          </a:p>
        </p:txBody>
      </p:sp>
      <p:sp>
        <p:nvSpPr>
          <p:cNvPr id="21" name="clist"/>
          <p:cNvSpPr txBox="1"/>
          <p:nvPr/>
        </p:nvSpPr>
        <p:spPr>
          <a:xfrm>
            <a:off x="5740400" y="1981200"/>
            <a:ext cx="56388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2000"/>
              </a:lnSpc>
            </a:pPr>
            <a:r>
              <a:rPr lang="en-US" sz="1200" noProof="1" b="1">
                <a:solidFill>
                  <a:srgbClr val="27231F"/>
                </a:solidFill>
                <a:latin typeface="MiSans"/>
                <a:ea typeface="MiSans"/>
              </a:rPr>
              <a:t>1.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Нормы приняты в 2014–2015 гг. в исполнение ФЗ-442; актуализированы в 2020–2022 гг. после санитарной реформы</a:t>
            </a:r>
            <a:endParaRPr lang="en-US" sz="1200" noProof="1"/>
          </a:p>
          <a:p>
            <a:pPr>
              <a:lnSpc>
                <a:spcPct val="142000"/>
              </a:lnSpc>
              <a:spcBef>
                <a:spcPts val="700"/>
              </a:spcBef>
            </a:pPr>
            <a:r>
              <a:rPr lang="en-US" sz="1200" noProof="1" b="1">
                <a:solidFill>
                  <a:srgbClr val="27231F"/>
                </a:solidFill>
                <a:latin typeface="MiSans"/>
                <a:ea typeface="MiSans"/>
              </a:rPr>
              <a:t>2.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Единообразная структура — суточные продуктовые наборы в граммах (брутто/нетто) по видам учреждениям</a:t>
            </a:r>
            <a:endParaRPr lang="en-US" sz="1200" noProof="1"/>
          </a:p>
          <a:p>
            <a:pPr>
              <a:lnSpc>
                <a:spcPct val="142000"/>
              </a:lnSpc>
              <a:spcBef>
                <a:spcPts val="700"/>
              </a:spcBef>
            </a:pPr>
            <a:r>
              <a:rPr lang="en-US" sz="1200" noProof="1" b="1">
                <a:solidFill>
                  <a:srgbClr val="27231F"/>
                </a:solidFill>
                <a:latin typeface="MiSans"/>
                <a:ea typeface="MiSans"/>
              </a:rPr>
              <a:t>3.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Диетическое питание везде привязано к медицинским показаниям</a:t>
            </a:r>
            <a:endParaRPr lang="en-US" sz="1200" noProof="1"/>
          </a:p>
          <a:p>
            <a:pPr>
              <a:lnSpc>
                <a:spcPct val="142000"/>
              </a:lnSpc>
              <a:spcBef>
                <a:spcPts val="700"/>
              </a:spcBef>
            </a:pPr>
            <a:r>
              <a:rPr lang="en-US" sz="1200" noProof="1" b="1">
                <a:solidFill>
                  <a:srgbClr val="27231F"/>
                </a:solidFill>
                <a:latin typeface="MiSans"/>
                <a:ea typeface="MiSans"/>
              </a:rPr>
              <a:t>4.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Взаимозаменяемость продуктов закреплена повсеместно — через федеральные методические документы</a:t>
            </a:r>
            <a:endParaRPr lang="en-US" sz="1200" noProof="1"/>
          </a:p>
          <a:p>
            <a:pPr>
              <a:lnSpc>
                <a:spcPct val="142000"/>
              </a:lnSpc>
              <a:spcBef>
                <a:spcPts val="700"/>
              </a:spcBef>
            </a:pPr>
            <a:r>
              <a:rPr lang="en-US" sz="1200" noProof="1" b="1">
                <a:solidFill>
                  <a:srgbClr val="B66A3C"/>
                </a:solidFill>
                <a:latin typeface="MiSans"/>
                <a:ea typeface="MiSans"/>
              </a:rPr>
              <a:t>5.</a:t>
            </a:r>
            <a:r>
              <a:rPr lang="en-US" sz="1200" noProof="1">
                <a:solidFill>
                  <a:srgbClr val="B66A3C"/>
                </a:solidFill>
                <a:latin typeface="MiSans"/>
                <a:ea typeface="MiSans"/>
              </a:rPr>
              <a:t> Прямого требования выбора блюд проживающим не содержит ни один из проанализированных актов</a:t>
            </a:r>
            <a:endParaRPr lang="en-US" sz="12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spc="250" kern="0">
                <a:solidFill>
                  <a:srgbClr val="2F4F5F"/>
                </a:solidFill>
                <a:latin typeface="MiSans"/>
                <a:ea typeface="MiSans"/>
              </a:rPr>
              <a:t>РАЗДЕЛ 3 · СРАВНИТЕЛЬНЫЙ АНАЛИЗ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842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700" noProof="1">
                <a:solidFill>
                  <a:srgbClr val="27231F"/>
                </a:solidFill>
                <a:latin typeface="Oranienbaum"/>
                <a:ea typeface="Oranienbaum"/>
              </a:rPr>
              <a:t>Восемь субъектов РФ — акты о нормах питания</a:t>
            </a:r>
            <a:endParaRPr lang="en-US" sz="2700" noProof="1"/>
          </a:p>
        </p:txBody>
      </p:sp>
      <p:sp>
        <p:nvSpPr>
          <p:cNvPr id="4" name="h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5" name="frul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6" name="fleft"/>
          <p:cNvSpPr txBox="1"/>
          <p:nvPr/>
        </p:nvSpPr>
        <p:spPr>
          <a:xfrm>
            <a:off x="812800" y="65024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Вариативное меню в учреждениях социального обслуживания · Аналитический доклад · 2026</a:t>
            </a:r>
            <a:endParaRPr lang="en-US" sz="1000" noProof="1"/>
          </a:p>
        </p:txBody>
      </p:sp>
      <p:sp>
        <p:nvSpPr>
          <p:cNvPr id="7" name="fright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16 / 28</a:t>
            </a:r>
            <a:endParaRPr lang="en-US" sz="1000" noProof="1"/>
          </a:p>
        </p:txBody>
      </p:sp>
      <p:graphicFrame>
        <p:nvGraphicFramePr>
          <p:cNvPr id="8" name="tbl"/>
          <p:cNvGraphicFramePr>
            <a:graphicFrameLocks noGrp="1"/>
          </p:cNvGraphicFramePr>
          <p:nvPr/>
        </p:nvGraphicFramePr>
        <p:xfrm>
          <a:off x="812800" y="1498600"/>
          <a:ext cx="10566400" cy="4470400"/>
        </p:xfrm>
        <a:graphic>
          <a:graphicData uri="http://schemas.openxmlformats.org/drawingml/2006/table">
            <a:tbl>
              <a:tblPr/>
              <a:tblGrid>
                <a:gridCol w="1690624"/>
                <a:gridCol w="2535936"/>
                <a:gridCol w="1056640"/>
                <a:gridCol w="5283200"/>
              </a:tblGrid>
              <a:tr h="40233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Регион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2F4F5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Акт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2F4F5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Год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2F4F5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Особенности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2F4F5F"/>
                    </a:solidFill>
                  </a:tcPr>
                </a:tc>
              </a:tr>
              <a:tr h="58115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Москва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приказ ДТСЗН № 228 [17]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2021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многовариантная модель норм; диетическое питание по показаниям; взаимозаменяемость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115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Санкт-Петербург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пост. Правительства № 1284 [19]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2014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4 варианта рациона</a:t>
                      </a: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 (общий / ПНИ / диабет / ЖКТ); СБКС 27 г и ВМК — в норме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</a:tr>
              <a:tr h="62585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Свердловская обл.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пост. № 765-ПП [20]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2022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СБКС и ВМК в составе набора; прямая отсылка к прил. 11 СанПиН (замена продуктов)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6448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Нижегородская обл.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пост. № 709; приказ № 214 [23]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2014/2022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нормы по видам учреждений; диетпитание по медицинским показаниям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</a:tr>
              <a:tr h="536448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Омская обл.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приказ № 171-п [24]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2014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прямая отсылка к СанПиН; меню и нормы публикуются в открытом доступе [25]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6448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Псковская обл.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приказ КСЗН № 206 [28]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2020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система ссылок на приказы № 330 и № 395н (стандартные диеты)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</a:tr>
              <a:tr h="58115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Татарстан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акт Минтруда РТ [36]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2015–2021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типовая модель; контрольный опыт — аудит питания 224–310 ₽/койко-день [30]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6448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Новосибирская обл.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практика Болотнинского ПНИ [29]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2024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вариативное питание — первый документированный кейс внедрения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</a:tr>
            </a:tbl>
          </a:graphicData>
        </a:graphic>
      </p:graphicFrame>
      <p:sp>
        <p:nvSpPr>
          <p:cNvPr id="9" name="tnote"/>
          <p:cNvSpPr txBox="1"/>
          <p:nvPr/>
        </p:nvSpPr>
        <p:spPr>
          <a:xfrm>
            <a:off x="812800" y="60706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Общая рамка у всех — суточные наборы по видам учреждений; различия — детализация, спецпродукты, уровень акта</a:t>
            </a:r>
            <a:endParaRPr lang="en-US" sz="10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spc="250" kern="0">
                <a:solidFill>
                  <a:srgbClr val="2F4F5F"/>
                </a:solidFill>
                <a:latin typeface="MiSans"/>
                <a:ea typeface="MiSans"/>
              </a:rPr>
              <a:t>РАЗДЕЛ 3 · КЕЙС САНКТ-ПЕТЕРБУРГА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842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700" noProof="1">
                <a:solidFill>
                  <a:srgbClr val="27231F"/>
                </a:solidFill>
                <a:latin typeface="Oranienbaum"/>
                <a:ea typeface="Oranienbaum"/>
              </a:rPr>
              <a:t>Четыре варианта рациона — граммы нетто в сутки</a:t>
            </a:r>
            <a:endParaRPr lang="en-US" sz="2700" noProof="1"/>
          </a:p>
        </p:txBody>
      </p:sp>
      <p:sp>
        <p:nvSpPr>
          <p:cNvPr id="4" name="h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5" name="frul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6" name="fleft"/>
          <p:cNvSpPr txBox="1"/>
          <p:nvPr/>
        </p:nvSpPr>
        <p:spPr>
          <a:xfrm>
            <a:off x="812800" y="65024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Вариативное меню в учреждениях социального обслуживания · Аналитический доклад · 2026</a:t>
            </a:r>
            <a:endParaRPr lang="en-US" sz="1000" noProof="1"/>
          </a:p>
        </p:txBody>
      </p:sp>
      <p:sp>
        <p:nvSpPr>
          <p:cNvPr id="7" name="fright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17 / 28</a:t>
            </a:r>
            <a:endParaRPr lang="en-US" sz="1000" noProof="1"/>
          </a:p>
        </p:txBody>
      </p:sp>
      <p:graphicFrame>
        <p:nvGraphicFramePr>
          <p:cNvPr id="8" name="tbl"/>
          <p:cNvGraphicFramePr>
            <a:graphicFrameLocks noGrp="1"/>
          </p:cNvGraphicFramePr>
          <p:nvPr/>
        </p:nvGraphicFramePr>
        <p:xfrm>
          <a:off x="812800" y="1549400"/>
          <a:ext cx="7874000" cy="4267200"/>
        </p:xfrm>
        <a:graphic>
          <a:graphicData uri="http://schemas.openxmlformats.org/drawingml/2006/table">
            <a:tbl>
              <a:tblPr/>
              <a:tblGrid>
                <a:gridCol w="2677160"/>
                <a:gridCol w="1338580"/>
                <a:gridCol w="1181100"/>
                <a:gridCol w="1338580"/>
                <a:gridCol w="1338580"/>
              </a:tblGrid>
              <a:tr h="51206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Продукт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2F4F5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Общий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2F4F5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ПНИ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2F4F5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Диабет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2F4F5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ЖКТ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2F4F5F"/>
                    </a:solidFill>
                  </a:tcPr>
                </a:tc>
              </a:tr>
              <a:tr h="5334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Хлеб ржаной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150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150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250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150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Хлеб пшеничный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100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200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150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</a:tr>
              <a:tr h="5334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Крупы, бобовые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80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49,6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111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53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Овощи (все виды)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318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380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402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233,6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</a:tr>
              <a:tr h="55473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Картофель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168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268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B66A3C"/>
                          </a:solidFill>
                          <a:latin typeface="MiSans"/>
                          <a:ea typeface="MiSans"/>
                        </a:rPr>
                        <a:t>44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126,2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473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Фрукты и ягоды свежие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200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100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B66A3C"/>
                          </a:solidFill>
                          <a:latin typeface="MiSans"/>
                          <a:ea typeface="MiSans"/>
                        </a:rPr>
                        <a:t>385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200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</a:tr>
              <a:tr h="51206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Сок без сахара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66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h"/>
          <p:cNvSpPr txBox="1"/>
          <p:nvPr/>
        </p:nvSpPr>
        <p:spPr>
          <a:xfrm>
            <a:off x="9093200" y="1549400"/>
            <a:ext cx="228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2F4F5F"/>
                </a:solidFill>
                <a:latin typeface="MiSans"/>
                <a:ea typeface="MiSans"/>
              </a:rPr>
              <a:t>Детали модели</a:t>
            </a:r>
            <a:endParaRPr lang="en-US" sz="1500" noProof="1"/>
          </a:p>
        </p:txBody>
      </p:sp>
      <p:sp>
        <p:nvSpPr>
          <p:cNvPr id="10" name="rtxt"/>
          <p:cNvSpPr txBox="1"/>
          <p:nvPr/>
        </p:nvSpPr>
        <p:spPr>
          <a:xfrm>
            <a:off x="9093200" y="1879600"/>
            <a:ext cx="22860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Постановление Правительства СПб от 29.12.2014 № 1284 [19]</a:t>
            </a:r>
            <a:endParaRPr lang="en-US" sz="1150" noProof="1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В норму включены специализированные продукты —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СБКС 27 г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 (сухая белковая смесь) и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ВМК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 (1 драже 3 раза в неделю)</a:t>
            </a:r>
            <a:endParaRPr lang="en-US" sz="1150" noProof="1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Диабетический рацион перестроен по углеводам — картофель снижен почти в 4 раза, фрукты увеличены почти вдвое</a:t>
            </a:r>
            <a:endParaRPr lang="en-US" sz="1150" noProof="1"/>
          </a:p>
        </p:txBody>
      </p:sp>
      <p:sp>
        <p:nvSpPr>
          <p:cNvPr id="11" name="rsrc"/>
          <p:cNvSpPr txBox="1"/>
          <p:nvPr/>
        </p:nvSpPr>
        <p:spPr>
          <a:xfrm>
            <a:off x="9093200" y="5029200"/>
            <a:ext cx="2286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Дифференциация — содержательная, а не декларативная — «диетический трек» реально меняет рацион</a:t>
            </a:r>
            <a:endParaRPr lang="en-US" sz="100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spc="250" kern="0">
                <a:solidFill>
                  <a:srgbClr val="2F4F5F"/>
                </a:solidFill>
                <a:latin typeface="MiSans"/>
                <a:ea typeface="MiSans"/>
              </a:rPr>
              <a:t>РАЗДЕЛ 3 · ДИФФЕРЕНЦИАЦИЯ РАЦИОНОВ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842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700" noProof="1">
                <a:solidFill>
                  <a:srgbClr val="27231F"/>
                </a:solidFill>
                <a:latin typeface="Oranienbaum"/>
                <a:ea typeface="Oranienbaum"/>
              </a:rPr>
              <a:t>Диетический трек меняет рацион существенно</a:t>
            </a:r>
            <a:endParaRPr lang="en-US" sz="2700" noProof="1"/>
          </a:p>
        </p:txBody>
      </p:sp>
      <p:sp>
        <p:nvSpPr>
          <p:cNvPr id="4" name="h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5" name="frul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6" name="fleft"/>
          <p:cNvSpPr txBox="1"/>
          <p:nvPr/>
        </p:nvSpPr>
        <p:spPr>
          <a:xfrm>
            <a:off x="812800" y="65024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Вариативное меню в учреждениях социального обслуживания · Аналитический доклад · 2026</a:t>
            </a:r>
            <a:endParaRPr lang="en-US" sz="1000" noProof="1"/>
          </a:p>
        </p:txBody>
      </p:sp>
      <p:sp>
        <p:nvSpPr>
          <p:cNvPr id="7" name="fright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18 / 28</a:t>
            </a:r>
            <a:endParaRPr lang="en-US" sz="1000" noProof="1"/>
          </a:p>
        </p:txBody>
      </p:sp>
      <p:graphicFrame>
        <p:nvGraphicFramePr>
          <p:cNvPr id="8" name="chart1"/>
          <p:cNvGraphicFramePr/>
          <p:nvPr/>
        </p:nvGraphicFramePr>
        <p:xfrm>
          <a:off x="812800" y="1600200"/>
          <a:ext cx="6858000" cy="4318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9" name="chsrc"/>
          <p:cNvSpPr txBox="1"/>
          <p:nvPr/>
        </p:nvSpPr>
        <p:spPr>
          <a:xfrm>
            <a:off x="812800" y="5969000"/>
            <a:ext cx="685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Источник — пост. Правительства СПб № 1284, действующая редакция [19]</a:t>
            </a:r>
            <a:endParaRPr lang="en-US" sz="1000" noProof="1"/>
          </a:p>
        </p:txBody>
      </p:sp>
      <p:sp>
        <p:nvSpPr>
          <p:cNvPr id="10" name="vline"/>
          <p:cNvSpPr/>
          <p:nvPr/>
        </p:nvSpPr>
        <p:spPr>
          <a:xfrm>
            <a:off x="8128000" y="1600200"/>
            <a:ext cx="12700" cy="43180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1" name="th"/>
          <p:cNvSpPr txBox="1"/>
          <p:nvPr/>
        </p:nvSpPr>
        <p:spPr>
          <a:xfrm>
            <a:off x="8483600" y="1600200"/>
            <a:ext cx="289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2F4F5F"/>
                </a:solidFill>
                <a:latin typeface="MiSans"/>
                <a:ea typeface="MiSans"/>
              </a:rPr>
              <a:t>Что показывает кейс</a:t>
            </a:r>
            <a:endParaRPr lang="en-US" sz="1500" noProof="1"/>
          </a:p>
        </p:txBody>
      </p:sp>
      <p:sp>
        <p:nvSpPr>
          <p:cNvPr id="12" name="ttxt"/>
          <p:cNvSpPr txBox="1"/>
          <p:nvPr/>
        </p:nvSpPr>
        <p:spPr>
          <a:xfrm>
            <a:off x="8483600" y="1955800"/>
            <a:ext cx="2895600" cy="406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Диабетический рацион против общего: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— картофель — </a:t>
            </a:r>
            <a:r>
              <a:rPr lang="en-US" sz="1200" noProof="1" b="1">
                <a:solidFill>
                  <a:srgbClr val="27231F"/>
                </a:solidFill>
                <a:latin typeface="MiSans"/>
                <a:ea typeface="MiSans"/>
              </a:rPr>
              <a:t>168 → 44 г (−74 %)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— фрукты — </a:t>
            </a:r>
            <a:r>
              <a:rPr lang="en-US" sz="1200" noProof="1" b="1">
                <a:solidFill>
                  <a:srgbClr val="27231F"/>
                </a:solidFill>
                <a:latin typeface="MiSans"/>
                <a:ea typeface="MiSans"/>
              </a:rPr>
              <a:t>200 → 385 г (×1,9)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— введён сок без сахара (66 г)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1200"/>
              </a:spcBef>
            </a:pPr>
            <a:r>
              <a:rPr lang="en-US" sz="1200" noProof="1" b="1">
                <a:solidFill>
                  <a:srgbClr val="27231F"/>
                </a:solidFill>
                <a:latin typeface="MiSans"/>
                <a:ea typeface="MiSans"/>
              </a:rPr>
              <a:t>Правовой вывод: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выбор блюд в вариативном меню должен строиться внутри назначенного диетического трека — иначе учреждение выйдет за пределы норм</a:t>
            </a:r>
            <a:endParaRPr lang="en-US" sz="120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spc="250" kern="0">
                <a:solidFill>
                  <a:srgbClr val="2F4F5F"/>
                </a:solidFill>
                <a:latin typeface="MiSans"/>
                <a:ea typeface="MiSans"/>
              </a:rPr>
              <a:t>РАЗДЕЛ 3 · ДОКУМЕНТИРОВАННЫЕ ПРАКТИКИ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842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700" noProof="1">
                <a:solidFill>
                  <a:srgbClr val="27231F"/>
                </a:solidFill>
                <a:latin typeface="Oranienbaum"/>
                <a:ea typeface="Oranienbaum"/>
              </a:rPr>
              <a:t>Где вариативность уже работает</a:t>
            </a:r>
            <a:endParaRPr lang="en-US" sz="2700" noProof="1"/>
          </a:p>
        </p:txBody>
      </p:sp>
      <p:sp>
        <p:nvSpPr>
          <p:cNvPr id="4" name="h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5" name="frul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6" name="fleft"/>
          <p:cNvSpPr txBox="1"/>
          <p:nvPr/>
        </p:nvSpPr>
        <p:spPr>
          <a:xfrm>
            <a:off x="812800" y="65024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Вариативное меню в учреждениях социального обслуживания · Аналитический доклад · 2026</a:t>
            </a:r>
            <a:endParaRPr lang="en-US" sz="1000" noProof="1"/>
          </a:p>
        </p:txBody>
      </p:sp>
      <p:sp>
        <p:nvSpPr>
          <p:cNvPr id="7" name="fright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19 / 28</a:t>
            </a:r>
            <a:endParaRPr lang="en-US" sz="1000" noProof="1"/>
          </a:p>
        </p:txBody>
      </p:sp>
      <p:sp>
        <p:nvSpPr>
          <p:cNvPr id="8" name="b1tag"/>
          <p:cNvSpPr txBox="1"/>
          <p:nvPr/>
        </p:nvSpPr>
        <p:spPr>
          <a:xfrm>
            <a:off x="812800" y="16256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2F4F5F"/>
                </a:solidFill>
                <a:latin typeface="MiSans"/>
                <a:ea typeface="MiSans"/>
              </a:rPr>
              <a:t>Болотнинский ПНИ · Новосибирская область</a:t>
            </a:r>
            <a:endParaRPr lang="en-US" sz="1350" noProof="1"/>
          </a:p>
        </p:txBody>
      </p:sp>
      <p:sp>
        <p:nvSpPr>
          <p:cNvPr id="9" name="b1txt"/>
          <p:cNvSpPr txBox="1"/>
          <p:nvPr/>
        </p:nvSpPr>
        <p:spPr>
          <a:xfrm>
            <a:off x="812800" y="1930400"/>
            <a:ext cx="105664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С 2024 г. — </a:t>
            </a:r>
            <a:r>
              <a:rPr lang="en-US" sz="1200" noProof="1" b="1">
                <a:solidFill>
                  <a:srgbClr val="27231F"/>
                </a:solidFill>
                <a:latin typeface="MiSans"/>
                <a:ea typeface="MiSans"/>
              </a:rPr>
              <a:t>вариативное питание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— несколько вариантов блюд несколько раз в неделю, выбор фиксируется накануне. Первый подтверждённый официальной публикацией кейс внедрения именно вариативного питания в российском учреждении соцобслуживания [29]</a:t>
            </a:r>
            <a:endParaRPr lang="en-US" sz="1200" noProof="1"/>
          </a:p>
        </p:txBody>
      </p:sp>
      <p:sp>
        <p:nvSpPr>
          <p:cNvPr id="10" name="r1"/>
          <p:cNvSpPr/>
          <p:nvPr/>
        </p:nvSpPr>
        <p:spPr>
          <a:xfrm>
            <a:off x="812800" y="2895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1" name="b2tag"/>
          <p:cNvSpPr txBox="1"/>
          <p:nvPr/>
        </p:nvSpPr>
        <p:spPr>
          <a:xfrm>
            <a:off x="812800" y="3048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2F4F5F"/>
                </a:solidFill>
                <a:latin typeface="MiSans"/>
                <a:ea typeface="MiSans"/>
              </a:rPr>
              <a:t>Москва · пансионаты для ветеранов</a:t>
            </a:r>
            <a:endParaRPr lang="en-US" sz="1350" noProof="1"/>
          </a:p>
        </p:txBody>
      </p:sp>
      <p:sp>
        <p:nvSpPr>
          <p:cNvPr id="12" name="b2txt"/>
          <p:cNvSpPr txBox="1"/>
          <p:nvPr/>
        </p:nvSpPr>
        <p:spPr>
          <a:xfrm>
            <a:off x="812800" y="3352800"/>
            <a:ext cx="105664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Цикличное меню с элементами выбора; дегустации и опросы удовлетворённости, корректировка меню по пожеланиям проживающих — в логике персонификации услуг Департамента труда и социальной защиты [17]</a:t>
            </a:r>
            <a:endParaRPr lang="en-US" sz="1200" noProof="1"/>
          </a:p>
        </p:txBody>
      </p:sp>
      <p:sp>
        <p:nvSpPr>
          <p:cNvPr id="13" name="r2"/>
          <p:cNvSpPr/>
          <p:nvPr/>
        </p:nvSpPr>
        <p:spPr>
          <a:xfrm>
            <a:off x="812800" y="42672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4" name="b3tag"/>
          <p:cNvSpPr txBox="1"/>
          <p:nvPr/>
        </p:nvSpPr>
        <p:spPr>
          <a:xfrm>
            <a:off x="812800" y="44196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2F4F5F"/>
                </a:solidFill>
                <a:latin typeface="MiSans"/>
                <a:ea typeface="MiSans"/>
              </a:rPr>
              <a:t>Кейтеринговая модель · Москва и Санкт-Петербург</a:t>
            </a:r>
            <a:endParaRPr lang="en-US" sz="1350" noProof="1"/>
          </a:p>
        </p:txBody>
      </p:sp>
      <p:sp>
        <p:nvSpPr>
          <p:cNvPr id="15" name="b3txt"/>
          <p:cNvSpPr txBox="1"/>
          <p:nvPr/>
        </p:nvSpPr>
        <p:spPr>
          <a:xfrm>
            <a:off x="812800" y="4724400"/>
            <a:ext cx="105664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Привлечение профессиональных операторов питания расширяет ассортимент и меняет экономику пищеблока; при грамотном контракте оператор становится технологическим фактором вариативности [33]</a:t>
            </a:r>
            <a:endParaRPr lang="en-US" sz="1200" noProof="1"/>
          </a:p>
        </p:txBody>
      </p:sp>
      <p:sp>
        <p:nvSpPr>
          <p:cNvPr id="16" name="nbar"/>
          <p:cNvSpPr/>
          <p:nvPr/>
        </p:nvSpPr>
        <p:spPr>
          <a:xfrm>
            <a:off x="812800" y="5689600"/>
            <a:ext cx="50800" cy="457200"/>
          </a:xfrm>
          <a:prstGeom prst="rect">
            <a:avLst/>
          </a:prstGeom>
          <a:solidFill>
            <a:srgbClr val="B66A3C"/>
          </a:solidFill>
          <a:ln>
            <a:noFill/>
          </a:ln>
        </p:spPr>
      </p:sp>
      <p:sp>
        <p:nvSpPr>
          <p:cNvPr id="17" name="ntxt"/>
          <p:cNvSpPr txBox="1"/>
          <p:nvPr/>
        </p:nvSpPr>
        <p:spPr>
          <a:xfrm>
            <a:off x="1016000" y="5689600"/>
            <a:ext cx="10363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250" noProof="1" b="1">
                <a:solidFill>
                  <a:srgbClr val="27231F"/>
                </a:solidFill>
                <a:latin typeface="MiSans"/>
                <a:ea typeface="MiSans"/>
              </a:rPr>
              <a:t>Общее ограничение:</a:t>
            </a:r>
            <a:r>
              <a:rPr lang="en-US" sz="1250" noProof="1">
                <a:solidFill>
                  <a:srgbClr val="27231F"/>
                </a:solidFill>
                <a:latin typeface="MiSans"/>
                <a:ea typeface="MiSans"/>
              </a:rPr>
              <a:t> практики закрепляются локальными актами учреждений, а не региональными нормативами — отсюда их уязвимость при проверках и смене руководства</a:t>
            </a:r>
            <a:endParaRPr lang="en-US" sz="125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2F4F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num"/>
          <p:cNvSpPr txBox="1"/>
          <p:nvPr/>
        </p:nvSpPr>
        <p:spPr>
          <a:xfrm>
            <a:off x="711200" y="1371600"/>
            <a:ext cx="4318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800" noProof="1">
                <a:solidFill>
                  <a:srgbClr val="FFFFFF">
                    <a:alpha val="12157"/>
                  </a:srgbClr>
                </a:solidFill>
                <a:latin typeface="Oranienbaum"/>
                <a:ea typeface="Oranienbaum"/>
              </a:rPr>
              <a:t>04</a:t>
            </a:r>
            <a:endParaRPr lang="en-US" sz="12800" noProof="1"/>
          </a:p>
        </p:txBody>
      </p:sp>
      <p:sp>
        <p:nvSpPr>
          <p:cNvPr id="3" name="seclabel"/>
          <p:cNvSpPr txBox="1"/>
          <p:nvPr/>
        </p:nvSpPr>
        <p:spPr>
          <a:xfrm>
            <a:off x="812800" y="3759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РАЗДЕЛ 4</a:t>
            </a:r>
            <a:endParaRPr lang="en-US" sz="1100" noProof="1"/>
          </a:p>
        </p:txBody>
      </p:sp>
      <p:sp>
        <p:nvSpPr>
          <p:cNvPr id="4" name="dtitle"/>
          <p:cNvSpPr txBox="1"/>
          <p:nvPr/>
        </p:nvSpPr>
        <p:spPr>
          <a:xfrm>
            <a:off x="812800" y="4089400"/>
            <a:ext cx="1016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400" noProof="1">
                <a:solidFill>
                  <a:srgbClr val="FFFFFF"/>
                </a:solidFill>
                <a:latin typeface="Oranienbaum"/>
                <a:ea typeface="Oranienbaum"/>
              </a:rPr>
              <a:t>Организация вариативного меню</a:t>
            </a:r>
            <a:endParaRPr lang="en-US" sz="3400" noProof="1"/>
          </a:p>
        </p:txBody>
      </p:sp>
      <p:sp>
        <p:nvSpPr>
          <p:cNvPr id="5" name="drule"/>
          <p:cNvSpPr/>
          <p:nvPr/>
        </p:nvSpPr>
        <p:spPr>
          <a:xfrm>
            <a:off x="812800" y="4927600"/>
            <a:ext cx="812800" cy="38100"/>
          </a:xfrm>
          <a:prstGeom prst="rect">
            <a:avLst/>
          </a:prstGeom>
          <a:solidFill>
            <a:srgbClr val="B66A3C"/>
          </a:solidFill>
          <a:ln>
            <a:noFill/>
          </a:ln>
        </p:spPr>
      </p:sp>
      <p:sp>
        <p:nvSpPr>
          <p:cNvPr id="6" name="dsub"/>
          <p:cNvSpPr txBox="1"/>
          <p:nvPr/>
        </p:nvSpPr>
        <p:spPr>
          <a:xfrm>
            <a:off x="812800" y="5130800"/>
            <a:ext cx="9652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350" noProof="1" i="1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Пять организационных моделей, технология выбора, диетические треки и типовые ошибки внедрения</a:t>
            </a:r>
            <a:endParaRPr lang="en-US" sz="1350" noProof="1"/>
          </a:p>
        </p:txBody>
      </p:sp>
      <p:sp>
        <p:nvSpPr>
          <p:cNvPr id="7" name="dnum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20 / 28</a:t>
            </a:r>
            <a:endParaRPr lang="en-US" sz="1000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spc="250" kern="0">
                <a:solidFill>
                  <a:srgbClr val="2F4F5F"/>
                </a:solidFill>
                <a:latin typeface="MiSans"/>
                <a:ea typeface="MiSans"/>
              </a:rPr>
              <a:t>РАЗДЕЛ 4 · ОРГАНИЗАЦИОННЫЕ МОДЕЛИ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842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700" noProof="1">
                <a:solidFill>
                  <a:srgbClr val="27231F"/>
                </a:solidFill>
                <a:latin typeface="Oranienbaum"/>
                <a:ea typeface="Oranienbaum"/>
              </a:rPr>
              <a:t>Пять моделей вариативного меню</a:t>
            </a:r>
            <a:endParaRPr lang="en-US" sz="2700" noProof="1"/>
          </a:p>
        </p:txBody>
      </p:sp>
      <p:sp>
        <p:nvSpPr>
          <p:cNvPr id="4" name="h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5" name="frul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6" name="fleft"/>
          <p:cNvSpPr txBox="1"/>
          <p:nvPr/>
        </p:nvSpPr>
        <p:spPr>
          <a:xfrm>
            <a:off x="812800" y="65024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Вариативное меню в учреждениях социального обслуживания · Аналитический доклад · 2026</a:t>
            </a:r>
            <a:endParaRPr lang="en-US" sz="1000" noProof="1"/>
          </a:p>
        </p:txBody>
      </p:sp>
      <p:sp>
        <p:nvSpPr>
          <p:cNvPr id="7" name="fright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21 / 28</a:t>
            </a:r>
            <a:endParaRPr lang="en-US" sz="1000" noProof="1"/>
          </a:p>
        </p:txBody>
      </p:sp>
      <p:graphicFrame>
        <p:nvGraphicFramePr>
          <p:cNvPr id="8" name="tbl"/>
          <p:cNvGraphicFramePr>
            <a:graphicFrameLocks noGrp="1"/>
          </p:cNvGraphicFramePr>
          <p:nvPr/>
        </p:nvGraphicFramePr>
        <p:xfrm>
          <a:off x="812800" y="1549400"/>
          <a:ext cx="10566400" cy="4267200"/>
        </p:xfrm>
        <a:graphic>
          <a:graphicData uri="http://schemas.openxmlformats.org/drawingml/2006/table">
            <a:tbl>
              <a:tblPr/>
              <a:tblGrid>
                <a:gridCol w="2324608"/>
                <a:gridCol w="4649216"/>
                <a:gridCol w="3592576"/>
              </a:tblGrid>
              <a:tr h="42672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Модель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2F4F5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Суть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2F4F5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Когда применима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2F4F5F"/>
                    </a:solidFill>
                  </a:tcPr>
                </a:tc>
              </a:tr>
              <a:tr h="810768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1. Двухвариантное меню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Два варианта ключевых блюд на основные приёмы пищи; выбор фиксируется накануне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Минимальные затраты; самая распространённая (Болотнинский ПНИ [29])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0768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2. Меню-заказ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Предварительный заказ из цикличного ассортимента (10–15 позиций) на неделю вперёд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Самостоятельные проживающие; нужны карточки выбора / ПО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</a:tr>
              <a:tr h="72542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3. «Шведский стол»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Буфетное самообслуживание на линии раздачи в рамках норм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Мобильные проживающие; контроль норм выдачи и санитарное сопровождение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542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4. Смешанная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Вариативность несколько раз в неделю; в остальные дни — единое меню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Компромисс между затратами и качеством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1EBDC"/>
                    </a:solidFill>
                  </a:tcPr>
                </a:tc>
              </a:tr>
              <a:tr h="76809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 b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5. Событийная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Праздничные, сезонные и национальные меню; дни рождения проживающих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50" noProof="1">
                          <a:solidFill>
                            <a:srgbClr val="27231F"/>
                          </a:solidFill>
                          <a:latin typeface="MiSans"/>
                          <a:ea typeface="MiSans"/>
                        </a:rPr>
                        <a:t>Дополняет регулярный выбор; повышает субъективное качество жизни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2C0"/>
                      </a:solidFill>
                    </a:lnL>
                    <a:lnR w="9525">
                      <a:solidFill>
                        <a:srgbClr val="D9D2C0"/>
                      </a:solidFill>
                    </a:lnR>
                    <a:lnT w="9525">
                      <a:solidFill>
                        <a:srgbClr val="D9D2C0"/>
                      </a:solidFill>
                    </a:lnT>
                    <a:lnB w="9525">
                      <a:solidFill>
                        <a:srgbClr val="D9D2C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mnote"/>
          <p:cNvSpPr txBox="1"/>
          <p:nvPr/>
        </p:nvSpPr>
        <p:spPr>
          <a:xfrm>
            <a:off x="812800" y="59436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Все модели работают внутри утверждённых норм — через взаимозаменяемость продуктов (прил. 6 пост. № 12, прил. 11 СанПиН)</a:t>
            </a:r>
            <a:endParaRPr lang="en-US" sz="1000" noProof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spc="250" kern="0">
                <a:solidFill>
                  <a:srgbClr val="2F4F5F"/>
                </a:solidFill>
                <a:latin typeface="MiSans"/>
                <a:ea typeface="MiSans"/>
              </a:rPr>
              <a:t>РАЗДЕЛ 4 · ТЕХНОЛОГИЯ ВЫБОРА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842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700" noProof="1">
                <a:solidFill>
                  <a:srgbClr val="27231F"/>
                </a:solidFill>
                <a:latin typeface="Oranienbaum"/>
                <a:ea typeface="Oranienbaum"/>
              </a:rPr>
              <a:t>Четыре обязательных элемента процедуры выбора</a:t>
            </a:r>
            <a:endParaRPr lang="en-US" sz="2700" noProof="1"/>
          </a:p>
        </p:txBody>
      </p:sp>
      <p:sp>
        <p:nvSpPr>
          <p:cNvPr id="4" name="h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5" name="frul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6" name="fleft"/>
          <p:cNvSpPr txBox="1"/>
          <p:nvPr/>
        </p:nvSpPr>
        <p:spPr>
          <a:xfrm>
            <a:off x="812800" y="65024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Вариативное меню в учреждениях социального обслуживания · Аналитический доклад · 2026</a:t>
            </a:r>
            <a:endParaRPr lang="en-US" sz="1000" noProof="1"/>
          </a:p>
        </p:txBody>
      </p:sp>
      <p:sp>
        <p:nvSpPr>
          <p:cNvPr id="7" name="fright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22 / 28</a:t>
            </a:r>
            <a:endParaRPr lang="en-US" sz="1000" noProof="1"/>
          </a:p>
        </p:txBody>
      </p:sp>
      <p:sp>
        <p:nvSpPr>
          <p:cNvPr id="8" name="chv0"/>
          <p:cNvSpPr/>
          <p:nvPr/>
        </p:nvSpPr>
        <p:spPr>
          <a:xfrm>
            <a:off x="812800" y="1727200"/>
            <a:ext cx="2641600" cy="609600"/>
          </a:xfrm>
          <a:prstGeom prst="homePlate">
            <a:avLst>
              <a:gd name="adj" fmla="val 35000"/>
            </a:avLst>
          </a:prstGeom>
          <a:solidFill>
            <a:srgbClr val="2F4F5F"/>
          </a:solidFill>
          <a:ln>
            <a:noFill/>
          </a:ln>
        </p:spPr>
      </p:sp>
      <p:sp>
        <p:nvSpPr>
          <p:cNvPr id="9" name="chv0t"/>
          <p:cNvSpPr txBox="1"/>
          <p:nvPr/>
        </p:nvSpPr>
        <p:spPr>
          <a:xfrm>
            <a:off x="990600" y="1727200"/>
            <a:ext cx="2159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1. Информирование</a:t>
            </a:r>
            <a:endParaRPr lang="en-US" sz="1300" noProof="1"/>
          </a:p>
        </p:txBody>
      </p:sp>
      <p:sp>
        <p:nvSpPr>
          <p:cNvPr id="10" name="chv0d"/>
          <p:cNvSpPr txBox="1"/>
          <p:nvPr/>
        </p:nvSpPr>
        <p:spPr>
          <a:xfrm>
            <a:off x="812800" y="2489200"/>
            <a:ext cx="24892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8000"/>
              </a:lnSpc>
            </a:pPr>
            <a:r>
              <a:rPr lang="en-US" sz="1100" noProof="1">
                <a:solidFill>
                  <a:srgbClr val="27231F"/>
                </a:solidFill>
                <a:latin typeface="MiSans"/>
                <a:ea typeface="MiSans"/>
              </a:rPr>
              <a:t>меню в доступной форме — печатное, визуальное с фото для лиц с когнитивными нарушениями, озвучивание</a:t>
            </a:r>
            <a:endParaRPr lang="en-US" sz="1100" noProof="1"/>
          </a:p>
        </p:txBody>
      </p:sp>
      <p:sp>
        <p:nvSpPr>
          <p:cNvPr id="11" name="chv1"/>
          <p:cNvSpPr/>
          <p:nvPr/>
        </p:nvSpPr>
        <p:spPr>
          <a:xfrm>
            <a:off x="3556000" y="1727200"/>
            <a:ext cx="2641600" cy="609600"/>
          </a:xfrm>
          <a:prstGeom prst="homePlate">
            <a:avLst>
              <a:gd name="adj" fmla="val 35000"/>
            </a:avLst>
          </a:prstGeom>
          <a:solidFill>
            <a:srgbClr val="2F4F5F"/>
          </a:solidFill>
          <a:ln>
            <a:noFill/>
          </a:ln>
        </p:spPr>
      </p:sp>
      <p:sp>
        <p:nvSpPr>
          <p:cNvPr id="12" name="chv1t"/>
          <p:cNvSpPr txBox="1"/>
          <p:nvPr/>
        </p:nvSpPr>
        <p:spPr>
          <a:xfrm>
            <a:off x="3733800" y="1727200"/>
            <a:ext cx="2159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2. Фиксация выбора</a:t>
            </a:r>
            <a:endParaRPr lang="en-US" sz="1300" noProof="1"/>
          </a:p>
        </p:txBody>
      </p:sp>
      <p:sp>
        <p:nvSpPr>
          <p:cNvPr id="13" name="chv1d"/>
          <p:cNvSpPr txBox="1"/>
          <p:nvPr/>
        </p:nvSpPr>
        <p:spPr>
          <a:xfrm>
            <a:off x="3556000" y="2489200"/>
            <a:ext cx="24892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8000"/>
              </a:lnSpc>
            </a:pPr>
            <a:r>
              <a:rPr lang="en-US" sz="1100" noProof="1">
                <a:solidFill>
                  <a:srgbClr val="27231F"/>
                </a:solidFill>
                <a:latin typeface="MiSans"/>
                <a:ea typeface="MiSans"/>
              </a:rPr>
              <a:t>листы выбора по комнатам и отделениям накануне — точная заявка пищеблоку, минимум отходов</a:t>
            </a:r>
            <a:endParaRPr lang="en-US" sz="1100" noProof="1"/>
          </a:p>
        </p:txBody>
      </p:sp>
      <p:sp>
        <p:nvSpPr>
          <p:cNvPr id="14" name="chv2"/>
          <p:cNvSpPr/>
          <p:nvPr/>
        </p:nvSpPr>
        <p:spPr>
          <a:xfrm>
            <a:off x="6299200" y="1727200"/>
            <a:ext cx="2641600" cy="609600"/>
          </a:xfrm>
          <a:prstGeom prst="homePlate">
            <a:avLst>
              <a:gd name="adj" fmla="val 35000"/>
            </a:avLst>
          </a:prstGeom>
          <a:solidFill>
            <a:srgbClr val="2F4F5F"/>
          </a:solidFill>
          <a:ln>
            <a:noFill/>
          </a:ln>
        </p:spPr>
      </p:sp>
      <p:sp>
        <p:nvSpPr>
          <p:cNvPr id="15" name="chv2t"/>
          <p:cNvSpPr txBox="1"/>
          <p:nvPr/>
        </p:nvSpPr>
        <p:spPr>
          <a:xfrm>
            <a:off x="6477000" y="1727200"/>
            <a:ext cx="2159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3. Помощь при выборе</a:t>
            </a:r>
            <a:endParaRPr lang="en-US" sz="1300" noProof="1"/>
          </a:p>
        </p:txBody>
      </p:sp>
      <p:sp>
        <p:nvSpPr>
          <p:cNvPr id="16" name="chv2d"/>
          <p:cNvSpPr txBox="1"/>
          <p:nvPr/>
        </p:nvSpPr>
        <p:spPr>
          <a:xfrm>
            <a:off x="6299200" y="2489200"/>
            <a:ext cx="24892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8000"/>
              </a:lnSpc>
            </a:pPr>
            <a:r>
              <a:rPr lang="en-US" sz="1100" noProof="1">
                <a:solidFill>
                  <a:srgbClr val="27231F"/>
                </a:solidFill>
                <a:latin typeface="MiSans"/>
                <a:ea typeface="MiSans"/>
              </a:rPr>
              <a:t>для неспособных выбрать — сотрудники по наблюдаемым предпочтениям и диете; участие законных представителей</a:t>
            </a:r>
            <a:endParaRPr lang="en-US" sz="1100" noProof="1"/>
          </a:p>
        </p:txBody>
      </p:sp>
      <p:sp>
        <p:nvSpPr>
          <p:cNvPr id="17" name="chv3"/>
          <p:cNvSpPr/>
          <p:nvPr/>
        </p:nvSpPr>
        <p:spPr>
          <a:xfrm>
            <a:off x="9042400" y="1727200"/>
            <a:ext cx="2641600" cy="609600"/>
          </a:xfrm>
          <a:prstGeom prst="homePlate">
            <a:avLst>
              <a:gd name="adj" fmla="val 35000"/>
            </a:avLst>
          </a:prstGeom>
          <a:solidFill>
            <a:srgbClr val="2F4F5F"/>
          </a:solidFill>
          <a:ln>
            <a:noFill/>
          </a:ln>
        </p:spPr>
      </p:sp>
      <p:sp>
        <p:nvSpPr>
          <p:cNvPr id="18" name="chv3t"/>
          <p:cNvSpPr txBox="1"/>
          <p:nvPr/>
        </p:nvSpPr>
        <p:spPr>
          <a:xfrm>
            <a:off x="9220200" y="1727200"/>
            <a:ext cx="2159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4. Контроль исполнения</a:t>
            </a:r>
            <a:endParaRPr lang="en-US" sz="1300" noProof="1"/>
          </a:p>
        </p:txBody>
      </p:sp>
      <p:sp>
        <p:nvSpPr>
          <p:cNvPr id="19" name="chv3d"/>
          <p:cNvSpPr txBox="1"/>
          <p:nvPr/>
        </p:nvSpPr>
        <p:spPr>
          <a:xfrm>
            <a:off x="9042400" y="2489200"/>
            <a:ext cx="24892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8000"/>
              </a:lnSpc>
            </a:pPr>
            <a:r>
              <a:rPr lang="en-US" sz="1100" noProof="1">
                <a:solidFill>
                  <a:srgbClr val="27231F"/>
                </a:solidFill>
                <a:latin typeface="MiSans"/>
                <a:ea typeface="MiSans"/>
              </a:rPr>
              <a:t>сверка выданного с выбранным; регистрация и анализ расхождений</a:t>
            </a:r>
            <a:endParaRPr lang="en-US" sz="1100" noProof="1"/>
          </a:p>
        </p:txBody>
      </p:sp>
      <p:sp>
        <p:nvSpPr>
          <p:cNvPr id="20" name="trule"/>
          <p:cNvSpPr/>
          <p:nvPr/>
        </p:nvSpPr>
        <p:spPr>
          <a:xfrm>
            <a:off x="812800" y="46482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21" name="trackh"/>
          <p:cNvSpPr txBox="1"/>
          <p:nvPr/>
        </p:nvSpPr>
        <p:spPr>
          <a:xfrm>
            <a:off x="812800" y="4826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2F4F5F"/>
                </a:solidFill>
                <a:latin typeface="MiSans"/>
                <a:ea typeface="MiSans"/>
              </a:rPr>
              <a:t>Диетические треки — абсолютное ограничение выбора</a:t>
            </a:r>
            <a:endParaRPr lang="en-US" sz="1500" noProof="1"/>
          </a:p>
        </p:txBody>
      </p:sp>
      <p:sp>
        <p:nvSpPr>
          <p:cNvPr id="22" name="trackt"/>
          <p:cNvSpPr txBox="1"/>
          <p:nvPr/>
        </p:nvSpPr>
        <p:spPr>
          <a:xfrm>
            <a:off x="812800" y="5130800"/>
            <a:ext cx="105664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2000"/>
              </a:lnSpc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Выбор всегда строится </a:t>
            </a:r>
            <a:r>
              <a:rPr lang="en-US" sz="1200" noProof="1" b="1">
                <a:solidFill>
                  <a:srgbClr val="27231F"/>
                </a:solidFill>
                <a:latin typeface="MiSans"/>
                <a:ea typeface="MiSans"/>
              </a:rPr>
              <a:t>внутри назначенной диеты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(стандартные диеты приказа № 395н; п. 7.1.11 СанПиН) — цикличное меню разрабатывается в двух и более диетических версиях, каждая со своими вариантами. Для лежачих проживающих и лиц с дисфагией вариативность реализуется через вкусовые и текстурные варианты (протёртые, измельчённые блюда, специализированные смеси) [8][12]</a:t>
            </a:r>
            <a:endParaRPr lang="en-US" sz="1200" noProof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spc="250" kern="0">
                <a:solidFill>
                  <a:srgbClr val="2F4F5F"/>
                </a:solidFill>
                <a:latin typeface="MiSans"/>
                <a:ea typeface="MiSans"/>
              </a:rPr>
              <a:t>РАЗДЕЛ 4 · РИСКИ ВНЕДРЕНИЯ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842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700" noProof="1">
                <a:solidFill>
                  <a:srgbClr val="27231F"/>
                </a:solidFill>
                <a:latin typeface="Oranienbaum"/>
                <a:ea typeface="Oranienbaum"/>
              </a:rPr>
              <a:t>Типовые ошибки и экономика вариативного меню</a:t>
            </a:r>
            <a:endParaRPr lang="en-US" sz="2700" noProof="1"/>
          </a:p>
        </p:txBody>
      </p:sp>
      <p:sp>
        <p:nvSpPr>
          <p:cNvPr id="4" name="h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5" name="frul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6" name="fleft"/>
          <p:cNvSpPr txBox="1"/>
          <p:nvPr/>
        </p:nvSpPr>
        <p:spPr>
          <a:xfrm>
            <a:off x="812800" y="65024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Вариативное меню в учреждениях социального обслуживания · Аналитический доклад · 2026</a:t>
            </a:r>
            <a:endParaRPr lang="en-US" sz="1000" noProof="1"/>
          </a:p>
        </p:txBody>
      </p:sp>
      <p:sp>
        <p:nvSpPr>
          <p:cNvPr id="7" name="fright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23 / 28</a:t>
            </a:r>
            <a:endParaRPr lang="en-US" sz="1000" noProof="1"/>
          </a:p>
        </p:txBody>
      </p:sp>
      <p:sp>
        <p:nvSpPr>
          <p:cNvPr id="8" name="eh"/>
          <p:cNvSpPr txBox="1"/>
          <p:nvPr/>
        </p:nvSpPr>
        <p:spPr>
          <a:xfrm>
            <a:off x="812800" y="1549400"/>
            <a:ext cx="609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2F4F5F"/>
                </a:solidFill>
                <a:latin typeface="MiSans"/>
                <a:ea typeface="MiSans"/>
              </a:rPr>
              <a:t>Пять типовых ошибок</a:t>
            </a:r>
            <a:endParaRPr lang="en-US" sz="1500" noProof="1"/>
          </a:p>
        </p:txBody>
      </p:sp>
      <p:sp>
        <p:nvSpPr>
          <p:cNvPr id="9" name="er0"/>
          <p:cNvSpPr txBox="1"/>
          <p:nvPr/>
        </p:nvSpPr>
        <p:spPr>
          <a:xfrm>
            <a:off x="812800" y="1905000"/>
            <a:ext cx="635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2000"/>
              </a:lnSpc>
            </a:pPr>
            <a:r>
              <a:rPr lang="en-US" sz="1200" noProof="1" b="1">
                <a:solidFill>
                  <a:srgbClr val="B66A3C"/>
                </a:solidFill>
                <a:latin typeface="MiSans"/>
                <a:ea typeface="MiSans"/>
              </a:rPr>
              <a:t>1.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«Вариативность вне норм» — варианты за пределами продуктового набора без финансирования</a:t>
            </a:r>
            <a:endParaRPr lang="en-US" sz="1200" noProof="1"/>
          </a:p>
        </p:txBody>
      </p:sp>
      <p:sp>
        <p:nvSpPr>
          <p:cNvPr id="10" name="er1"/>
          <p:cNvSpPr txBox="1"/>
          <p:nvPr/>
        </p:nvSpPr>
        <p:spPr>
          <a:xfrm>
            <a:off x="812800" y="2514600"/>
            <a:ext cx="635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2000"/>
              </a:lnSpc>
            </a:pPr>
            <a:r>
              <a:rPr lang="en-US" sz="1200" noProof="1" b="1">
                <a:solidFill>
                  <a:srgbClr val="B66A3C"/>
                </a:solidFill>
                <a:latin typeface="MiSans"/>
                <a:ea typeface="MiSans"/>
              </a:rPr>
              <a:t>2.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Формальный выбор — варианты объявлены, но фактически подаётся одно блюдо</a:t>
            </a:r>
            <a:endParaRPr lang="en-US" sz="1200" noProof="1"/>
          </a:p>
        </p:txBody>
      </p:sp>
      <p:sp>
        <p:nvSpPr>
          <p:cNvPr id="11" name="er2"/>
          <p:cNvSpPr txBox="1"/>
          <p:nvPr/>
        </p:nvSpPr>
        <p:spPr>
          <a:xfrm>
            <a:off x="812800" y="3124200"/>
            <a:ext cx="635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2000"/>
              </a:lnSpc>
            </a:pPr>
            <a:r>
              <a:rPr lang="en-US" sz="1200" noProof="1" b="1">
                <a:solidFill>
                  <a:srgbClr val="B66A3C"/>
                </a:solidFill>
                <a:latin typeface="MiSans"/>
                <a:ea typeface="MiSans"/>
              </a:rPr>
              <a:t>3.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Игнорирование диетических треков — варианты, несовместимые с назначенной диетой</a:t>
            </a:r>
            <a:endParaRPr lang="en-US" sz="1200" noProof="1"/>
          </a:p>
        </p:txBody>
      </p:sp>
      <p:sp>
        <p:nvSpPr>
          <p:cNvPr id="12" name="er3"/>
          <p:cNvSpPr txBox="1"/>
          <p:nvPr/>
        </p:nvSpPr>
        <p:spPr>
          <a:xfrm>
            <a:off x="812800" y="3733800"/>
            <a:ext cx="635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2000"/>
              </a:lnSpc>
            </a:pPr>
            <a:r>
              <a:rPr lang="en-US" sz="1200" noProof="1" b="1">
                <a:solidFill>
                  <a:srgbClr val="B66A3C"/>
                </a:solidFill>
                <a:latin typeface="MiSans"/>
                <a:ea typeface="MiSans"/>
              </a:rPr>
              <a:t>4.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Недокументированность — нет локального акта, листов выбора, бракеража вариантов</a:t>
            </a:r>
            <a:endParaRPr lang="en-US" sz="1200" noProof="1"/>
          </a:p>
        </p:txBody>
      </p:sp>
      <p:sp>
        <p:nvSpPr>
          <p:cNvPr id="13" name="er4"/>
          <p:cNvSpPr txBox="1"/>
          <p:nvPr/>
        </p:nvSpPr>
        <p:spPr>
          <a:xfrm>
            <a:off x="812800" y="4343400"/>
            <a:ext cx="635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2000"/>
              </a:lnSpc>
            </a:pPr>
            <a:r>
              <a:rPr lang="en-US" sz="1200" noProof="1" b="1">
                <a:solidFill>
                  <a:srgbClr val="B66A3C"/>
                </a:solidFill>
                <a:latin typeface="MiSans"/>
                <a:ea typeface="MiSans"/>
              </a:rPr>
              <a:t>5.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Отсутствие оценки эффекта — нет нулевого и повторных замеров удовлетворённости</a:t>
            </a:r>
            <a:endParaRPr lang="en-US" sz="1200" noProof="1"/>
          </a:p>
        </p:txBody>
      </p:sp>
      <p:sp>
        <p:nvSpPr>
          <p:cNvPr id="14" name="esrc"/>
          <p:cNvSpPr txBox="1"/>
          <p:nvPr/>
        </p:nvSpPr>
        <p:spPr>
          <a:xfrm>
            <a:off x="812800" y="50546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Правовые основания корректной модели — [8][10][15][29]</a:t>
            </a:r>
            <a:endParaRPr lang="en-US" sz="1000" noProof="1"/>
          </a:p>
        </p:txBody>
      </p:sp>
      <p:sp>
        <p:nvSpPr>
          <p:cNvPr id="15" name="vline"/>
          <p:cNvSpPr/>
          <p:nvPr/>
        </p:nvSpPr>
        <p:spPr>
          <a:xfrm>
            <a:off x="7620000" y="1549400"/>
            <a:ext cx="12700" cy="44450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6" name="ekh"/>
          <p:cNvSpPr txBox="1"/>
          <p:nvPr/>
        </p:nvSpPr>
        <p:spPr>
          <a:xfrm>
            <a:off x="7975600" y="1549400"/>
            <a:ext cx="3403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2F4F5F"/>
                </a:solidFill>
                <a:latin typeface="MiSans"/>
                <a:ea typeface="MiSans"/>
              </a:rPr>
              <a:t>Экономика вопроса</a:t>
            </a:r>
            <a:endParaRPr lang="en-US" sz="1500" noProof="1"/>
          </a:p>
        </p:txBody>
      </p:sp>
      <p:sp>
        <p:nvSpPr>
          <p:cNvPr id="17" name="ekt"/>
          <p:cNvSpPr txBox="1"/>
          <p:nvPr/>
        </p:nvSpPr>
        <p:spPr>
          <a:xfrm>
            <a:off x="7975600" y="1905000"/>
            <a:ext cx="34036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2000"/>
              </a:lnSpc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Вариативное меню объективно </a:t>
            </a:r>
            <a:r>
              <a:rPr lang="en-US" sz="1200" noProof="1" b="1">
                <a:solidFill>
                  <a:srgbClr val="27231F"/>
                </a:solidFill>
                <a:latin typeface="MiSans"/>
                <a:ea typeface="MiSans"/>
              </a:rPr>
              <a:t>дороже единого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— больший складской запас, сложнее планирование, больше отходов при ошибках прогноза выбора.</a:t>
            </a:r>
            <a:endParaRPr lang="en-US" sz="1200" noProof="1"/>
          </a:p>
          <a:p>
            <a:pPr>
              <a:lnSpc>
                <a:spcPct val="142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При нормативе порядка </a:t>
            </a:r>
            <a:r>
              <a:rPr lang="en-US" sz="1200" noProof="1" b="1">
                <a:solidFill>
                  <a:srgbClr val="27231F"/>
                </a:solidFill>
                <a:latin typeface="MiSans"/>
                <a:ea typeface="MiSans"/>
              </a:rPr>
              <a:t>224–310 ₽ на койко-день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(аудит в Татарстане [30]) вариативность возможна только за счёт управленческой эффективности.</a:t>
            </a:r>
            <a:endParaRPr lang="en-US" sz="1200" noProof="1"/>
          </a:p>
        </p:txBody>
      </p:sp>
      <p:sp>
        <p:nvSpPr>
          <p:cNvPr id="18" name="ekt2"/>
          <p:cNvSpPr txBox="1"/>
          <p:nvPr/>
        </p:nvSpPr>
        <p:spPr>
          <a:xfrm>
            <a:off x="7975600" y="4826000"/>
            <a:ext cx="34036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2000"/>
              </a:lnSpc>
            </a:pPr>
            <a:r>
              <a:rPr lang="en-US" sz="1200" noProof="1" b="1">
                <a:solidFill>
                  <a:srgbClr val="2F4F5F"/>
                </a:solidFill>
                <a:latin typeface="MiSans"/>
                <a:ea typeface="MiSans"/>
              </a:rPr>
              <a:t>Условия экономической состоятельности:</a:t>
            </a:r>
            <a:r>
              <a:rPr lang="en-US" sz="1200" noProof="1">
                <a:solidFill>
                  <a:srgbClr val="2F4F5F"/>
                </a:solidFill>
                <a:latin typeface="MiSans"/>
                <a:ea typeface="MiSans"/>
              </a:rPr>
              <a:t> точный учёт выбора накануне; унификация полуфабрикатов; честный расчёт стоимости варианта</a:t>
            </a:r>
            <a:endParaRPr lang="en-US" sz="1200" noProof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2F4F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num"/>
          <p:cNvSpPr txBox="1"/>
          <p:nvPr/>
        </p:nvSpPr>
        <p:spPr>
          <a:xfrm>
            <a:off x="711200" y="1371600"/>
            <a:ext cx="4318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800" noProof="1">
                <a:solidFill>
                  <a:srgbClr val="FFFFFF">
                    <a:alpha val="12157"/>
                  </a:srgbClr>
                </a:solidFill>
                <a:latin typeface="Oranienbaum"/>
                <a:ea typeface="Oranienbaum"/>
              </a:rPr>
              <a:t>05–06</a:t>
            </a:r>
            <a:endParaRPr lang="en-US" sz="12800" noProof="1"/>
          </a:p>
        </p:txBody>
      </p:sp>
      <p:sp>
        <p:nvSpPr>
          <p:cNvPr id="3" name="seclabel"/>
          <p:cNvSpPr txBox="1"/>
          <p:nvPr/>
        </p:nvSpPr>
        <p:spPr>
          <a:xfrm>
            <a:off x="812800" y="3759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РАЗДЕЛЫ 5–6</a:t>
            </a:r>
            <a:endParaRPr lang="en-US" sz="1100" noProof="1"/>
          </a:p>
        </p:txBody>
      </p:sp>
      <p:sp>
        <p:nvSpPr>
          <p:cNvPr id="4" name="dtitle"/>
          <p:cNvSpPr txBox="1"/>
          <p:nvPr/>
        </p:nvSpPr>
        <p:spPr>
          <a:xfrm>
            <a:off x="812800" y="4089400"/>
            <a:ext cx="1016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400" noProof="1">
                <a:solidFill>
                  <a:srgbClr val="FFFFFF"/>
                </a:solidFill>
                <a:latin typeface="Oranienbaum"/>
                <a:ea typeface="Oranienbaum"/>
              </a:rPr>
              <a:t>Контроль, проблемы и предложения</a:t>
            </a:r>
            <a:endParaRPr lang="en-US" sz="3400" noProof="1"/>
          </a:p>
        </p:txBody>
      </p:sp>
      <p:sp>
        <p:nvSpPr>
          <p:cNvPr id="5" name="drule"/>
          <p:cNvSpPr/>
          <p:nvPr/>
        </p:nvSpPr>
        <p:spPr>
          <a:xfrm>
            <a:off x="812800" y="4927600"/>
            <a:ext cx="812800" cy="38100"/>
          </a:xfrm>
          <a:prstGeom prst="rect">
            <a:avLst/>
          </a:prstGeom>
          <a:solidFill>
            <a:srgbClr val="B66A3C"/>
          </a:solidFill>
          <a:ln>
            <a:noFill/>
          </a:ln>
        </p:spPr>
      </p:sp>
      <p:sp>
        <p:nvSpPr>
          <p:cNvPr id="6" name="dsub"/>
          <p:cNvSpPr txBox="1"/>
          <p:nvPr/>
        </p:nvSpPr>
        <p:spPr>
          <a:xfrm>
            <a:off x="812800" y="5130800"/>
            <a:ext cx="9652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350" noProof="1" i="1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Кто и как проверяет питание в учреждениях соцобслуживания, какие пробелы регулирования выявлены и что предлагается изменить</a:t>
            </a:r>
            <a:endParaRPr lang="en-US" sz="1350" noProof="1"/>
          </a:p>
        </p:txBody>
      </p:sp>
      <p:sp>
        <p:nvSpPr>
          <p:cNvPr id="7" name="dnum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24 / 28</a:t>
            </a:r>
            <a:endParaRPr lang="en-US" sz="1000" noProof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spc="250" kern="0">
                <a:solidFill>
                  <a:srgbClr val="2F4F5F"/>
                </a:solidFill>
                <a:latin typeface="MiSans"/>
                <a:ea typeface="MiSans"/>
              </a:rPr>
              <a:t>РАЗДЕЛ 5 · КОНТРОЛЬ И ЗАЩИТА ПРАВ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842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700" noProof="1">
                <a:solidFill>
                  <a:srgbClr val="27231F"/>
                </a:solidFill>
                <a:latin typeface="Oranienbaum"/>
                <a:ea typeface="Oranienbaum"/>
              </a:rPr>
              <a:t>Контур контроля качества питания</a:t>
            </a:r>
            <a:endParaRPr lang="en-US" sz="2700" noProof="1"/>
          </a:p>
        </p:txBody>
      </p:sp>
      <p:sp>
        <p:nvSpPr>
          <p:cNvPr id="4" name="h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5" name="frul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6" name="fleft"/>
          <p:cNvSpPr txBox="1"/>
          <p:nvPr/>
        </p:nvSpPr>
        <p:spPr>
          <a:xfrm>
            <a:off x="812800" y="65024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Вариативное меню в учреждениях социального обслуживания · Аналитический доклад · 2026</a:t>
            </a:r>
            <a:endParaRPr lang="en-US" sz="1000" noProof="1"/>
          </a:p>
        </p:txBody>
      </p:sp>
      <p:sp>
        <p:nvSpPr>
          <p:cNvPr id="7" name="fright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25 / 28</a:t>
            </a:r>
            <a:endParaRPr lang="en-US" sz="1000" noProof="1"/>
          </a:p>
        </p:txBody>
      </p:sp>
      <p:sp>
        <p:nvSpPr>
          <p:cNvPr id="8" name="mc0t"/>
          <p:cNvSpPr txBox="1"/>
          <p:nvPr/>
        </p:nvSpPr>
        <p:spPr>
          <a:xfrm>
            <a:off x="812800" y="1549400"/>
            <a:ext cx="3175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8000"/>
              </a:lnSpc>
            </a:pPr>
            <a:r>
              <a:rPr lang="en-US" sz="1300" noProof="1" b="1">
                <a:solidFill>
                  <a:srgbClr val="2F4F5F"/>
                </a:solidFill>
                <a:latin typeface="MiSans"/>
                <a:ea typeface="MiSans"/>
              </a:rPr>
              <a:t>Роспотребнадзор</a:t>
            </a:r>
            <a:endParaRPr lang="en-US" sz="1300" noProof="1"/>
          </a:p>
        </p:txBody>
      </p:sp>
      <p:sp>
        <p:nvSpPr>
          <p:cNvPr id="9" name="mc0d"/>
          <p:cNvSpPr txBox="1"/>
          <p:nvPr/>
        </p:nvSpPr>
        <p:spPr>
          <a:xfrm>
            <a:off x="4191000" y="1549400"/>
            <a:ext cx="7188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риск-ориентированный санитарный надзор — пищеблок, нормы, диетпитание (п. 7.1.11); ответственность — ст. 6.3 КоАП РФ [4][8]</a:t>
            </a:r>
            <a:endParaRPr lang="en-US" sz="1150" noProof="1"/>
          </a:p>
        </p:txBody>
      </p:sp>
      <p:sp>
        <p:nvSpPr>
          <p:cNvPr id="10" name="mc0r"/>
          <p:cNvSpPr/>
          <p:nvPr/>
        </p:nvSpPr>
        <p:spPr>
          <a:xfrm>
            <a:off x="812800" y="23622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1" name="mc1t"/>
          <p:cNvSpPr txBox="1"/>
          <p:nvPr/>
        </p:nvSpPr>
        <p:spPr>
          <a:xfrm>
            <a:off x="812800" y="2463800"/>
            <a:ext cx="3175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8000"/>
              </a:lnSpc>
            </a:pPr>
            <a:r>
              <a:rPr lang="en-US" sz="1300" noProof="1" b="1">
                <a:solidFill>
                  <a:srgbClr val="2F4F5F"/>
                </a:solidFill>
                <a:latin typeface="MiSans"/>
                <a:ea typeface="MiSans"/>
              </a:rPr>
              <a:t>Ведомственный и внутренний контроль</a:t>
            </a:r>
            <a:endParaRPr lang="en-US" sz="1300" noProof="1"/>
          </a:p>
        </p:txBody>
      </p:sp>
      <p:sp>
        <p:nvSpPr>
          <p:cNvPr id="12" name="mc1d"/>
          <p:cNvSpPr txBox="1"/>
          <p:nvPr/>
        </p:nvSpPr>
        <p:spPr>
          <a:xfrm>
            <a:off x="4191000" y="2463800"/>
            <a:ext cx="7188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уполномоченные органы субъектов; бракеражные комиссии с участием представителей проживающих</a:t>
            </a:r>
            <a:endParaRPr lang="en-US" sz="1150" noProof="1"/>
          </a:p>
        </p:txBody>
      </p:sp>
      <p:sp>
        <p:nvSpPr>
          <p:cNvPr id="13" name="mc1r"/>
          <p:cNvSpPr/>
          <p:nvPr/>
        </p:nvSpPr>
        <p:spPr>
          <a:xfrm>
            <a:off x="812800" y="3276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4" name="mc2t"/>
          <p:cNvSpPr txBox="1"/>
          <p:nvPr/>
        </p:nvSpPr>
        <p:spPr>
          <a:xfrm>
            <a:off x="812800" y="3378200"/>
            <a:ext cx="3175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8000"/>
              </a:lnSpc>
            </a:pPr>
            <a:r>
              <a:rPr lang="en-US" sz="1300" noProof="1" b="1">
                <a:solidFill>
                  <a:srgbClr val="2F4F5F"/>
                </a:solidFill>
                <a:latin typeface="MiSans"/>
                <a:ea typeface="MiSans"/>
              </a:rPr>
              <a:t>Прокурорский надзор</a:t>
            </a:r>
            <a:endParaRPr lang="en-US" sz="1300" noProof="1"/>
          </a:p>
        </p:txBody>
      </p:sp>
      <p:sp>
        <p:nvSpPr>
          <p:cNvPr id="15" name="mc2d"/>
          <p:cNvSpPr txBox="1"/>
          <p:nvPr/>
        </p:nvSpPr>
        <p:spPr>
          <a:xfrm>
            <a:off x="4191000" y="3378200"/>
            <a:ext cx="7188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типовые нарушения — несоответствие фактического питания нормам, хранение продуктов, документация</a:t>
            </a:r>
            <a:endParaRPr lang="en-US" sz="1150" noProof="1"/>
          </a:p>
        </p:txBody>
      </p:sp>
      <p:sp>
        <p:nvSpPr>
          <p:cNvPr id="16" name="mc2r"/>
          <p:cNvSpPr/>
          <p:nvPr/>
        </p:nvSpPr>
        <p:spPr>
          <a:xfrm>
            <a:off x="812800" y="41910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7" name="mc3t"/>
          <p:cNvSpPr txBox="1"/>
          <p:nvPr/>
        </p:nvSpPr>
        <p:spPr>
          <a:xfrm>
            <a:off x="812800" y="4292600"/>
            <a:ext cx="3175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8000"/>
              </a:lnSpc>
            </a:pPr>
            <a:r>
              <a:rPr lang="en-US" sz="1300" noProof="1" b="1">
                <a:solidFill>
                  <a:srgbClr val="2F4F5F"/>
                </a:solidFill>
                <a:latin typeface="MiSans"/>
                <a:ea typeface="MiSans"/>
              </a:rPr>
              <a:t>Счётные палаты</a:t>
            </a:r>
            <a:endParaRPr lang="en-US" sz="1300" noProof="1"/>
          </a:p>
        </p:txBody>
      </p:sp>
      <p:sp>
        <p:nvSpPr>
          <p:cNvPr id="18" name="mc3d"/>
          <p:cNvSpPr txBox="1"/>
          <p:nvPr/>
        </p:nvSpPr>
        <p:spPr>
          <a:xfrm>
            <a:off x="4191000" y="4292600"/>
            <a:ext cx="7188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аудит «норма против фактического рациона» — кейс Татарстана: 224–310 ₽/койко-день при заниженных рационах [30]</a:t>
            </a:r>
            <a:endParaRPr lang="en-US" sz="1150" noProof="1"/>
          </a:p>
        </p:txBody>
      </p:sp>
      <p:sp>
        <p:nvSpPr>
          <p:cNvPr id="19" name="mc3r"/>
          <p:cNvSpPr/>
          <p:nvPr/>
        </p:nvSpPr>
        <p:spPr>
          <a:xfrm>
            <a:off x="812800" y="51054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20" name="mc4t"/>
          <p:cNvSpPr txBox="1"/>
          <p:nvPr/>
        </p:nvSpPr>
        <p:spPr>
          <a:xfrm>
            <a:off x="812800" y="5207000"/>
            <a:ext cx="3175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8000"/>
              </a:lnSpc>
            </a:pPr>
            <a:r>
              <a:rPr lang="en-US" sz="1300" noProof="1" b="1">
                <a:solidFill>
                  <a:srgbClr val="2F4F5F"/>
                </a:solidFill>
                <a:latin typeface="MiSans"/>
                <a:ea typeface="MiSans"/>
              </a:rPr>
              <a:t>Правозащитный и общественный контроль</a:t>
            </a:r>
            <a:endParaRPr lang="en-US" sz="1300" noProof="1"/>
          </a:p>
        </p:txBody>
      </p:sp>
      <p:sp>
        <p:nvSpPr>
          <p:cNvPr id="21" name="mc4d"/>
          <p:cNvSpPr txBox="1"/>
          <p:nvPr/>
        </p:nvSpPr>
        <p:spPr>
          <a:xfrm>
            <a:off x="4191000" y="5207000"/>
            <a:ext cx="7188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уполномоченные по правам человека (доклад УПЧ РФ [37]), советы проживающих, независимая оценка качества</a:t>
            </a:r>
            <a:endParaRPr lang="en-US" sz="1150" noProof="1"/>
          </a:p>
        </p:txBody>
      </p:sp>
      <p:sp>
        <p:nvSpPr>
          <p:cNvPr id="22" name="cnote"/>
          <p:cNvSpPr txBox="1"/>
          <p:nvPr/>
        </p:nvSpPr>
        <p:spPr>
          <a:xfrm>
            <a:off x="812800" y="60960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B66A3C"/>
                </a:solidFill>
                <a:latin typeface="MiSans"/>
                <a:ea typeface="MiSans"/>
              </a:rPr>
              <a:t>Зафиксированный выбор проживающего — документ: его невыполнение становится доказуемым нарушением.</a:t>
            </a:r>
            <a:endParaRPr lang="en-US" sz="1200" noProof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spc="250" kern="0">
                <a:solidFill>
                  <a:srgbClr val="2F4F5F"/>
                </a:solidFill>
                <a:latin typeface="MiSans"/>
                <a:ea typeface="MiSans"/>
              </a:rPr>
              <a:t>РАЗДЕЛ 6 · DE LEGE FERENDA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842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700" noProof="1">
                <a:solidFill>
                  <a:srgbClr val="27231F"/>
                </a:solidFill>
                <a:latin typeface="Oranienbaum"/>
                <a:ea typeface="Oranienbaum"/>
              </a:rPr>
              <a:t>Предложения по совершенствованию регулирования</a:t>
            </a:r>
            <a:endParaRPr lang="en-US" sz="2700" noProof="1"/>
          </a:p>
        </p:txBody>
      </p:sp>
      <p:sp>
        <p:nvSpPr>
          <p:cNvPr id="4" name="h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5" name="frul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6" name="fleft"/>
          <p:cNvSpPr txBox="1"/>
          <p:nvPr/>
        </p:nvSpPr>
        <p:spPr>
          <a:xfrm>
            <a:off x="812800" y="65024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Вариативное меню в учреждениях социального обслуживания · Аналитический доклад · 2026</a:t>
            </a:r>
            <a:endParaRPr lang="en-US" sz="1000" noProof="1"/>
          </a:p>
        </p:txBody>
      </p:sp>
      <p:sp>
        <p:nvSpPr>
          <p:cNvPr id="7" name="fright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26 / 28</a:t>
            </a:r>
            <a:endParaRPr lang="en-US" sz="1000" noProof="1"/>
          </a:p>
        </p:txBody>
      </p:sp>
      <p:sp>
        <p:nvSpPr>
          <p:cNvPr id="8" name="pr0n"/>
          <p:cNvSpPr txBox="1"/>
          <p:nvPr/>
        </p:nvSpPr>
        <p:spPr>
          <a:xfrm>
            <a:off x="812800" y="1574800"/>
            <a:ext cx="457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B66A3C"/>
                </a:solidFill>
                <a:latin typeface="Oranienbaum"/>
                <a:ea typeface="Oranienbaum"/>
              </a:rPr>
              <a:t>1</a:t>
            </a:r>
            <a:endParaRPr lang="en-US" sz="2000" noProof="1"/>
          </a:p>
        </p:txBody>
      </p:sp>
      <p:sp>
        <p:nvSpPr>
          <p:cNvPr id="9" name="pr0t"/>
          <p:cNvSpPr txBox="1"/>
          <p:nvPr/>
        </p:nvSpPr>
        <p:spPr>
          <a:xfrm>
            <a:off x="1371600" y="1574800"/>
            <a:ext cx="10007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300" noProof="1" b="1">
                <a:solidFill>
                  <a:srgbClr val="2F4F5F"/>
                </a:solidFill>
                <a:latin typeface="MiSans"/>
                <a:ea typeface="MiSans"/>
              </a:rPr>
              <a:t>Понятие.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закрепить «вариативное меню» в региональных стандартах качества социальных услуг</a:t>
            </a:r>
            <a:endParaRPr lang="en-US" sz="1600" noProof="1"/>
          </a:p>
        </p:txBody>
      </p:sp>
      <p:sp>
        <p:nvSpPr>
          <p:cNvPr id="10" name="pr0r"/>
          <p:cNvSpPr/>
          <p:nvPr/>
        </p:nvSpPr>
        <p:spPr>
          <a:xfrm>
            <a:off x="812800" y="2209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1" name="pr1n"/>
          <p:cNvSpPr txBox="1"/>
          <p:nvPr/>
        </p:nvSpPr>
        <p:spPr>
          <a:xfrm>
            <a:off x="812800" y="2311400"/>
            <a:ext cx="457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B66A3C"/>
                </a:solidFill>
                <a:latin typeface="Oranienbaum"/>
                <a:ea typeface="Oranienbaum"/>
              </a:rPr>
              <a:t>2</a:t>
            </a:r>
            <a:endParaRPr lang="en-US" sz="2000" noProof="1"/>
          </a:p>
        </p:txBody>
      </p:sp>
      <p:sp>
        <p:nvSpPr>
          <p:cNvPr id="12" name="pr1t"/>
          <p:cNvSpPr txBox="1"/>
          <p:nvPr/>
        </p:nvSpPr>
        <p:spPr>
          <a:xfrm>
            <a:off x="1371600" y="2311400"/>
            <a:ext cx="10007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300" noProof="1" b="1">
                <a:solidFill>
                  <a:srgbClr val="2F4F5F"/>
                </a:solidFill>
                <a:latin typeface="MiSans"/>
                <a:ea typeface="MiSans"/>
              </a:rPr>
              <a:t>Право выбора.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включить право проживающего на выбор блюд в региональные нормы и перечни — минимум для самостоятельных проживающих</a:t>
            </a:r>
            <a:endParaRPr lang="en-US" sz="1600" noProof="1"/>
          </a:p>
        </p:txBody>
      </p:sp>
      <p:sp>
        <p:nvSpPr>
          <p:cNvPr id="13" name="pr1r"/>
          <p:cNvSpPr/>
          <p:nvPr/>
        </p:nvSpPr>
        <p:spPr>
          <a:xfrm>
            <a:off x="812800" y="29464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4" name="pr2n"/>
          <p:cNvSpPr txBox="1"/>
          <p:nvPr/>
        </p:nvSpPr>
        <p:spPr>
          <a:xfrm>
            <a:off x="812800" y="3048000"/>
            <a:ext cx="457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B66A3C"/>
                </a:solidFill>
                <a:latin typeface="Oranienbaum"/>
                <a:ea typeface="Oranienbaum"/>
              </a:rPr>
              <a:t>3</a:t>
            </a:r>
            <a:endParaRPr lang="en-US" sz="2000" noProof="1"/>
          </a:p>
        </p:txBody>
      </p:sp>
      <p:sp>
        <p:nvSpPr>
          <p:cNvPr id="15" name="pr2t"/>
          <p:cNvSpPr txBox="1"/>
          <p:nvPr/>
        </p:nvSpPr>
        <p:spPr>
          <a:xfrm>
            <a:off x="1371600" y="3048000"/>
            <a:ext cx="10007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300" noProof="1" b="1">
                <a:solidFill>
                  <a:srgbClr val="2F4F5F"/>
                </a:solidFill>
                <a:latin typeface="MiSans"/>
                <a:ea typeface="MiSans"/>
              </a:rPr>
              <a:t>Методология.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методические рекомендации Минтруда — типовые локальные акты, листы выбора, модели меню (проект — прил. 6 доклада)</a:t>
            </a:r>
            <a:endParaRPr lang="en-US" sz="1600" noProof="1"/>
          </a:p>
        </p:txBody>
      </p:sp>
      <p:sp>
        <p:nvSpPr>
          <p:cNvPr id="16" name="pr2r"/>
          <p:cNvSpPr/>
          <p:nvPr/>
        </p:nvSpPr>
        <p:spPr>
          <a:xfrm>
            <a:off x="812800" y="36830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7" name="pr3n"/>
          <p:cNvSpPr txBox="1"/>
          <p:nvPr/>
        </p:nvSpPr>
        <p:spPr>
          <a:xfrm>
            <a:off x="812800" y="3784600"/>
            <a:ext cx="457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B66A3C"/>
                </a:solidFill>
                <a:latin typeface="Oranienbaum"/>
                <a:ea typeface="Oranienbaum"/>
              </a:rPr>
              <a:t>4</a:t>
            </a:r>
            <a:endParaRPr lang="en-US" sz="2000" noProof="1"/>
          </a:p>
        </p:txBody>
      </p:sp>
      <p:sp>
        <p:nvSpPr>
          <p:cNvPr id="18" name="pr3t"/>
          <p:cNvSpPr txBox="1"/>
          <p:nvPr/>
        </p:nvSpPr>
        <p:spPr>
          <a:xfrm>
            <a:off x="1371600" y="3784600"/>
            <a:ext cx="10007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300" noProof="1" b="1">
                <a:solidFill>
                  <a:srgbClr val="2F4F5F"/>
                </a:solidFill>
                <a:latin typeface="MiSans"/>
                <a:ea typeface="MiSans"/>
              </a:rPr>
              <a:t>Оценка качества.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показатели удовлетворённости питанием — в отчётность учреждений и независимую оценку качества</a:t>
            </a:r>
            <a:endParaRPr lang="en-US" sz="1600" noProof="1"/>
          </a:p>
        </p:txBody>
      </p:sp>
      <p:sp>
        <p:nvSpPr>
          <p:cNvPr id="19" name="pr3r"/>
          <p:cNvSpPr/>
          <p:nvPr/>
        </p:nvSpPr>
        <p:spPr>
          <a:xfrm>
            <a:off x="812800" y="4419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20" name="pr4n"/>
          <p:cNvSpPr txBox="1"/>
          <p:nvPr/>
        </p:nvSpPr>
        <p:spPr>
          <a:xfrm>
            <a:off x="812800" y="4521200"/>
            <a:ext cx="457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B66A3C"/>
                </a:solidFill>
                <a:latin typeface="Oranienbaum"/>
                <a:ea typeface="Oranienbaum"/>
              </a:rPr>
              <a:t>5</a:t>
            </a:r>
            <a:endParaRPr lang="en-US" sz="2000" noProof="1"/>
          </a:p>
        </p:txBody>
      </p:sp>
      <p:sp>
        <p:nvSpPr>
          <p:cNvPr id="21" name="pr4t"/>
          <p:cNvSpPr txBox="1"/>
          <p:nvPr/>
        </p:nvSpPr>
        <p:spPr>
          <a:xfrm>
            <a:off x="1371600" y="4521200"/>
            <a:ext cx="10007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300" noProof="1" b="1">
                <a:solidFill>
                  <a:srgbClr val="2F4F5F"/>
                </a:solidFill>
                <a:latin typeface="MiSans"/>
                <a:ea typeface="MiSans"/>
              </a:rPr>
              <a:t>Межведомственная граница.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согласовать компетенцию Минтруда и Минздрава в диетическом питании проживающих</a:t>
            </a:r>
            <a:endParaRPr lang="en-US" sz="1600" noProof="1"/>
          </a:p>
        </p:txBody>
      </p:sp>
      <p:sp>
        <p:nvSpPr>
          <p:cNvPr id="22" name="pr4r"/>
          <p:cNvSpPr/>
          <p:nvPr/>
        </p:nvSpPr>
        <p:spPr>
          <a:xfrm>
            <a:off x="812800" y="51562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23" name="pr5n"/>
          <p:cNvSpPr txBox="1"/>
          <p:nvPr/>
        </p:nvSpPr>
        <p:spPr>
          <a:xfrm>
            <a:off x="812800" y="5257800"/>
            <a:ext cx="457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B66A3C"/>
                </a:solidFill>
                <a:latin typeface="Oranienbaum"/>
                <a:ea typeface="Oranienbaum"/>
              </a:rPr>
              <a:t>6</a:t>
            </a:r>
            <a:endParaRPr lang="en-US" sz="2000" noProof="1"/>
          </a:p>
        </p:txBody>
      </p:sp>
      <p:sp>
        <p:nvSpPr>
          <p:cNvPr id="24" name="pr5t"/>
          <p:cNvSpPr txBox="1"/>
          <p:nvPr/>
        </p:nvSpPr>
        <p:spPr>
          <a:xfrm>
            <a:off x="1371600" y="5257800"/>
            <a:ext cx="10007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300" noProof="1" b="1">
                <a:solidFill>
                  <a:srgbClr val="2F4F5F"/>
                </a:solidFill>
                <a:latin typeface="MiSans"/>
                <a:ea typeface="MiSans"/>
              </a:rPr>
              <a:t>Финансирование.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норматив, допускающий ассортимент; учёт стоимости вариативности при тарификации услуг</a:t>
            </a:r>
            <a:endParaRPr lang="en-US" sz="1600" noProof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spc="250" kern="0">
                <a:solidFill>
                  <a:srgbClr val="2F4F5F"/>
                </a:solidFill>
                <a:latin typeface="MiSans"/>
                <a:ea typeface="MiSans"/>
              </a:rPr>
              <a:t>ЗАКЛЮЧЕНИЕ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842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700" noProof="1">
                <a:solidFill>
                  <a:srgbClr val="27231F"/>
                </a:solidFill>
                <a:latin typeface="Oranienbaum"/>
                <a:ea typeface="Oranienbaum"/>
              </a:rPr>
              <a:t>Четыре вывода доклада</a:t>
            </a:r>
            <a:endParaRPr lang="en-US" sz="2700" noProof="1"/>
          </a:p>
        </p:txBody>
      </p:sp>
      <p:sp>
        <p:nvSpPr>
          <p:cNvPr id="4" name="hrule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5" name="frul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6" name="fleft"/>
          <p:cNvSpPr txBox="1"/>
          <p:nvPr/>
        </p:nvSpPr>
        <p:spPr>
          <a:xfrm>
            <a:off x="812800" y="65024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Вариативное меню в учреждениях социального обслуживания · Аналитический доклад · 2026</a:t>
            </a:r>
            <a:endParaRPr lang="en-US" sz="1000" noProof="1"/>
          </a:p>
        </p:txBody>
      </p:sp>
      <p:sp>
        <p:nvSpPr>
          <p:cNvPr id="7" name="fright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8B8578"/>
                </a:solidFill>
                <a:latin typeface="MiSans"/>
                <a:ea typeface="MiSans"/>
              </a:rPr>
              <a:t>27 / 28</a:t>
            </a:r>
            <a:endParaRPr lang="en-US" sz="1000" noProof="1"/>
          </a:p>
        </p:txBody>
      </p:sp>
      <p:sp>
        <p:nvSpPr>
          <p:cNvPr id="8" name="cc0n"/>
          <p:cNvSpPr txBox="1"/>
          <p:nvPr/>
        </p:nvSpPr>
        <p:spPr>
          <a:xfrm>
            <a:off x="812800" y="1676400"/>
            <a:ext cx="6604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B66A3C"/>
                </a:solidFill>
                <a:latin typeface="Oranienbaum"/>
                <a:ea typeface="Oranienbaum"/>
              </a:rPr>
              <a:t>1</a:t>
            </a:r>
            <a:endParaRPr lang="en-US" sz="3000" noProof="1"/>
          </a:p>
        </p:txBody>
      </p:sp>
      <p:sp>
        <p:nvSpPr>
          <p:cNvPr id="9" name="cc0t"/>
          <p:cNvSpPr txBox="1"/>
          <p:nvPr/>
        </p:nvSpPr>
        <p:spPr>
          <a:xfrm>
            <a:off x="1574800" y="1676400"/>
            <a:ext cx="98044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350" noProof="1">
                <a:solidFill>
                  <a:srgbClr val="27231F"/>
                </a:solidFill>
                <a:latin typeface="MiSans"/>
                <a:ea typeface="MiSans"/>
              </a:rPr>
              <a:t>Понятия «вариативное меню» в федеральном праве нет — но правовые опоры существуют — права получателей, взаимозаменяемость продуктов, стандартные диеты, стандарты качества</a:t>
            </a:r>
            <a:endParaRPr lang="en-US" sz="1350" noProof="1"/>
          </a:p>
        </p:txBody>
      </p:sp>
      <p:sp>
        <p:nvSpPr>
          <p:cNvPr id="10" name="cc0r"/>
          <p:cNvSpPr/>
          <p:nvPr/>
        </p:nvSpPr>
        <p:spPr>
          <a:xfrm>
            <a:off x="812800" y="27432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1" name="cc1n"/>
          <p:cNvSpPr txBox="1"/>
          <p:nvPr/>
        </p:nvSpPr>
        <p:spPr>
          <a:xfrm>
            <a:off x="812800" y="2844800"/>
            <a:ext cx="6604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B66A3C"/>
                </a:solidFill>
                <a:latin typeface="Oranienbaum"/>
                <a:ea typeface="Oranienbaum"/>
              </a:rPr>
              <a:t>2</a:t>
            </a:r>
            <a:endParaRPr lang="en-US" sz="3000" noProof="1"/>
          </a:p>
        </p:txBody>
      </p:sp>
      <p:sp>
        <p:nvSpPr>
          <p:cNvPr id="12" name="cc1t"/>
          <p:cNvSpPr txBox="1"/>
          <p:nvPr/>
        </p:nvSpPr>
        <p:spPr>
          <a:xfrm>
            <a:off x="1574800" y="2844800"/>
            <a:ext cx="98044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350" noProof="1">
                <a:solidFill>
                  <a:srgbClr val="27231F"/>
                </a:solidFill>
                <a:latin typeface="MiSans"/>
                <a:ea typeface="MiSans"/>
              </a:rPr>
              <a:t>Региональная модель едина — суточные нормы по видам учреждений; самые детальные матрицы — Санкт-Петербург (4 рациона, СБКС/ВМК) и Свердловская область</a:t>
            </a:r>
            <a:endParaRPr lang="en-US" sz="1350" noProof="1"/>
          </a:p>
        </p:txBody>
      </p:sp>
      <p:sp>
        <p:nvSpPr>
          <p:cNvPr id="13" name="cc1r"/>
          <p:cNvSpPr/>
          <p:nvPr/>
        </p:nvSpPr>
        <p:spPr>
          <a:xfrm>
            <a:off x="812800" y="3911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4" name="cc2n"/>
          <p:cNvSpPr txBox="1"/>
          <p:nvPr/>
        </p:nvSpPr>
        <p:spPr>
          <a:xfrm>
            <a:off x="812800" y="4013200"/>
            <a:ext cx="6604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B66A3C"/>
                </a:solidFill>
                <a:latin typeface="Oranienbaum"/>
                <a:ea typeface="Oranienbaum"/>
              </a:rPr>
              <a:t>3</a:t>
            </a:r>
            <a:endParaRPr lang="en-US" sz="3000" noProof="1"/>
          </a:p>
        </p:txBody>
      </p:sp>
      <p:sp>
        <p:nvSpPr>
          <p:cNvPr id="15" name="cc2t"/>
          <p:cNvSpPr txBox="1"/>
          <p:nvPr/>
        </p:nvSpPr>
        <p:spPr>
          <a:xfrm>
            <a:off x="1574800" y="4013200"/>
            <a:ext cx="98044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350" noProof="1">
                <a:solidFill>
                  <a:srgbClr val="27231F"/>
                </a:solidFill>
                <a:latin typeface="MiSans"/>
                <a:ea typeface="MiSans"/>
              </a:rPr>
              <a:t>Документированные практики выбора существуют (Болотнинский ПНИ, с 2024 г.), но закрепляются локальными актами, а не региональными нормативами</a:t>
            </a:r>
            <a:endParaRPr lang="en-US" sz="1350" noProof="1"/>
          </a:p>
        </p:txBody>
      </p:sp>
      <p:sp>
        <p:nvSpPr>
          <p:cNvPr id="16" name="cc2r"/>
          <p:cNvSpPr/>
          <p:nvPr/>
        </p:nvSpPr>
        <p:spPr>
          <a:xfrm>
            <a:off x="812800" y="50800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7" name="cc3n"/>
          <p:cNvSpPr txBox="1"/>
          <p:nvPr/>
        </p:nvSpPr>
        <p:spPr>
          <a:xfrm>
            <a:off x="812800" y="5181600"/>
            <a:ext cx="6604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B66A3C"/>
                </a:solidFill>
                <a:latin typeface="Oranienbaum"/>
                <a:ea typeface="Oranienbaum"/>
              </a:rPr>
              <a:t>4</a:t>
            </a:r>
            <a:endParaRPr lang="en-US" sz="3000" noProof="1"/>
          </a:p>
        </p:txBody>
      </p:sp>
      <p:sp>
        <p:nvSpPr>
          <p:cNvPr id="18" name="cc3t"/>
          <p:cNvSpPr txBox="1"/>
          <p:nvPr/>
        </p:nvSpPr>
        <p:spPr>
          <a:xfrm>
            <a:off x="1574800" y="5181600"/>
            <a:ext cx="98044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350" noProof="1">
                <a:solidFill>
                  <a:srgbClr val="27231F"/>
                </a:solidFill>
                <a:latin typeface="MiSans"/>
                <a:ea typeface="MiSans"/>
              </a:rPr>
              <a:t>Внедрение не требует изменения закона — локальный акт, листы выбора, диетические треки, контроль исполнения (чек-лист и проект положения — приложения 5–6 доклада)</a:t>
            </a:r>
            <a:endParaRPr lang="en-US" sz="1350" noProof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2F4F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k"/>
          <p:cNvSpPr txBox="1"/>
          <p:nvPr/>
        </p:nvSpPr>
        <p:spPr>
          <a:xfrm>
            <a:off x="812800" y="152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МАТЕРИАЛЫ ДОКЛАДА</a:t>
            </a:r>
            <a:endParaRPr lang="en-US" sz="1100" noProof="1"/>
          </a:p>
        </p:txBody>
      </p:sp>
      <p:sp>
        <p:nvSpPr>
          <p:cNvPr id="3" name="ft"/>
          <p:cNvSpPr txBox="1"/>
          <p:nvPr/>
        </p:nvSpPr>
        <p:spPr>
          <a:xfrm>
            <a:off x="812800" y="1879600"/>
            <a:ext cx="965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200" noProof="1">
                <a:solidFill>
                  <a:srgbClr val="FFFFFF"/>
                </a:solidFill>
                <a:latin typeface="Oranienbaum"/>
                <a:ea typeface="Oranienbaum"/>
              </a:rPr>
              <a:t>Доклад и приложения</a:t>
            </a:r>
            <a:endParaRPr lang="en-US" sz="3200" noProof="1"/>
          </a:p>
        </p:txBody>
      </p:sp>
      <p:sp>
        <p:nvSpPr>
          <p:cNvPr id="4" name="frule"/>
          <p:cNvSpPr/>
          <p:nvPr/>
        </p:nvSpPr>
        <p:spPr>
          <a:xfrm>
            <a:off x="812800" y="2794000"/>
            <a:ext cx="812800" cy="38100"/>
          </a:xfrm>
          <a:prstGeom prst="rect">
            <a:avLst/>
          </a:prstGeom>
          <a:solidFill>
            <a:srgbClr val="B66A3C"/>
          </a:solidFill>
          <a:ln>
            <a:noFill/>
          </a:ln>
        </p:spPr>
      </p:sp>
      <p:sp>
        <p:nvSpPr>
          <p:cNvPr id="5" name="flist"/>
          <p:cNvSpPr txBox="1"/>
          <p:nvPr/>
        </p:nvSpPr>
        <p:spPr>
          <a:xfrm>
            <a:off x="812800" y="3098800"/>
            <a:ext cx="9906000" cy="147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</a:rPr>
              <a:t>— полный доклад — 83 страницы (PDF и Markdown)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</a:rPr>
              <a:t>— Приложение 1 — реестр НПА, регулирующих питание в стационарных учреждениях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</a:rPr>
              <a:t>— Приложение 2 — реестр верифицированных ссылок — 35 ссылок, HTTP 200 на 16.07.2026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</a:rPr>
              <a:t>— Приложения 3–6 — нормы СПб, модель меню, чек-лист внедрения, проект типового положения</a:t>
            </a:r>
            <a:endParaRPr lang="en-US" sz="1300" noProof="1"/>
          </a:p>
        </p:txBody>
      </p:sp>
      <p:sp>
        <p:nvSpPr>
          <p:cNvPr id="6" name="fglyph"/>
          <p:cNvSpPr txBox="1"/>
          <p:nvPr/>
        </p:nvSpPr>
        <p:spPr>
          <a:xfrm>
            <a:off x="7874000" y="3302000"/>
            <a:ext cx="35560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0" noProof="1">
                <a:solidFill>
                  <a:srgbClr val="FFFFFF">
                    <a:alpha val="6275"/>
                  </a:srgbClr>
                </a:solidFill>
                <a:latin typeface="Oranienbaum"/>
                <a:ea typeface="Oranienbaum"/>
              </a:rPr>
              <a:t>§</a:t>
            </a:r>
            <a:endParaRPr lang="en-US" sz="18000" noProof="1"/>
          </a:p>
        </p:txBody>
      </p:sp>
      <p:sp>
        <p:nvSpPr>
          <p:cNvPr id="7" name="fdisc"/>
          <p:cNvSpPr txBox="1"/>
          <p:nvPr/>
        </p:nvSpPr>
        <p:spPr>
          <a:xfrm>
            <a:off x="812800" y="54610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Материалы носят информационно-аналитический характер и не являются юридической консультацией.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Перед применением норм проверяйте их действующие редакции. Июль 2026 г.</a:t>
            </a:r>
            <a:endParaRPr lang="en-US" sz="1050" noProof="1"/>
          </a:p>
        </p:txBody>
      </p:sp>
      <p:sp>
        <p:nvSpPr>
          <p:cNvPr id="8" name="fnum"/>
          <p:cNvSpPr txBox="1"/>
          <p:nvPr/>
        </p:nvSpPr>
        <p:spPr>
          <a:xfrm>
            <a:off x="10363200" y="6502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28 / 28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28</Slides>
</Properties>
</file>

<file path=docProps/core.xml><?xml version="1.0" encoding="utf-8"?>
<cp:coreProperties xmlns:dc="http://purl.org/dc/elements/1.1/" xmlns:cp="http://schemas.openxmlformats.org/package/2006/metadata/core-properties">
  <dc:title>Вариативное меню в стационарных учреждениях социального обслуживания РФ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